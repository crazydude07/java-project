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slide+xml" PartName="/ppt/slides/slide11.xml"/>
  <Override ContentType="application/vnd.openxmlformats-officedocument.presentationml.slide+xml" PartName="/ppt/slides/slide12.xml"/>
  <Override ContentType="application/vnd.openxmlformats-officedocument.presentationml.slide+xml" PartName="/ppt/slides/slide13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</p:sldIdLst>
  <p:sldSz cx="18288000" cy="10287000"/>
  <p:notesSz cx="6858000" cy="9144000"/>
  <p:embeddedFontLst>
    <p:embeddedFont>
      <p:font typeface="Archivo Black" charset="1" panose="020B0A03020202020B04"/>
      <p:regular r:id="rId19"/>
    </p:embeddedFont>
    <p:embeddedFont>
      <p:font typeface="Garet Bold" charset="1" panose="00000000000000000000"/>
      <p:regular r:id="rId20"/>
    </p:embeddedFont>
    <p:embeddedFont>
      <p:font typeface="Garet" charset="1" panose="00000000000000000000"/>
      <p:regular r:id="rId21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slides/slide10.xml" Type="http://schemas.openxmlformats.org/officeDocument/2006/relationships/slide"/><Relationship Id="rId16" Target="slides/slide11.xml" Type="http://schemas.openxmlformats.org/officeDocument/2006/relationships/slide"/><Relationship Id="rId17" Target="slides/slide12.xml" Type="http://schemas.openxmlformats.org/officeDocument/2006/relationships/slide"/><Relationship Id="rId18" Target="slides/slide13.xml" Type="http://schemas.openxmlformats.org/officeDocument/2006/relationships/slide"/><Relationship Id="rId19" Target="fonts/font19.fntdata" Type="http://schemas.openxmlformats.org/officeDocument/2006/relationships/font"/><Relationship Id="rId2" Target="presProps.xml" Type="http://schemas.openxmlformats.org/officeDocument/2006/relationships/presProps"/><Relationship Id="rId20" Target="fonts/font20.fntdata" Type="http://schemas.openxmlformats.org/officeDocument/2006/relationships/font"/><Relationship Id="rId21" Target="fonts/font21.fntdata" Type="http://schemas.openxmlformats.org/officeDocument/2006/relationships/font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.jpeg" Type="http://schemas.openxmlformats.org/officeDocument/2006/relationships/image"/><Relationship Id="rId3" Target="../media/image3.jpe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.jpeg" Type="http://schemas.openxmlformats.org/officeDocument/2006/relationships/image"/><Relationship Id="rId3" Target="../media/image3.jpe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.jpeg" Type="http://schemas.openxmlformats.org/officeDocument/2006/relationships/image"/><Relationship Id="rId3" Target="../media/image3.jpe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.jpeg" Type="http://schemas.openxmlformats.org/officeDocument/2006/relationships/image"/><Relationship Id="rId3" Target="../media/image3.jpe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.jpeg" Type="http://schemas.openxmlformats.org/officeDocument/2006/relationships/image"/><Relationship Id="rId3" Target="../media/image3.jpe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.jpe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.jpeg" Type="http://schemas.openxmlformats.org/officeDocument/2006/relationships/image"/><Relationship Id="rId3" Target="../media/image3.jpeg" Type="http://schemas.openxmlformats.org/officeDocument/2006/relationships/image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4.png" Type="http://schemas.openxmlformats.org/officeDocument/2006/relationships/image"/><Relationship Id="rId3" Target="../media/image2.jpeg" Type="http://schemas.openxmlformats.org/officeDocument/2006/relationships/image"/><Relationship Id="rId4" Target="../media/image5.png" Type="http://schemas.openxmlformats.org/officeDocument/2006/relationships/image"/></Relationships>
</file>

<file path=ppt/slides/_rels/slide1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.jpeg" Type="http://schemas.openxmlformats.org/officeDocument/2006/relationships/image"/><Relationship Id="rId3" Target="../media/image3.jpeg" Type="http://schemas.openxmlformats.org/officeDocument/2006/relationships/image"/><Relationship Id="rId4" Target="../media/image6.png" Type="http://schemas.openxmlformats.org/officeDocument/2006/relationships/image"/></Relationships>
</file>

<file path=ppt/slides/_rels/slide1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.jpeg" Type="http://schemas.openxmlformats.org/officeDocument/2006/relationships/image"/><Relationship Id="rId3" Target="../media/image3.jpeg" Type="http://schemas.openxmlformats.org/officeDocument/2006/relationships/image"/></Relationships>
</file>

<file path=ppt/slides/_rels/slide1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.jpeg" Type="http://schemas.openxmlformats.org/officeDocument/2006/relationships/image"/></Relationships>
</file>

<file path=ppt/slides/_rels/slide1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.jpe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3364" r="0" b="-3364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1028700" y="3667331"/>
            <a:ext cx="16230600" cy="338096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 marL="0" indent="0" lvl="0">
              <a:lnSpc>
                <a:spcPts val="8490"/>
              </a:lnSpc>
              <a:spcBef>
                <a:spcPct val="0"/>
              </a:spcBef>
            </a:pPr>
            <a:r>
              <a:rPr lang="en-US" sz="10885" spc="-859">
                <a:solidFill>
                  <a:srgbClr val="000000"/>
                </a:solidFill>
                <a:latin typeface="Archivo Black"/>
                <a:ea typeface="Archivo Black"/>
                <a:cs typeface="Archivo Black"/>
                <a:sym typeface="Archivo Black"/>
              </a:rPr>
              <a:t>UNIVERSITY GRADE AND ATTENDANCE TRACKER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7885470" y="7366941"/>
            <a:ext cx="9373830" cy="37091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 marL="0" indent="0" lvl="0">
              <a:lnSpc>
                <a:spcPts val="2748"/>
              </a:lnSpc>
              <a:spcBef>
                <a:spcPct val="0"/>
              </a:spcBef>
            </a:pPr>
            <a:r>
              <a:rPr lang="en-US" sz="2748" spc="-217">
                <a:solidFill>
                  <a:srgbClr val="000000"/>
                </a:solidFill>
                <a:latin typeface="Archivo Black"/>
                <a:ea typeface="Archivo Black"/>
                <a:cs typeface="Archivo Black"/>
                <a:sym typeface="Archivo Black"/>
              </a:rPr>
              <a:t>KLH/PSPJAVA / Section-8 /Batch-27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11558546" y="7769748"/>
            <a:ext cx="2929925" cy="31736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604"/>
              </a:lnSpc>
            </a:pPr>
            <a:r>
              <a:rPr lang="en-US" b="true" sz="1860">
                <a:solidFill>
                  <a:srgbClr val="000000"/>
                </a:solidFill>
                <a:latin typeface="Garet Bold"/>
                <a:ea typeface="Garet Bold"/>
                <a:cs typeface="Garet Bold"/>
                <a:sym typeface="Garet Bold"/>
              </a:rPr>
              <a:t>Faizan Shaik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14147862" y="7769748"/>
            <a:ext cx="3111438" cy="31726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609"/>
              </a:lnSpc>
            </a:pPr>
            <a:r>
              <a:rPr lang="en-US" sz="1864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Swadhin Behera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11808398" y="8134734"/>
            <a:ext cx="2430220" cy="23272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983"/>
              </a:lnSpc>
            </a:pPr>
            <a:r>
              <a:rPr lang="en-US" sz="1416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2620040127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14488471" y="8139119"/>
            <a:ext cx="2430220" cy="23272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983"/>
              </a:lnSpc>
            </a:pPr>
            <a:r>
              <a:rPr lang="en-US" sz="1416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2620040149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3" id="3" descr="bg.jpeg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-3364" r="0" b="-3364"/>
              </a:stretch>
            </a:blipFill>
          </p:spPr>
        </p:sp>
      </p:grpSp>
      <p:grpSp>
        <p:nvGrpSpPr>
          <p:cNvPr name="Group 4" id="4"/>
          <p:cNvGrpSpPr/>
          <p:nvPr/>
        </p:nvGrpSpPr>
        <p:grpSpPr>
          <a:xfrm rot="0">
            <a:off x="22355" y="22355"/>
            <a:ext cx="18243299" cy="10242299"/>
            <a:chOff x="0" y="0"/>
            <a:chExt cx="24324399" cy="13656399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4324438" cy="13656438"/>
            </a:xfrm>
            <a:custGeom>
              <a:avLst/>
              <a:gdLst/>
              <a:ahLst/>
              <a:cxnLst/>
              <a:rect r="r" b="b" t="t" l="l"/>
              <a:pathLst>
                <a:path h="13656438" w="24324438">
                  <a:moveTo>
                    <a:pt x="0" y="0"/>
                  </a:moveTo>
                  <a:lnTo>
                    <a:pt x="24324438" y="0"/>
                  </a:lnTo>
                  <a:lnTo>
                    <a:pt x="24324438" y="13656438"/>
                  </a:lnTo>
                  <a:lnTo>
                    <a:pt x="0" y="1365643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22033" t="0" r="-22033" b="0"/>
              </a:stretch>
            </a:blipFill>
            <a:ln w="10160" cap="sq">
              <a:solidFill>
                <a:srgbClr val="090E14"/>
              </a:solidFill>
              <a:prstDash val="solid"/>
              <a:miter/>
            </a:ln>
          </p:spPr>
        </p:sp>
      </p:grpSp>
      <p:grpSp>
        <p:nvGrpSpPr>
          <p:cNvPr name="Group 6" id="6"/>
          <p:cNvGrpSpPr/>
          <p:nvPr/>
        </p:nvGrpSpPr>
        <p:grpSpPr>
          <a:xfrm rot="2700000">
            <a:off x="16504920" y="73152"/>
            <a:ext cx="54864" cy="530352"/>
            <a:chOff x="0" y="0"/>
            <a:chExt cx="73152" cy="707136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73152" cy="707136"/>
            </a:xfrm>
            <a:custGeom>
              <a:avLst/>
              <a:gdLst/>
              <a:ahLst/>
              <a:cxnLst/>
              <a:rect r="r" b="b" t="t" l="l"/>
              <a:pathLst>
                <a:path h="707136" w="73152">
                  <a:moveTo>
                    <a:pt x="0" y="0"/>
                  </a:moveTo>
                  <a:lnTo>
                    <a:pt x="73152" y="0"/>
                  </a:lnTo>
                  <a:lnTo>
                    <a:pt x="73152" y="707136"/>
                  </a:lnTo>
                  <a:lnTo>
                    <a:pt x="0" y="707136"/>
                  </a:lnTo>
                  <a:close/>
                </a:path>
              </a:pathLst>
            </a:custGeom>
            <a:solidFill>
              <a:srgbClr val="090E14"/>
            </a:solidFill>
          </p:spPr>
        </p:sp>
      </p:grpSp>
      <p:grpSp>
        <p:nvGrpSpPr>
          <p:cNvPr name="Group 8" id="8"/>
          <p:cNvGrpSpPr/>
          <p:nvPr/>
        </p:nvGrpSpPr>
        <p:grpSpPr>
          <a:xfrm rot="2700000">
            <a:off x="16934688" y="420624"/>
            <a:ext cx="54864" cy="530352"/>
            <a:chOff x="0" y="0"/>
            <a:chExt cx="73152" cy="707136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73152" cy="707136"/>
            </a:xfrm>
            <a:custGeom>
              <a:avLst/>
              <a:gdLst/>
              <a:ahLst/>
              <a:cxnLst/>
              <a:rect r="r" b="b" t="t" l="l"/>
              <a:pathLst>
                <a:path h="707136" w="73152">
                  <a:moveTo>
                    <a:pt x="0" y="0"/>
                  </a:moveTo>
                  <a:lnTo>
                    <a:pt x="73152" y="0"/>
                  </a:lnTo>
                  <a:lnTo>
                    <a:pt x="73152" y="707136"/>
                  </a:lnTo>
                  <a:lnTo>
                    <a:pt x="0" y="707136"/>
                  </a:lnTo>
                  <a:close/>
                </a:path>
              </a:pathLst>
            </a:custGeom>
            <a:solidFill>
              <a:srgbClr val="090E14"/>
            </a:solidFill>
          </p:spPr>
        </p:sp>
      </p:grpSp>
      <p:grpSp>
        <p:nvGrpSpPr>
          <p:cNvPr name="Group 10" id="10"/>
          <p:cNvGrpSpPr/>
          <p:nvPr/>
        </p:nvGrpSpPr>
        <p:grpSpPr>
          <a:xfrm rot="2700000">
            <a:off x="17364456" y="768096"/>
            <a:ext cx="54864" cy="530352"/>
            <a:chOff x="0" y="0"/>
            <a:chExt cx="73152" cy="707136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73152" cy="707136"/>
            </a:xfrm>
            <a:custGeom>
              <a:avLst/>
              <a:gdLst/>
              <a:ahLst/>
              <a:cxnLst/>
              <a:rect r="r" b="b" t="t" l="l"/>
              <a:pathLst>
                <a:path h="707136" w="73152">
                  <a:moveTo>
                    <a:pt x="0" y="0"/>
                  </a:moveTo>
                  <a:lnTo>
                    <a:pt x="73152" y="0"/>
                  </a:lnTo>
                  <a:lnTo>
                    <a:pt x="73152" y="707136"/>
                  </a:lnTo>
                  <a:lnTo>
                    <a:pt x="0" y="707136"/>
                  </a:lnTo>
                  <a:close/>
                </a:path>
              </a:pathLst>
            </a:custGeom>
            <a:solidFill>
              <a:srgbClr val="090E14"/>
            </a:solidFill>
          </p:spPr>
        </p:sp>
      </p:grpSp>
      <p:grpSp>
        <p:nvGrpSpPr>
          <p:cNvPr name="Group 12" id="12"/>
          <p:cNvGrpSpPr/>
          <p:nvPr/>
        </p:nvGrpSpPr>
        <p:grpSpPr>
          <a:xfrm rot="2700000">
            <a:off x="17794224" y="1115568"/>
            <a:ext cx="54864" cy="530352"/>
            <a:chOff x="0" y="0"/>
            <a:chExt cx="73152" cy="707136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73152" cy="707136"/>
            </a:xfrm>
            <a:custGeom>
              <a:avLst/>
              <a:gdLst/>
              <a:ahLst/>
              <a:cxnLst/>
              <a:rect r="r" b="b" t="t" l="l"/>
              <a:pathLst>
                <a:path h="707136" w="73152">
                  <a:moveTo>
                    <a:pt x="0" y="0"/>
                  </a:moveTo>
                  <a:lnTo>
                    <a:pt x="73152" y="0"/>
                  </a:lnTo>
                  <a:lnTo>
                    <a:pt x="73152" y="707136"/>
                  </a:lnTo>
                  <a:lnTo>
                    <a:pt x="0" y="707136"/>
                  </a:lnTo>
                  <a:close/>
                </a:path>
              </a:pathLst>
            </a:custGeom>
            <a:solidFill>
              <a:srgbClr val="090E14"/>
            </a:solidFill>
          </p:spPr>
        </p:sp>
      </p:grpSp>
      <p:grpSp>
        <p:nvGrpSpPr>
          <p:cNvPr name="Group 14" id="14"/>
          <p:cNvGrpSpPr/>
          <p:nvPr/>
        </p:nvGrpSpPr>
        <p:grpSpPr>
          <a:xfrm rot="2700000">
            <a:off x="18223992" y="1463040"/>
            <a:ext cx="54864" cy="530352"/>
            <a:chOff x="0" y="0"/>
            <a:chExt cx="73152" cy="707136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73152" cy="707136"/>
            </a:xfrm>
            <a:custGeom>
              <a:avLst/>
              <a:gdLst/>
              <a:ahLst/>
              <a:cxnLst/>
              <a:rect r="r" b="b" t="t" l="l"/>
              <a:pathLst>
                <a:path h="707136" w="73152">
                  <a:moveTo>
                    <a:pt x="0" y="0"/>
                  </a:moveTo>
                  <a:lnTo>
                    <a:pt x="73152" y="0"/>
                  </a:lnTo>
                  <a:lnTo>
                    <a:pt x="73152" y="707136"/>
                  </a:lnTo>
                  <a:lnTo>
                    <a:pt x="0" y="707136"/>
                  </a:lnTo>
                  <a:close/>
                </a:path>
              </a:pathLst>
            </a:custGeom>
            <a:solidFill>
              <a:srgbClr val="090E14"/>
            </a:solidFill>
          </p:spPr>
        </p:sp>
      </p:grpSp>
      <p:grpSp>
        <p:nvGrpSpPr>
          <p:cNvPr name="Group 16" id="16"/>
          <p:cNvGrpSpPr/>
          <p:nvPr/>
        </p:nvGrpSpPr>
        <p:grpSpPr>
          <a:xfrm rot="2700000">
            <a:off x="18653760" y="1810512"/>
            <a:ext cx="54864" cy="530352"/>
            <a:chOff x="0" y="0"/>
            <a:chExt cx="73152" cy="707136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73152" cy="707136"/>
            </a:xfrm>
            <a:custGeom>
              <a:avLst/>
              <a:gdLst/>
              <a:ahLst/>
              <a:cxnLst/>
              <a:rect r="r" b="b" t="t" l="l"/>
              <a:pathLst>
                <a:path h="707136" w="73152">
                  <a:moveTo>
                    <a:pt x="0" y="0"/>
                  </a:moveTo>
                  <a:lnTo>
                    <a:pt x="73152" y="0"/>
                  </a:lnTo>
                  <a:lnTo>
                    <a:pt x="73152" y="707136"/>
                  </a:lnTo>
                  <a:lnTo>
                    <a:pt x="0" y="707136"/>
                  </a:lnTo>
                  <a:close/>
                </a:path>
              </a:pathLst>
            </a:custGeom>
            <a:solidFill>
              <a:srgbClr val="090E14"/>
            </a:solidFill>
          </p:spPr>
        </p:sp>
      </p:grpSp>
      <p:grpSp>
        <p:nvGrpSpPr>
          <p:cNvPr name="Group 18" id="18"/>
          <p:cNvGrpSpPr/>
          <p:nvPr/>
        </p:nvGrpSpPr>
        <p:grpSpPr>
          <a:xfrm rot="2700000">
            <a:off x="19083528" y="2157984"/>
            <a:ext cx="54864" cy="530352"/>
            <a:chOff x="0" y="0"/>
            <a:chExt cx="73152" cy="707136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73152" cy="707136"/>
            </a:xfrm>
            <a:custGeom>
              <a:avLst/>
              <a:gdLst/>
              <a:ahLst/>
              <a:cxnLst/>
              <a:rect r="r" b="b" t="t" l="l"/>
              <a:pathLst>
                <a:path h="707136" w="73152">
                  <a:moveTo>
                    <a:pt x="0" y="0"/>
                  </a:moveTo>
                  <a:lnTo>
                    <a:pt x="73152" y="0"/>
                  </a:lnTo>
                  <a:lnTo>
                    <a:pt x="73152" y="707136"/>
                  </a:lnTo>
                  <a:lnTo>
                    <a:pt x="0" y="707136"/>
                  </a:lnTo>
                  <a:close/>
                </a:path>
              </a:pathLst>
            </a:custGeom>
            <a:solidFill>
              <a:srgbClr val="090E14"/>
            </a:solidFill>
          </p:spPr>
        </p:sp>
      </p:grpSp>
      <p:sp>
        <p:nvSpPr>
          <p:cNvPr name="TextBox 20" id="20"/>
          <p:cNvSpPr txBox="true"/>
          <p:nvPr/>
        </p:nvSpPr>
        <p:spPr>
          <a:xfrm rot="0">
            <a:off x="978408" y="575691"/>
            <a:ext cx="12673584" cy="5524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320"/>
              </a:lnSpc>
            </a:pPr>
            <a:r>
              <a:rPr lang="en-US" sz="3600">
                <a:solidFill>
                  <a:srgbClr val="090E14"/>
                </a:solidFill>
                <a:latin typeface="Archivo Black"/>
                <a:ea typeface="Archivo Black"/>
                <a:cs typeface="Archivo Black"/>
                <a:sym typeface="Archivo Black"/>
              </a:rPr>
              <a:t>1. Introduction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1005840" y="1343406"/>
            <a:ext cx="14228064" cy="2762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040"/>
              </a:lnSpc>
            </a:pPr>
            <a:r>
              <a:rPr lang="en-US" sz="1700">
                <a:solidFill>
                  <a:srgbClr val="585F6A"/>
                </a:solidFill>
                <a:latin typeface="Archivo Black"/>
                <a:ea typeface="Archivo Black"/>
                <a:cs typeface="Archivo Black"/>
                <a:sym typeface="Archivo Black"/>
              </a:rPr>
              <a:t>A simple Java console application for student performance tracking</a:t>
            </a:r>
          </a:p>
        </p:txBody>
      </p:sp>
      <p:grpSp>
        <p:nvGrpSpPr>
          <p:cNvPr name="Group 22" id="22"/>
          <p:cNvGrpSpPr/>
          <p:nvPr/>
        </p:nvGrpSpPr>
        <p:grpSpPr>
          <a:xfrm rot="0">
            <a:off x="987552" y="1755648"/>
            <a:ext cx="1051560" cy="50292"/>
            <a:chOff x="0" y="0"/>
            <a:chExt cx="1402080" cy="67056"/>
          </a:xfrm>
        </p:grpSpPr>
        <p:sp>
          <p:nvSpPr>
            <p:cNvPr name="Freeform 23" id="23"/>
            <p:cNvSpPr/>
            <p:nvPr/>
          </p:nvSpPr>
          <p:spPr>
            <a:xfrm flipH="false" flipV="false" rot="0">
              <a:off x="0" y="0"/>
              <a:ext cx="1402080" cy="67056"/>
            </a:xfrm>
            <a:custGeom>
              <a:avLst/>
              <a:gdLst/>
              <a:ahLst/>
              <a:cxnLst/>
              <a:rect r="r" b="b" t="t" l="l"/>
              <a:pathLst>
                <a:path h="67056" w="1402080">
                  <a:moveTo>
                    <a:pt x="0" y="0"/>
                  </a:moveTo>
                  <a:lnTo>
                    <a:pt x="1402080" y="0"/>
                  </a:lnTo>
                  <a:lnTo>
                    <a:pt x="1402080" y="67056"/>
                  </a:lnTo>
                  <a:lnTo>
                    <a:pt x="0" y="67056"/>
                  </a:lnTo>
                  <a:close/>
                </a:path>
              </a:pathLst>
            </a:custGeom>
            <a:solidFill>
              <a:srgbClr val="265BCD"/>
            </a:solidFill>
          </p:spPr>
        </p:sp>
      </p:grpSp>
      <p:grpSp>
        <p:nvGrpSpPr>
          <p:cNvPr name="Group 24" id="24"/>
          <p:cNvGrpSpPr/>
          <p:nvPr/>
        </p:nvGrpSpPr>
        <p:grpSpPr>
          <a:xfrm rot="0">
            <a:off x="980570" y="2141858"/>
            <a:ext cx="5180333" cy="1979933"/>
            <a:chOff x="0" y="0"/>
            <a:chExt cx="6907111" cy="2639911"/>
          </a:xfrm>
        </p:grpSpPr>
        <p:sp>
          <p:nvSpPr>
            <p:cNvPr name="Freeform 25" id="25"/>
            <p:cNvSpPr/>
            <p:nvPr/>
          </p:nvSpPr>
          <p:spPr>
            <a:xfrm flipH="false" flipV="false" rot="0">
              <a:off x="0" y="0"/>
              <a:ext cx="6907149" cy="2639949"/>
            </a:xfrm>
            <a:custGeom>
              <a:avLst/>
              <a:gdLst/>
              <a:ahLst/>
              <a:cxnLst/>
              <a:rect r="r" b="b" t="t" l="l"/>
              <a:pathLst>
                <a:path h="2639949" w="6907149">
                  <a:moveTo>
                    <a:pt x="0" y="440055"/>
                  </a:moveTo>
                  <a:cubicBezTo>
                    <a:pt x="0" y="196977"/>
                    <a:pt x="196977" y="0"/>
                    <a:pt x="440055" y="0"/>
                  </a:cubicBezTo>
                  <a:lnTo>
                    <a:pt x="6467094" y="0"/>
                  </a:lnTo>
                  <a:cubicBezTo>
                    <a:pt x="6710045" y="0"/>
                    <a:pt x="6907149" y="196977"/>
                    <a:pt x="6907149" y="440055"/>
                  </a:cubicBezTo>
                  <a:lnTo>
                    <a:pt x="6907149" y="2199894"/>
                  </a:lnTo>
                  <a:cubicBezTo>
                    <a:pt x="6907149" y="2442845"/>
                    <a:pt x="6710172" y="2639949"/>
                    <a:pt x="6467094" y="2639949"/>
                  </a:cubicBezTo>
                  <a:lnTo>
                    <a:pt x="440055" y="2639949"/>
                  </a:lnTo>
                  <a:cubicBezTo>
                    <a:pt x="196977" y="2639949"/>
                    <a:pt x="0" y="2442972"/>
                    <a:pt x="0" y="2199894"/>
                  </a:cubicBezTo>
                  <a:close/>
                </a:path>
              </a:pathLst>
            </a:custGeom>
            <a:solidFill>
              <a:srgbClr val="FFFFFF"/>
            </a:solidFill>
            <a:ln w="13970" cap="sq">
              <a:solidFill>
                <a:srgbClr val="D7DFEC"/>
              </a:solidFill>
              <a:prstDash val="solid"/>
              <a:miter/>
            </a:ln>
          </p:spPr>
        </p:sp>
      </p:grpSp>
      <p:sp>
        <p:nvSpPr>
          <p:cNvPr name="TextBox 26" id="26"/>
          <p:cNvSpPr txBox="true"/>
          <p:nvPr/>
        </p:nvSpPr>
        <p:spPr>
          <a:xfrm rot="0">
            <a:off x="1207008" y="2322195"/>
            <a:ext cx="1287304" cy="2952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279"/>
              </a:lnSpc>
            </a:pPr>
            <a:r>
              <a:rPr lang="en-US" sz="1899">
                <a:solidFill>
                  <a:srgbClr val="090E14"/>
                </a:solidFill>
                <a:latin typeface="Archivo Black"/>
                <a:ea typeface="Archivo Black"/>
                <a:cs typeface="Archivo Black"/>
                <a:sym typeface="Archivo Black"/>
              </a:rPr>
              <a:t>PURPOSE</a:t>
            </a:r>
          </a:p>
        </p:txBody>
      </p:sp>
      <p:sp>
        <p:nvSpPr>
          <p:cNvPr name="TextBox 27" id="27"/>
          <p:cNvSpPr txBox="true"/>
          <p:nvPr/>
        </p:nvSpPr>
        <p:spPr>
          <a:xfrm rot="0">
            <a:off x="1207008" y="2751963"/>
            <a:ext cx="4764024" cy="7239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19"/>
              </a:lnSpc>
            </a:pPr>
            <a:r>
              <a:rPr lang="en-US" sz="1599">
                <a:solidFill>
                  <a:srgbClr val="585F6A"/>
                </a:solidFill>
                <a:latin typeface="Archivo Black"/>
                <a:ea typeface="Archivo Black"/>
                <a:cs typeface="Archivo Black"/>
                <a:sym typeface="Archivo Black"/>
              </a:rPr>
              <a:t>Collect student details, process marks, calculate average and grade, then check exam eligibility from attendance.</a:t>
            </a:r>
          </a:p>
        </p:txBody>
      </p:sp>
      <p:grpSp>
        <p:nvGrpSpPr>
          <p:cNvPr name="Group 28" id="28"/>
          <p:cNvGrpSpPr/>
          <p:nvPr/>
        </p:nvGrpSpPr>
        <p:grpSpPr>
          <a:xfrm rot="0">
            <a:off x="6439538" y="2141858"/>
            <a:ext cx="5180333" cy="1979933"/>
            <a:chOff x="0" y="0"/>
            <a:chExt cx="6907111" cy="2639911"/>
          </a:xfrm>
        </p:grpSpPr>
        <p:sp>
          <p:nvSpPr>
            <p:cNvPr name="Freeform 29" id="29"/>
            <p:cNvSpPr/>
            <p:nvPr/>
          </p:nvSpPr>
          <p:spPr>
            <a:xfrm flipH="false" flipV="false" rot="0">
              <a:off x="0" y="0"/>
              <a:ext cx="6907149" cy="2639949"/>
            </a:xfrm>
            <a:custGeom>
              <a:avLst/>
              <a:gdLst/>
              <a:ahLst/>
              <a:cxnLst/>
              <a:rect r="r" b="b" t="t" l="l"/>
              <a:pathLst>
                <a:path h="2639949" w="6907149">
                  <a:moveTo>
                    <a:pt x="0" y="440055"/>
                  </a:moveTo>
                  <a:cubicBezTo>
                    <a:pt x="0" y="196977"/>
                    <a:pt x="196977" y="0"/>
                    <a:pt x="440055" y="0"/>
                  </a:cubicBezTo>
                  <a:lnTo>
                    <a:pt x="6467094" y="0"/>
                  </a:lnTo>
                  <a:cubicBezTo>
                    <a:pt x="6710045" y="0"/>
                    <a:pt x="6907149" y="196977"/>
                    <a:pt x="6907149" y="440055"/>
                  </a:cubicBezTo>
                  <a:lnTo>
                    <a:pt x="6907149" y="2199894"/>
                  </a:lnTo>
                  <a:cubicBezTo>
                    <a:pt x="6907149" y="2442845"/>
                    <a:pt x="6710172" y="2639949"/>
                    <a:pt x="6467094" y="2639949"/>
                  </a:cubicBezTo>
                  <a:lnTo>
                    <a:pt x="440055" y="2639949"/>
                  </a:lnTo>
                  <a:cubicBezTo>
                    <a:pt x="196977" y="2639949"/>
                    <a:pt x="0" y="2442972"/>
                    <a:pt x="0" y="2199894"/>
                  </a:cubicBezTo>
                  <a:close/>
                </a:path>
              </a:pathLst>
            </a:custGeom>
            <a:solidFill>
              <a:srgbClr val="FFFFFF"/>
            </a:solidFill>
            <a:ln w="13970" cap="sq">
              <a:solidFill>
                <a:srgbClr val="D7DFEC"/>
              </a:solidFill>
              <a:prstDash val="solid"/>
              <a:miter/>
            </a:ln>
          </p:spPr>
        </p:sp>
      </p:grpSp>
      <p:sp>
        <p:nvSpPr>
          <p:cNvPr name="TextBox 30" id="30"/>
          <p:cNvSpPr txBox="true"/>
          <p:nvPr/>
        </p:nvSpPr>
        <p:spPr>
          <a:xfrm rot="0">
            <a:off x="6665976" y="2322195"/>
            <a:ext cx="1019175" cy="2952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279"/>
              </a:lnSpc>
            </a:pPr>
            <a:r>
              <a:rPr lang="en-US" sz="1899">
                <a:solidFill>
                  <a:srgbClr val="090E14"/>
                </a:solidFill>
                <a:latin typeface="Archivo Black"/>
                <a:ea typeface="Archivo Black"/>
                <a:cs typeface="Archivo Black"/>
                <a:sym typeface="Archivo Black"/>
              </a:rPr>
              <a:t>INPUTS</a:t>
            </a:r>
          </a:p>
        </p:txBody>
      </p:sp>
      <p:sp>
        <p:nvSpPr>
          <p:cNvPr name="TextBox 31" id="31"/>
          <p:cNvSpPr txBox="true"/>
          <p:nvPr/>
        </p:nvSpPr>
        <p:spPr>
          <a:xfrm rot="0">
            <a:off x="6665976" y="2751963"/>
            <a:ext cx="4764024" cy="7239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19"/>
              </a:lnSpc>
            </a:pPr>
            <a:r>
              <a:rPr lang="en-US" sz="1599">
                <a:solidFill>
                  <a:srgbClr val="585F6A"/>
                </a:solidFill>
                <a:latin typeface="Archivo Black"/>
                <a:ea typeface="Archivo Black"/>
                <a:cs typeface="Archivo Black"/>
                <a:sym typeface="Archivo Black"/>
              </a:rPr>
              <a:t>Student name, number of subjects, marks for each subject, and attendance percentage.</a:t>
            </a:r>
          </a:p>
        </p:txBody>
      </p:sp>
      <p:grpSp>
        <p:nvGrpSpPr>
          <p:cNvPr name="Group 32" id="32"/>
          <p:cNvGrpSpPr/>
          <p:nvPr/>
        </p:nvGrpSpPr>
        <p:grpSpPr>
          <a:xfrm rot="0">
            <a:off x="11898506" y="2141858"/>
            <a:ext cx="5271773" cy="1979933"/>
            <a:chOff x="0" y="0"/>
            <a:chExt cx="7029031" cy="2639911"/>
          </a:xfrm>
        </p:grpSpPr>
        <p:sp>
          <p:nvSpPr>
            <p:cNvPr name="Freeform 33" id="33"/>
            <p:cNvSpPr/>
            <p:nvPr/>
          </p:nvSpPr>
          <p:spPr>
            <a:xfrm flipH="false" flipV="false" rot="0">
              <a:off x="0" y="0"/>
              <a:ext cx="7029069" cy="2639949"/>
            </a:xfrm>
            <a:custGeom>
              <a:avLst/>
              <a:gdLst/>
              <a:ahLst/>
              <a:cxnLst/>
              <a:rect r="r" b="b" t="t" l="l"/>
              <a:pathLst>
                <a:path h="2639949" w="7029069">
                  <a:moveTo>
                    <a:pt x="0" y="440055"/>
                  </a:moveTo>
                  <a:cubicBezTo>
                    <a:pt x="0" y="196977"/>
                    <a:pt x="196977" y="0"/>
                    <a:pt x="440055" y="0"/>
                  </a:cubicBezTo>
                  <a:lnTo>
                    <a:pt x="6589014" y="0"/>
                  </a:lnTo>
                  <a:cubicBezTo>
                    <a:pt x="6831965" y="0"/>
                    <a:pt x="7029069" y="196977"/>
                    <a:pt x="7029069" y="440055"/>
                  </a:cubicBezTo>
                  <a:lnTo>
                    <a:pt x="7029069" y="2199894"/>
                  </a:lnTo>
                  <a:cubicBezTo>
                    <a:pt x="7029069" y="2442845"/>
                    <a:pt x="6832092" y="2639949"/>
                    <a:pt x="6589014" y="2639949"/>
                  </a:cubicBezTo>
                  <a:lnTo>
                    <a:pt x="440055" y="2639949"/>
                  </a:lnTo>
                  <a:cubicBezTo>
                    <a:pt x="196977" y="2639949"/>
                    <a:pt x="0" y="2442972"/>
                    <a:pt x="0" y="2199894"/>
                  </a:cubicBezTo>
                  <a:close/>
                </a:path>
              </a:pathLst>
            </a:custGeom>
            <a:solidFill>
              <a:srgbClr val="FFFFFF"/>
            </a:solidFill>
            <a:ln w="13970" cap="sq">
              <a:solidFill>
                <a:srgbClr val="D7DFEC"/>
              </a:solidFill>
              <a:prstDash val="solid"/>
              <a:miter/>
            </a:ln>
          </p:spPr>
        </p:sp>
      </p:grpSp>
      <p:sp>
        <p:nvSpPr>
          <p:cNvPr name="TextBox 34" id="34"/>
          <p:cNvSpPr txBox="true"/>
          <p:nvPr/>
        </p:nvSpPr>
        <p:spPr>
          <a:xfrm rot="0">
            <a:off x="12124944" y="2322195"/>
            <a:ext cx="1300639" cy="2952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279"/>
              </a:lnSpc>
            </a:pPr>
            <a:r>
              <a:rPr lang="en-US" sz="1899">
                <a:solidFill>
                  <a:srgbClr val="090E14"/>
                </a:solidFill>
                <a:latin typeface="Archivo Black"/>
                <a:ea typeface="Archivo Black"/>
                <a:cs typeface="Archivo Black"/>
                <a:sym typeface="Archivo Black"/>
              </a:rPr>
              <a:t>OUTPUTS</a:t>
            </a:r>
          </a:p>
        </p:txBody>
      </p:sp>
      <p:sp>
        <p:nvSpPr>
          <p:cNvPr name="TextBox 35" id="35"/>
          <p:cNvSpPr txBox="true"/>
          <p:nvPr/>
        </p:nvSpPr>
        <p:spPr>
          <a:xfrm rot="0">
            <a:off x="12124944" y="2751963"/>
            <a:ext cx="4855464" cy="4857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19"/>
              </a:lnSpc>
            </a:pPr>
            <a:r>
              <a:rPr lang="en-US" sz="1599">
                <a:solidFill>
                  <a:srgbClr val="585F6A"/>
                </a:solidFill>
                <a:latin typeface="Archivo Black"/>
                <a:ea typeface="Archivo Black"/>
                <a:cs typeface="Archivo Black"/>
                <a:sym typeface="Archivo Black"/>
              </a:rPr>
              <a:t>Total marks, average marks, grade, and exam eligibility in a final student report.</a:t>
            </a:r>
          </a:p>
        </p:txBody>
      </p:sp>
      <p:sp>
        <p:nvSpPr>
          <p:cNvPr name="TextBox 36" id="36"/>
          <p:cNvSpPr txBox="true"/>
          <p:nvPr/>
        </p:nvSpPr>
        <p:spPr>
          <a:xfrm rot="0">
            <a:off x="1024128" y="4672203"/>
            <a:ext cx="15965424" cy="4191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240"/>
              </a:lnSpc>
            </a:pPr>
            <a:r>
              <a:rPr lang="en-US" sz="2700">
                <a:solidFill>
                  <a:srgbClr val="090E14"/>
                </a:solidFill>
                <a:latin typeface="Archivo Black"/>
                <a:ea typeface="Archivo Black"/>
                <a:cs typeface="Archivo Black"/>
                <a:sym typeface="Archivo Black"/>
              </a:rPr>
              <a:t>INPUT  →  PROCESS  →  DECISION  →  REPORT</a:t>
            </a:r>
          </a:p>
        </p:txBody>
      </p:sp>
      <p:grpSp>
        <p:nvGrpSpPr>
          <p:cNvPr name="Group 37" id="37"/>
          <p:cNvGrpSpPr/>
          <p:nvPr/>
        </p:nvGrpSpPr>
        <p:grpSpPr>
          <a:xfrm rot="0">
            <a:off x="1732598" y="5527358"/>
            <a:ext cx="2981325" cy="1243965"/>
            <a:chOff x="0" y="0"/>
            <a:chExt cx="3975100" cy="1658620"/>
          </a:xfrm>
        </p:grpSpPr>
        <p:sp>
          <p:nvSpPr>
            <p:cNvPr name="Freeform 38" id="38"/>
            <p:cNvSpPr/>
            <p:nvPr/>
          </p:nvSpPr>
          <p:spPr>
            <a:xfrm flipH="false" flipV="false" rot="0">
              <a:off x="0" y="0"/>
              <a:ext cx="3975100" cy="1658747"/>
            </a:xfrm>
            <a:custGeom>
              <a:avLst/>
              <a:gdLst/>
              <a:ahLst/>
              <a:cxnLst/>
              <a:rect r="r" b="b" t="t" l="l"/>
              <a:pathLst>
                <a:path h="1658747" w="3975100">
                  <a:moveTo>
                    <a:pt x="0" y="276479"/>
                  </a:moveTo>
                  <a:cubicBezTo>
                    <a:pt x="0" y="123825"/>
                    <a:pt x="123825" y="0"/>
                    <a:pt x="276479" y="0"/>
                  </a:cubicBezTo>
                  <a:lnTo>
                    <a:pt x="3698621" y="0"/>
                  </a:lnTo>
                  <a:cubicBezTo>
                    <a:pt x="3851275" y="0"/>
                    <a:pt x="3975100" y="123825"/>
                    <a:pt x="3975100" y="276479"/>
                  </a:cubicBezTo>
                  <a:lnTo>
                    <a:pt x="3975100" y="1382268"/>
                  </a:lnTo>
                  <a:cubicBezTo>
                    <a:pt x="3975100" y="1534922"/>
                    <a:pt x="3851275" y="1658747"/>
                    <a:pt x="3698621" y="1658747"/>
                  </a:cubicBezTo>
                  <a:lnTo>
                    <a:pt x="276479" y="1658747"/>
                  </a:lnTo>
                  <a:cubicBezTo>
                    <a:pt x="123825" y="1658620"/>
                    <a:pt x="0" y="1534795"/>
                    <a:pt x="0" y="1382141"/>
                  </a:cubicBezTo>
                  <a:close/>
                </a:path>
              </a:pathLst>
            </a:custGeom>
            <a:solidFill>
              <a:srgbClr val="EBF1FF"/>
            </a:solidFill>
            <a:ln w="9525" cap="sq">
              <a:solidFill>
                <a:srgbClr val="265BCD"/>
              </a:solidFill>
              <a:prstDash val="solid"/>
              <a:miter/>
            </a:ln>
          </p:spPr>
        </p:sp>
      </p:grpSp>
      <p:sp>
        <p:nvSpPr>
          <p:cNvPr name="TextBox 39" id="39"/>
          <p:cNvSpPr txBox="true"/>
          <p:nvPr/>
        </p:nvSpPr>
        <p:spPr>
          <a:xfrm rot="0">
            <a:off x="1892808" y="5869686"/>
            <a:ext cx="2660904" cy="2762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040"/>
              </a:lnSpc>
            </a:pPr>
            <a:r>
              <a:rPr lang="en-US" sz="1700">
                <a:solidFill>
                  <a:srgbClr val="090E14"/>
                </a:solidFill>
                <a:latin typeface="Archivo Black"/>
                <a:ea typeface="Archivo Black"/>
                <a:cs typeface="Archivo Black"/>
                <a:sym typeface="Archivo Black"/>
              </a:rPr>
              <a:t>Student data</a:t>
            </a:r>
          </a:p>
        </p:txBody>
      </p:sp>
      <p:grpSp>
        <p:nvGrpSpPr>
          <p:cNvPr name="Group 40" id="40"/>
          <p:cNvGrpSpPr/>
          <p:nvPr/>
        </p:nvGrpSpPr>
        <p:grpSpPr>
          <a:xfrm rot="0">
            <a:off x="5573078" y="5527358"/>
            <a:ext cx="2981325" cy="1243965"/>
            <a:chOff x="0" y="0"/>
            <a:chExt cx="3975100" cy="1658620"/>
          </a:xfrm>
        </p:grpSpPr>
        <p:sp>
          <p:nvSpPr>
            <p:cNvPr name="Freeform 41" id="41"/>
            <p:cNvSpPr/>
            <p:nvPr/>
          </p:nvSpPr>
          <p:spPr>
            <a:xfrm flipH="false" flipV="false" rot="0">
              <a:off x="0" y="0"/>
              <a:ext cx="3975100" cy="1658747"/>
            </a:xfrm>
            <a:custGeom>
              <a:avLst/>
              <a:gdLst/>
              <a:ahLst/>
              <a:cxnLst/>
              <a:rect r="r" b="b" t="t" l="l"/>
              <a:pathLst>
                <a:path h="1658747" w="3975100">
                  <a:moveTo>
                    <a:pt x="0" y="276479"/>
                  </a:moveTo>
                  <a:cubicBezTo>
                    <a:pt x="0" y="123825"/>
                    <a:pt x="123825" y="0"/>
                    <a:pt x="276479" y="0"/>
                  </a:cubicBezTo>
                  <a:lnTo>
                    <a:pt x="3698621" y="0"/>
                  </a:lnTo>
                  <a:cubicBezTo>
                    <a:pt x="3851275" y="0"/>
                    <a:pt x="3975100" y="123825"/>
                    <a:pt x="3975100" y="276479"/>
                  </a:cubicBezTo>
                  <a:lnTo>
                    <a:pt x="3975100" y="1382268"/>
                  </a:lnTo>
                  <a:cubicBezTo>
                    <a:pt x="3975100" y="1534922"/>
                    <a:pt x="3851275" y="1658747"/>
                    <a:pt x="3698621" y="1658747"/>
                  </a:cubicBezTo>
                  <a:lnTo>
                    <a:pt x="276479" y="1658747"/>
                  </a:lnTo>
                  <a:cubicBezTo>
                    <a:pt x="123825" y="1658620"/>
                    <a:pt x="0" y="1534795"/>
                    <a:pt x="0" y="1382141"/>
                  </a:cubicBezTo>
                  <a:close/>
                </a:path>
              </a:pathLst>
            </a:custGeom>
            <a:solidFill>
              <a:srgbClr val="EBF1FF"/>
            </a:solidFill>
            <a:ln w="9525" cap="sq">
              <a:solidFill>
                <a:srgbClr val="265BCD"/>
              </a:solidFill>
              <a:prstDash val="solid"/>
              <a:miter/>
            </a:ln>
          </p:spPr>
        </p:sp>
      </p:grpSp>
      <p:sp>
        <p:nvSpPr>
          <p:cNvPr name="TextBox 42" id="42"/>
          <p:cNvSpPr txBox="true"/>
          <p:nvPr/>
        </p:nvSpPr>
        <p:spPr>
          <a:xfrm rot="0">
            <a:off x="5733288" y="5869686"/>
            <a:ext cx="2660904" cy="2762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040"/>
              </a:lnSpc>
            </a:pPr>
            <a:r>
              <a:rPr lang="en-US" sz="1700">
                <a:solidFill>
                  <a:srgbClr val="090E14"/>
                </a:solidFill>
                <a:latin typeface="Archivo Black"/>
                <a:ea typeface="Archivo Black"/>
                <a:cs typeface="Archivo Black"/>
                <a:sym typeface="Archivo Black"/>
              </a:rPr>
              <a:t>Calculations</a:t>
            </a:r>
          </a:p>
        </p:txBody>
      </p:sp>
      <p:grpSp>
        <p:nvGrpSpPr>
          <p:cNvPr name="Group 43" id="43"/>
          <p:cNvGrpSpPr/>
          <p:nvPr/>
        </p:nvGrpSpPr>
        <p:grpSpPr>
          <a:xfrm rot="0">
            <a:off x="9413557" y="5527358"/>
            <a:ext cx="2981325" cy="1243965"/>
            <a:chOff x="0" y="0"/>
            <a:chExt cx="3975100" cy="1658620"/>
          </a:xfrm>
        </p:grpSpPr>
        <p:sp>
          <p:nvSpPr>
            <p:cNvPr name="Freeform 44" id="44"/>
            <p:cNvSpPr/>
            <p:nvPr/>
          </p:nvSpPr>
          <p:spPr>
            <a:xfrm flipH="false" flipV="false" rot="0">
              <a:off x="0" y="0"/>
              <a:ext cx="3975100" cy="1658747"/>
            </a:xfrm>
            <a:custGeom>
              <a:avLst/>
              <a:gdLst/>
              <a:ahLst/>
              <a:cxnLst/>
              <a:rect r="r" b="b" t="t" l="l"/>
              <a:pathLst>
                <a:path h="1658747" w="3975100">
                  <a:moveTo>
                    <a:pt x="0" y="276479"/>
                  </a:moveTo>
                  <a:cubicBezTo>
                    <a:pt x="0" y="123825"/>
                    <a:pt x="123825" y="0"/>
                    <a:pt x="276479" y="0"/>
                  </a:cubicBezTo>
                  <a:lnTo>
                    <a:pt x="3698621" y="0"/>
                  </a:lnTo>
                  <a:cubicBezTo>
                    <a:pt x="3851275" y="0"/>
                    <a:pt x="3975100" y="123825"/>
                    <a:pt x="3975100" y="276479"/>
                  </a:cubicBezTo>
                  <a:lnTo>
                    <a:pt x="3975100" y="1382268"/>
                  </a:lnTo>
                  <a:cubicBezTo>
                    <a:pt x="3975100" y="1534922"/>
                    <a:pt x="3851275" y="1658747"/>
                    <a:pt x="3698621" y="1658747"/>
                  </a:cubicBezTo>
                  <a:lnTo>
                    <a:pt x="276479" y="1658747"/>
                  </a:lnTo>
                  <a:cubicBezTo>
                    <a:pt x="123825" y="1658620"/>
                    <a:pt x="0" y="1534795"/>
                    <a:pt x="0" y="1382141"/>
                  </a:cubicBezTo>
                  <a:close/>
                </a:path>
              </a:pathLst>
            </a:custGeom>
            <a:solidFill>
              <a:srgbClr val="EBF1FF"/>
            </a:solidFill>
            <a:ln w="9525" cap="sq">
              <a:solidFill>
                <a:srgbClr val="265BCD"/>
              </a:solidFill>
              <a:prstDash val="solid"/>
              <a:miter/>
            </a:ln>
          </p:spPr>
        </p:sp>
      </p:grpSp>
      <p:sp>
        <p:nvSpPr>
          <p:cNvPr name="TextBox 45" id="45"/>
          <p:cNvSpPr txBox="true"/>
          <p:nvPr/>
        </p:nvSpPr>
        <p:spPr>
          <a:xfrm rot="0">
            <a:off x="9573768" y="5869686"/>
            <a:ext cx="2660904" cy="2762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040"/>
              </a:lnSpc>
            </a:pPr>
            <a:r>
              <a:rPr lang="en-US" sz="1700">
                <a:solidFill>
                  <a:srgbClr val="090E14"/>
                </a:solidFill>
                <a:latin typeface="Archivo Black"/>
                <a:ea typeface="Archivo Black"/>
                <a:cs typeface="Archivo Black"/>
                <a:sym typeface="Archivo Black"/>
              </a:rPr>
              <a:t>Grade + attendance</a:t>
            </a:r>
          </a:p>
        </p:txBody>
      </p:sp>
      <p:grpSp>
        <p:nvGrpSpPr>
          <p:cNvPr name="Group 46" id="46"/>
          <p:cNvGrpSpPr/>
          <p:nvPr/>
        </p:nvGrpSpPr>
        <p:grpSpPr>
          <a:xfrm rot="0">
            <a:off x="13254038" y="5527358"/>
            <a:ext cx="2981325" cy="1243965"/>
            <a:chOff x="0" y="0"/>
            <a:chExt cx="3975100" cy="1658620"/>
          </a:xfrm>
        </p:grpSpPr>
        <p:sp>
          <p:nvSpPr>
            <p:cNvPr name="Freeform 47" id="47"/>
            <p:cNvSpPr/>
            <p:nvPr/>
          </p:nvSpPr>
          <p:spPr>
            <a:xfrm flipH="false" flipV="false" rot="0">
              <a:off x="0" y="0"/>
              <a:ext cx="3975100" cy="1658747"/>
            </a:xfrm>
            <a:custGeom>
              <a:avLst/>
              <a:gdLst/>
              <a:ahLst/>
              <a:cxnLst/>
              <a:rect r="r" b="b" t="t" l="l"/>
              <a:pathLst>
                <a:path h="1658747" w="3975100">
                  <a:moveTo>
                    <a:pt x="0" y="276479"/>
                  </a:moveTo>
                  <a:cubicBezTo>
                    <a:pt x="0" y="123825"/>
                    <a:pt x="123825" y="0"/>
                    <a:pt x="276479" y="0"/>
                  </a:cubicBezTo>
                  <a:lnTo>
                    <a:pt x="3698621" y="0"/>
                  </a:lnTo>
                  <a:cubicBezTo>
                    <a:pt x="3851275" y="0"/>
                    <a:pt x="3975100" y="123825"/>
                    <a:pt x="3975100" y="276479"/>
                  </a:cubicBezTo>
                  <a:lnTo>
                    <a:pt x="3975100" y="1382268"/>
                  </a:lnTo>
                  <a:cubicBezTo>
                    <a:pt x="3975100" y="1534922"/>
                    <a:pt x="3851275" y="1658747"/>
                    <a:pt x="3698621" y="1658747"/>
                  </a:cubicBezTo>
                  <a:lnTo>
                    <a:pt x="276479" y="1658747"/>
                  </a:lnTo>
                  <a:cubicBezTo>
                    <a:pt x="123825" y="1658620"/>
                    <a:pt x="0" y="1534795"/>
                    <a:pt x="0" y="1382141"/>
                  </a:cubicBezTo>
                  <a:close/>
                </a:path>
              </a:pathLst>
            </a:custGeom>
            <a:solidFill>
              <a:srgbClr val="EBF1FF"/>
            </a:solidFill>
            <a:ln w="9525" cap="sq">
              <a:solidFill>
                <a:srgbClr val="265BCD"/>
              </a:solidFill>
              <a:prstDash val="solid"/>
              <a:miter/>
            </a:ln>
          </p:spPr>
        </p:sp>
      </p:grpSp>
      <p:sp>
        <p:nvSpPr>
          <p:cNvPr name="TextBox 48" id="48"/>
          <p:cNvSpPr txBox="true"/>
          <p:nvPr/>
        </p:nvSpPr>
        <p:spPr>
          <a:xfrm rot="0">
            <a:off x="13414248" y="5869686"/>
            <a:ext cx="2660904" cy="2762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040"/>
              </a:lnSpc>
            </a:pPr>
            <a:r>
              <a:rPr lang="en-US" sz="1700">
                <a:solidFill>
                  <a:srgbClr val="090E14"/>
                </a:solidFill>
                <a:latin typeface="Archivo Black"/>
                <a:ea typeface="Archivo Black"/>
                <a:cs typeface="Archivo Black"/>
                <a:sym typeface="Archivo Black"/>
              </a:rPr>
              <a:t>Final report</a:t>
            </a:r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3" id="3" descr="bg.jpeg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-3364" r="0" b="-3364"/>
              </a:stretch>
            </a:blipFill>
          </p:spPr>
        </p:sp>
      </p:grpSp>
      <p:grpSp>
        <p:nvGrpSpPr>
          <p:cNvPr name="Group 4" id="4"/>
          <p:cNvGrpSpPr/>
          <p:nvPr/>
        </p:nvGrpSpPr>
        <p:grpSpPr>
          <a:xfrm rot="0">
            <a:off x="22355" y="22355"/>
            <a:ext cx="18243299" cy="10242299"/>
            <a:chOff x="0" y="0"/>
            <a:chExt cx="24324399" cy="13656399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4324438" cy="13656438"/>
            </a:xfrm>
            <a:custGeom>
              <a:avLst/>
              <a:gdLst/>
              <a:ahLst/>
              <a:cxnLst/>
              <a:rect r="r" b="b" t="t" l="l"/>
              <a:pathLst>
                <a:path h="13656438" w="24324438">
                  <a:moveTo>
                    <a:pt x="0" y="0"/>
                  </a:moveTo>
                  <a:lnTo>
                    <a:pt x="24324438" y="0"/>
                  </a:lnTo>
                  <a:lnTo>
                    <a:pt x="24324438" y="13656438"/>
                  </a:lnTo>
                  <a:lnTo>
                    <a:pt x="0" y="1365643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22033" t="0" r="-22033" b="0"/>
              </a:stretch>
            </a:blipFill>
            <a:ln w="10160" cap="sq">
              <a:solidFill>
                <a:srgbClr val="090E14"/>
              </a:solidFill>
              <a:prstDash val="solid"/>
              <a:miter/>
            </a:ln>
          </p:spPr>
        </p:sp>
      </p:grpSp>
      <p:grpSp>
        <p:nvGrpSpPr>
          <p:cNvPr name="Group 6" id="6"/>
          <p:cNvGrpSpPr/>
          <p:nvPr/>
        </p:nvGrpSpPr>
        <p:grpSpPr>
          <a:xfrm rot="2700000">
            <a:off x="16504920" y="73152"/>
            <a:ext cx="54864" cy="530352"/>
            <a:chOff x="0" y="0"/>
            <a:chExt cx="73152" cy="707136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73152" cy="707136"/>
            </a:xfrm>
            <a:custGeom>
              <a:avLst/>
              <a:gdLst/>
              <a:ahLst/>
              <a:cxnLst/>
              <a:rect r="r" b="b" t="t" l="l"/>
              <a:pathLst>
                <a:path h="707136" w="73152">
                  <a:moveTo>
                    <a:pt x="0" y="0"/>
                  </a:moveTo>
                  <a:lnTo>
                    <a:pt x="73152" y="0"/>
                  </a:lnTo>
                  <a:lnTo>
                    <a:pt x="73152" y="707136"/>
                  </a:lnTo>
                  <a:lnTo>
                    <a:pt x="0" y="707136"/>
                  </a:lnTo>
                  <a:close/>
                </a:path>
              </a:pathLst>
            </a:custGeom>
            <a:solidFill>
              <a:srgbClr val="090E14"/>
            </a:solidFill>
          </p:spPr>
        </p:sp>
      </p:grpSp>
      <p:grpSp>
        <p:nvGrpSpPr>
          <p:cNvPr name="Group 8" id="8"/>
          <p:cNvGrpSpPr/>
          <p:nvPr/>
        </p:nvGrpSpPr>
        <p:grpSpPr>
          <a:xfrm rot="2700000">
            <a:off x="16934688" y="420624"/>
            <a:ext cx="54864" cy="530352"/>
            <a:chOff x="0" y="0"/>
            <a:chExt cx="73152" cy="707136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73152" cy="707136"/>
            </a:xfrm>
            <a:custGeom>
              <a:avLst/>
              <a:gdLst/>
              <a:ahLst/>
              <a:cxnLst/>
              <a:rect r="r" b="b" t="t" l="l"/>
              <a:pathLst>
                <a:path h="707136" w="73152">
                  <a:moveTo>
                    <a:pt x="0" y="0"/>
                  </a:moveTo>
                  <a:lnTo>
                    <a:pt x="73152" y="0"/>
                  </a:lnTo>
                  <a:lnTo>
                    <a:pt x="73152" y="707136"/>
                  </a:lnTo>
                  <a:lnTo>
                    <a:pt x="0" y="707136"/>
                  </a:lnTo>
                  <a:close/>
                </a:path>
              </a:pathLst>
            </a:custGeom>
            <a:solidFill>
              <a:srgbClr val="090E14"/>
            </a:solidFill>
          </p:spPr>
        </p:sp>
      </p:grpSp>
      <p:grpSp>
        <p:nvGrpSpPr>
          <p:cNvPr name="Group 10" id="10"/>
          <p:cNvGrpSpPr/>
          <p:nvPr/>
        </p:nvGrpSpPr>
        <p:grpSpPr>
          <a:xfrm rot="2700000">
            <a:off x="17364456" y="768096"/>
            <a:ext cx="54864" cy="530352"/>
            <a:chOff x="0" y="0"/>
            <a:chExt cx="73152" cy="707136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73152" cy="707136"/>
            </a:xfrm>
            <a:custGeom>
              <a:avLst/>
              <a:gdLst/>
              <a:ahLst/>
              <a:cxnLst/>
              <a:rect r="r" b="b" t="t" l="l"/>
              <a:pathLst>
                <a:path h="707136" w="73152">
                  <a:moveTo>
                    <a:pt x="0" y="0"/>
                  </a:moveTo>
                  <a:lnTo>
                    <a:pt x="73152" y="0"/>
                  </a:lnTo>
                  <a:lnTo>
                    <a:pt x="73152" y="707136"/>
                  </a:lnTo>
                  <a:lnTo>
                    <a:pt x="0" y="707136"/>
                  </a:lnTo>
                  <a:close/>
                </a:path>
              </a:pathLst>
            </a:custGeom>
            <a:solidFill>
              <a:srgbClr val="090E14"/>
            </a:solidFill>
          </p:spPr>
        </p:sp>
      </p:grpSp>
      <p:grpSp>
        <p:nvGrpSpPr>
          <p:cNvPr name="Group 12" id="12"/>
          <p:cNvGrpSpPr/>
          <p:nvPr/>
        </p:nvGrpSpPr>
        <p:grpSpPr>
          <a:xfrm rot="2700000">
            <a:off x="17794224" y="1115568"/>
            <a:ext cx="54864" cy="530352"/>
            <a:chOff x="0" y="0"/>
            <a:chExt cx="73152" cy="707136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73152" cy="707136"/>
            </a:xfrm>
            <a:custGeom>
              <a:avLst/>
              <a:gdLst/>
              <a:ahLst/>
              <a:cxnLst/>
              <a:rect r="r" b="b" t="t" l="l"/>
              <a:pathLst>
                <a:path h="707136" w="73152">
                  <a:moveTo>
                    <a:pt x="0" y="0"/>
                  </a:moveTo>
                  <a:lnTo>
                    <a:pt x="73152" y="0"/>
                  </a:lnTo>
                  <a:lnTo>
                    <a:pt x="73152" y="707136"/>
                  </a:lnTo>
                  <a:lnTo>
                    <a:pt x="0" y="707136"/>
                  </a:lnTo>
                  <a:close/>
                </a:path>
              </a:pathLst>
            </a:custGeom>
            <a:solidFill>
              <a:srgbClr val="090E14"/>
            </a:solidFill>
          </p:spPr>
        </p:sp>
      </p:grpSp>
      <p:grpSp>
        <p:nvGrpSpPr>
          <p:cNvPr name="Group 14" id="14"/>
          <p:cNvGrpSpPr/>
          <p:nvPr/>
        </p:nvGrpSpPr>
        <p:grpSpPr>
          <a:xfrm rot="2700000">
            <a:off x="18223992" y="1463040"/>
            <a:ext cx="54864" cy="530352"/>
            <a:chOff x="0" y="0"/>
            <a:chExt cx="73152" cy="707136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73152" cy="707136"/>
            </a:xfrm>
            <a:custGeom>
              <a:avLst/>
              <a:gdLst/>
              <a:ahLst/>
              <a:cxnLst/>
              <a:rect r="r" b="b" t="t" l="l"/>
              <a:pathLst>
                <a:path h="707136" w="73152">
                  <a:moveTo>
                    <a:pt x="0" y="0"/>
                  </a:moveTo>
                  <a:lnTo>
                    <a:pt x="73152" y="0"/>
                  </a:lnTo>
                  <a:lnTo>
                    <a:pt x="73152" y="707136"/>
                  </a:lnTo>
                  <a:lnTo>
                    <a:pt x="0" y="707136"/>
                  </a:lnTo>
                  <a:close/>
                </a:path>
              </a:pathLst>
            </a:custGeom>
            <a:solidFill>
              <a:srgbClr val="090E14"/>
            </a:solidFill>
          </p:spPr>
        </p:sp>
      </p:grpSp>
      <p:grpSp>
        <p:nvGrpSpPr>
          <p:cNvPr name="Group 16" id="16"/>
          <p:cNvGrpSpPr/>
          <p:nvPr/>
        </p:nvGrpSpPr>
        <p:grpSpPr>
          <a:xfrm rot="2700000">
            <a:off x="18653760" y="1810512"/>
            <a:ext cx="54864" cy="530352"/>
            <a:chOff x="0" y="0"/>
            <a:chExt cx="73152" cy="707136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73152" cy="707136"/>
            </a:xfrm>
            <a:custGeom>
              <a:avLst/>
              <a:gdLst/>
              <a:ahLst/>
              <a:cxnLst/>
              <a:rect r="r" b="b" t="t" l="l"/>
              <a:pathLst>
                <a:path h="707136" w="73152">
                  <a:moveTo>
                    <a:pt x="0" y="0"/>
                  </a:moveTo>
                  <a:lnTo>
                    <a:pt x="73152" y="0"/>
                  </a:lnTo>
                  <a:lnTo>
                    <a:pt x="73152" y="707136"/>
                  </a:lnTo>
                  <a:lnTo>
                    <a:pt x="0" y="707136"/>
                  </a:lnTo>
                  <a:close/>
                </a:path>
              </a:pathLst>
            </a:custGeom>
            <a:solidFill>
              <a:srgbClr val="090E14"/>
            </a:solidFill>
          </p:spPr>
        </p:sp>
      </p:grpSp>
      <p:grpSp>
        <p:nvGrpSpPr>
          <p:cNvPr name="Group 18" id="18"/>
          <p:cNvGrpSpPr/>
          <p:nvPr/>
        </p:nvGrpSpPr>
        <p:grpSpPr>
          <a:xfrm rot="2700000">
            <a:off x="19083528" y="2157984"/>
            <a:ext cx="54864" cy="530352"/>
            <a:chOff x="0" y="0"/>
            <a:chExt cx="73152" cy="707136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73152" cy="707136"/>
            </a:xfrm>
            <a:custGeom>
              <a:avLst/>
              <a:gdLst/>
              <a:ahLst/>
              <a:cxnLst/>
              <a:rect r="r" b="b" t="t" l="l"/>
              <a:pathLst>
                <a:path h="707136" w="73152">
                  <a:moveTo>
                    <a:pt x="0" y="0"/>
                  </a:moveTo>
                  <a:lnTo>
                    <a:pt x="73152" y="0"/>
                  </a:lnTo>
                  <a:lnTo>
                    <a:pt x="73152" y="707136"/>
                  </a:lnTo>
                  <a:lnTo>
                    <a:pt x="0" y="707136"/>
                  </a:lnTo>
                  <a:close/>
                </a:path>
              </a:pathLst>
            </a:custGeom>
            <a:solidFill>
              <a:srgbClr val="090E14"/>
            </a:solidFill>
          </p:spPr>
        </p:sp>
      </p:grpSp>
      <p:sp>
        <p:nvSpPr>
          <p:cNvPr name="TextBox 20" id="20"/>
          <p:cNvSpPr txBox="true"/>
          <p:nvPr/>
        </p:nvSpPr>
        <p:spPr>
          <a:xfrm rot="0">
            <a:off x="978408" y="575691"/>
            <a:ext cx="12673584" cy="5524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320"/>
              </a:lnSpc>
            </a:pPr>
            <a:r>
              <a:rPr lang="en-US" sz="3600">
                <a:solidFill>
                  <a:srgbClr val="090E14"/>
                </a:solidFill>
                <a:latin typeface="Archivo Black"/>
                <a:ea typeface="Archivo Black"/>
                <a:cs typeface="Archivo Black"/>
                <a:sym typeface="Archivo Black"/>
              </a:rPr>
              <a:t>2. Problem Statement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1005840" y="1343406"/>
            <a:ext cx="14228064" cy="2762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040"/>
              </a:lnSpc>
            </a:pPr>
            <a:r>
              <a:rPr lang="en-US" sz="1700">
                <a:solidFill>
                  <a:srgbClr val="585F6A"/>
                </a:solidFill>
                <a:latin typeface="Archivo Black"/>
                <a:ea typeface="Archivo Black"/>
                <a:cs typeface="Archivo Black"/>
                <a:sym typeface="Archivo Black"/>
              </a:rPr>
              <a:t>The project brings the core student tracking steps into one Java workflow</a:t>
            </a:r>
          </a:p>
        </p:txBody>
      </p:sp>
      <p:grpSp>
        <p:nvGrpSpPr>
          <p:cNvPr name="Group 22" id="22"/>
          <p:cNvGrpSpPr/>
          <p:nvPr/>
        </p:nvGrpSpPr>
        <p:grpSpPr>
          <a:xfrm rot="0">
            <a:off x="987552" y="1755648"/>
            <a:ext cx="1051560" cy="50292"/>
            <a:chOff x="0" y="0"/>
            <a:chExt cx="1402080" cy="67056"/>
          </a:xfrm>
        </p:grpSpPr>
        <p:sp>
          <p:nvSpPr>
            <p:cNvPr name="Freeform 23" id="23"/>
            <p:cNvSpPr/>
            <p:nvPr/>
          </p:nvSpPr>
          <p:spPr>
            <a:xfrm flipH="false" flipV="false" rot="0">
              <a:off x="0" y="0"/>
              <a:ext cx="1402080" cy="67056"/>
            </a:xfrm>
            <a:custGeom>
              <a:avLst/>
              <a:gdLst/>
              <a:ahLst/>
              <a:cxnLst/>
              <a:rect r="r" b="b" t="t" l="l"/>
              <a:pathLst>
                <a:path h="67056" w="1402080">
                  <a:moveTo>
                    <a:pt x="0" y="0"/>
                  </a:moveTo>
                  <a:lnTo>
                    <a:pt x="1402080" y="0"/>
                  </a:lnTo>
                  <a:lnTo>
                    <a:pt x="1402080" y="67056"/>
                  </a:lnTo>
                  <a:lnTo>
                    <a:pt x="0" y="67056"/>
                  </a:lnTo>
                  <a:close/>
                </a:path>
              </a:pathLst>
            </a:custGeom>
            <a:solidFill>
              <a:srgbClr val="265BCD"/>
            </a:solidFill>
          </p:spPr>
        </p:sp>
      </p:grpSp>
      <p:grpSp>
        <p:nvGrpSpPr>
          <p:cNvPr name="Group 24" id="24"/>
          <p:cNvGrpSpPr/>
          <p:nvPr/>
        </p:nvGrpSpPr>
        <p:grpSpPr>
          <a:xfrm rot="0">
            <a:off x="980570" y="2141858"/>
            <a:ext cx="7420613" cy="5088893"/>
            <a:chOff x="0" y="0"/>
            <a:chExt cx="9894151" cy="6785191"/>
          </a:xfrm>
        </p:grpSpPr>
        <p:sp>
          <p:nvSpPr>
            <p:cNvPr name="Freeform 25" id="25"/>
            <p:cNvSpPr/>
            <p:nvPr/>
          </p:nvSpPr>
          <p:spPr>
            <a:xfrm flipH="false" flipV="false" rot="0">
              <a:off x="0" y="0"/>
              <a:ext cx="9894189" cy="6785229"/>
            </a:xfrm>
            <a:custGeom>
              <a:avLst/>
              <a:gdLst/>
              <a:ahLst/>
              <a:cxnLst/>
              <a:rect r="r" b="b" t="t" l="l"/>
              <a:pathLst>
                <a:path h="6785229" w="9894189">
                  <a:moveTo>
                    <a:pt x="0" y="1130935"/>
                  </a:moveTo>
                  <a:cubicBezTo>
                    <a:pt x="0" y="506349"/>
                    <a:pt x="506349" y="0"/>
                    <a:pt x="1130935" y="0"/>
                  </a:cubicBezTo>
                  <a:lnTo>
                    <a:pt x="8763254" y="0"/>
                  </a:lnTo>
                  <a:cubicBezTo>
                    <a:pt x="9387840" y="0"/>
                    <a:pt x="9894189" y="506349"/>
                    <a:pt x="9894189" y="1130935"/>
                  </a:cubicBezTo>
                  <a:lnTo>
                    <a:pt x="9894189" y="5654294"/>
                  </a:lnTo>
                  <a:cubicBezTo>
                    <a:pt x="9894189" y="6278880"/>
                    <a:pt x="9387840" y="6785229"/>
                    <a:pt x="8763254" y="6785229"/>
                  </a:cubicBezTo>
                  <a:lnTo>
                    <a:pt x="1130935" y="6785229"/>
                  </a:lnTo>
                  <a:cubicBezTo>
                    <a:pt x="506349" y="6785229"/>
                    <a:pt x="0" y="6278880"/>
                    <a:pt x="0" y="5654294"/>
                  </a:cubicBezTo>
                  <a:close/>
                </a:path>
              </a:pathLst>
            </a:custGeom>
            <a:solidFill>
              <a:srgbClr val="FFFFFF"/>
            </a:solidFill>
            <a:ln w="13970" cap="sq">
              <a:solidFill>
                <a:srgbClr val="D7DFEC"/>
              </a:solidFill>
              <a:prstDash val="solid"/>
              <a:miter/>
            </a:ln>
          </p:spPr>
        </p:sp>
      </p:grpSp>
      <p:sp>
        <p:nvSpPr>
          <p:cNvPr name="TextBox 26" id="26"/>
          <p:cNvSpPr txBox="true"/>
          <p:nvPr/>
        </p:nvSpPr>
        <p:spPr>
          <a:xfrm rot="0">
            <a:off x="1207008" y="2322195"/>
            <a:ext cx="2147888" cy="3238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20"/>
              </a:lnSpc>
            </a:pPr>
            <a:r>
              <a:rPr lang="en-US" sz="2100">
                <a:solidFill>
                  <a:srgbClr val="090E14"/>
                </a:solidFill>
                <a:latin typeface="Archivo Black"/>
                <a:ea typeface="Archivo Black"/>
                <a:cs typeface="Archivo Black"/>
                <a:sym typeface="Archivo Black"/>
              </a:rPr>
              <a:t>THE PROBLEM</a:t>
            </a:r>
          </a:p>
        </p:txBody>
      </p:sp>
      <p:sp>
        <p:nvSpPr>
          <p:cNvPr name="TextBox 27" id="27"/>
          <p:cNvSpPr txBox="true"/>
          <p:nvPr/>
        </p:nvSpPr>
        <p:spPr>
          <a:xfrm rot="0">
            <a:off x="1207008" y="2751963"/>
            <a:ext cx="7004304" cy="23431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39"/>
              </a:lnSpc>
            </a:pPr>
            <a:r>
              <a:rPr lang="en-US" sz="2199">
                <a:solidFill>
                  <a:srgbClr val="585F6A"/>
                </a:solidFill>
                <a:latin typeface="Archivo Black"/>
                <a:ea typeface="Archivo Black"/>
                <a:cs typeface="Archivo Black"/>
                <a:sym typeface="Archivo Black"/>
              </a:rPr>
              <a:t>Student marks and attendance are separate pieces of information, but the final academic status depends on processing both. The project therefore needs a single program that accepts the required inputs, validates them, calculates performance, and reports eligibility consistently.</a:t>
            </a:r>
          </a:p>
        </p:txBody>
      </p:sp>
      <p:grpSp>
        <p:nvGrpSpPr>
          <p:cNvPr name="Group 28" id="28"/>
          <p:cNvGrpSpPr/>
          <p:nvPr/>
        </p:nvGrpSpPr>
        <p:grpSpPr>
          <a:xfrm rot="0">
            <a:off x="8725538" y="2141858"/>
            <a:ext cx="8426453" cy="1202693"/>
            <a:chOff x="0" y="0"/>
            <a:chExt cx="11235271" cy="1603591"/>
          </a:xfrm>
        </p:grpSpPr>
        <p:sp>
          <p:nvSpPr>
            <p:cNvPr name="Freeform 29" id="29"/>
            <p:cNvSpPr/>
            <p:nvPr/>
          </p:nvSpPr>
          <p:spPr>
            <a:xfrm flipH="false" flipV="false" rot="0">
              <a:off x="0" y="0"/>
              <a:ext cx="11235182" cy="1603502"/>
            </a:xfrm>
            <a:custGeom>
              <a:avLst/>
              <a:gdLst/>
              <a:ahLst/>
              <a:cxnLst/>
              <a:rect r="r" b="b" t="t" l="l"/>
              <a:pathLst>
                <a:path h="1603502" w="11235182">
                  <a:moveTo>
                    <a:pt x="0" y="267208"/>
                  </a:moveTo>
                  <a:cubicBezTo>
                    <a:pt x="0" y="119634"/>
                    <a:pt x="119634" y="0"/>
                    <a:pt x="267208" y="0"/>
                  </a:cubicBezTo>
                  <a:lnTo>
                    <a:pt x="10967974" y="0"/>
                  </a:lnTo>
                  <a:cubicBezTo>
                    <a:pt x="11115548" y="0"/>
                    <a:pt x="11235182" y="119634"/>
                    <a:pt x="11235182" y="267208"/>
                  </a:cubicBezTo>
                  <a:lnTo>
                    <a:pt x="11235182" y="1336294"/>
                  </a:lnTo>
                  <a:cubicBezTo>
                    <a:pt x="11235182" y="1483868"/>
                    <a:pt x="11115548" y="1603502"/>
                    <a:pt x="10967974" y="1603502"/>
                  </a:cubicBezTo>
                  <a:lnTo>
                    <a:pt x="267208" y="1603502"/>
                  </a:lnTo>
                  <a:cubicBezTo>
                    <a:pt x="119634" y="1603629"/>
                    <a:pt x="0" y="1483868"/>
                    <a:pt x="0" y="1336294"/>
                  </a:cubicBezTo>
                  <a:close/>
                </a:path>
              </a:pathLst>
            </a:custGeom>
            <a:solidFill>
              <a:srgbClr val="FFFFFF"/>
            </a:solidFill>
            <a:ln w="13970" cap="sq">
              <a:solidFill>
                <a:srgbClr val="D7DFEC"/>
              </a:solidFill>
              <a:prstDash val="solid"/>
              <a:miter/>
            </a:ln>
          </p:spPr>
        </p:sp>
      </p:grpSp>
      <p:sp>
        <p:nvSpPr>
          <p:cNvPr name="TextBox 30" id="30"/>
          <p:cNvSpPr txBox="true"/>
          <p:nvPr/>
        </p:nvSpPr>
        <p:spPr>
          <a:xfrm rot="0">
            <a:off x="8951976" y="2312670"/>
            <a:ext cx="8028432" cy="2762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040"/>
              </a:lnSpc>
            </a:pPr>
            <a:r>
              <a:rPr lang="en-US" sz="1700">
                <a:solidFill>
                  <a:srgbClr val="090E14"/>
                </a:solidFill>
                <a:latin typeface="Archivo Black"/>
                <a:ea typeface="Archivo Black"/>
                <a:cs typeface="Archivo Black"/>
                <a:sym typeface="Archivo Black"/>
              </a:rPr>
              <a:t>1 — INPUT HANDLING</a:t>
            </a:r>
          </a:p>
        </p:txBody>
      </p:sp>
      <p:sp>
        <p:nvSpPr>
          <p:cNvPr name="TextBox 31" id="31"/>
          <p:cNvSpPr txBox="true"/>
          <p:nvPr/>
        </p:nvSpPr>
        <p:spPr>
          <a:xfrm rot="0">
            <a:off x="8951976" y="2751963"/>
            <a:ext cx="8010144" cy="2381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00"/>
              </a:lnSpc>
            </a:pPr>
            <a:r>
              <a:rPr lang="en-US" sz="1500">
                <a:solidFill>
                  <a:srgbClr val="585F6A"/>
                </a:solidFill>
                <a:latin typeface="Archivo Black"/>
                <a:ea typeface="Archivo Black"/>
                <a:cs typeface="Archivo Black"/>
                <a:sym typeface="Archivo Black"/>
              </a:rPr>
              <a:t>Accept the required student and subject data.</a:t>
            </a:r>
          </a:p>
        </p:txBody>
      </p:sp>
      <p:grpSp>
        <p:nvGrpSpPr>
          <p:cNvPr name="Group 32" id="32"/>
          <p:cNvGrpSpPr/>
          <p:nvPr/>
        </p:nvGrpSpPr>
        <p:grpSpPr>
          <a:xfrm rot="0">
            <a:off x="8725538" y="3604898"/>
            <a:ext cx="8426453" cy="1202693"/>
            <a:chOff x="0" y="0"/>
            <a:chExt cx="11235271" cy="1603591"/>
          </a:xfrm>
        </p:grpSpPr>
        <p:sp>
          <p:nvSpPr>
            <p:cNvPr name="Freeform 33" id="33"/>
            <p:cNvSpPr/>
            <p:nvPr/>
          </p:nvSpPr>
          <p:spPr>
            <a:xfrm flipH="false" flipV="false" rot="0">
              <a:off x="0" y="0"/>
              <a:ext cx="11235182" cy="1603502"/>
            </a:xfrm>
            <a:custGeom>
              <a:avLst/>
              <a:gdLst/>
              <a:ahLst/>
              <a:cxnLst/>
              <a:rect r="r" b="b" t="t" l="l"/>
              <a:pathLst>
                <a:path h="1603502" w="11235182">
                  <a:moveTo>
                    <a:pt x="0" y="267208"/>
                  </a:moveTo>
                  <a:cubicBezTo>
                    <a:pt x="0" y="119634"/>
                    <a:pt x="119634" y="0"/>
                    <a:pt x="267208" y="0"/>
                  </a:cubicBezTo>
                  <a:lnTo>
                    <a:pt x="10967974" y="0"/>
                  </a:lnTo>
                  <a:cubicBezTo>
                    <a:pt x="11115548" y="0"/>
                    <a:pt x="11235182" y="119634"/>
                    <a:pt x="11235182" y="267208"/>
                  </a:cubicBezTo>
                  <a:lnTo>
                    <a:pt x="11235182" y="1336294"/>
                  </a:lnTo>
                  <a:cubicBezTo>
                    <a:pt x="11235182" y="1483868"/>
                    <a:pt x="11115548" y="1603502"/>
                    <a:pt x="10967974" y="1603502"/>
                  </a:cubicBezTo>
                  <a:lnTo>
                    <a:pt x="267208" y="1603502"/>
                  </a:lnTo>
                  <a:cubicBezTo>
                    <a:pt x="119634" y="1603629"/>
                    <a:pt x="0" y="1483868"/>
                    <a:pt x="0" y="1336294"/>
                  </a:cubicBezTo>
                  <a:close/>
                </a:path>
              </a:pathLst>
            </a:custGeom>
            <a:solidFill>
              <a:srgbClr val="FFFFFF"/>
            </a:solidFill>
            <a:ln w="13970" cap="sq">
              <a:solidFill>
                <a:srgbClr val="D7DFEC"/>
              </a:solidFill>
              <a:prstDash val="solid"/>
              <a:miter/>
            </a:ln>
          </p:spPr>
        </p:sp>
      </p:grpSp>
      <p:sp>
        <p:nvSpPr>
          <p:cNvPr name="TextBox 34" id="34"/>
          <p:cNvSpPr txBox="true"/>
          <p:nvPr/>
        </p:nvSpPr>
        <p:spPr>
          <a:xfrm rot="0">
            <a:off x="8951976" y="3775710"/>
            <a:ext cx="8028432" cy="2762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040"/>
              </a:lnSpc>
            </a:pPr>
            <a:r>
              <a:rPr lang="en-US" sz="1700">
                <a:solidFill>
                  <a:srgbClr val="090E14"/>
                </a:solidFill>
                <a:latin typeface="Archivo Black"/>
                <a:ea typeface="Archivo Black"/>
                <a:cs typeface="Archivo Black"/>
                <a:sym typeface="Archivo Black"/>
              </a:rPr>
              <a:t>2 — PERFORMANCE</a:t>
            </a:r>
          </a:p>
        </p:txBody>
      </p:sp>
      <p:sp>
        <p:nvSpPr>
          <p:cNvPr name="TextBox 35" id="35"/>
          <p:cNvSpPr txBox="true"/>
          <p:nvPr/>
        </p:nvSpPr>
        <p:spPr>
          <a:xfrm rot="0">
            <a:off x="8951976" y="4215003"/>
            <a:ext cx="8010144" cy="2381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00"/>
              </a:lnSpc>
            </a:pPr>
            <a:r>
              <a:rPr lang="en-US" sz="1500">
                <a:solidFill>
                  <a:srgbClr val="585F6A"/>
                </a:solidFill>
                <a:latin typeface="Archivo Black"/>
                <a:ea typeface="Archivo Black"/>
                <a:cs typeface="Archivo Black"/>
                <a:sym typeface="Archivo Black"/>
              </a:rPr>
              <a:t>Convert subject marks into total and average values.</a:t>
            </a:r>
          </a:p>
        </p:txBody>
      </p:sp>
      <p:grpSp>
        <p:nvGrpSpPr>
          <p:cNvPr name="Group 36" id="36"/>
          <p:cNvGrpSpPr/>
          <p:nvPr/>
        </p:nvGrpSpPr>
        <p:grpSpPr>
          <a:xfrm rot="0">
            <a:off x="8725538" y="5067938"/>
            <a:ext cx="8426453" cy="1202693"/>
            <a:chOff x="0" y="0"/>
            <a:chExt cx="11235271" cy="1603591"/>
          </a:xfrm>
        </p:grpSpPr>
        <p:sp>
          <p:nvSpPr>
            <p:cNvPr name="Freeform 37" id="37"/>
            <p:cNvSpPr/>
            <p:nvPr/>
          </p:nvSpPr>
          <p:spPr>
            <a:xfrm flipH="false" flipV="false" rot="0">
              <a:off x="0" y="0"/>
              <a:ext cx="11235182" cy="1603502"/>
            </a:xfrm>
            <a:custGeom>
              <a:avLst/>
              <a:gdLst/>
              <a:ahLst/>
              <a:cxnLst/>
              <a:rect r="r" b="b" t="t" l="l"/>
              <a:pathLst>
                <a:path h="1603502" w="11235182">
                  <a:moveTo>
                    <a:pt x="0" y="267208"/>
                  </a:moveTo>
                  <a:cubicBezTo>
                    <a:pt x="0" y="119634"/>
                    <a:pt x="119634" y="0"/>
                    <a:pt x="267208" y="0"/>
                  </a:cubicBezTo>
                  <a:lnTo>
                    <a:pt x="10967974" y="0"/>
                  </a:lnTo>
                  <a:cubicBezTo>
                    <a:pt x="11115548" y="0"/>
                    <a:pt x="11235182" y="119634"/>
                    <a:pt x="11235182" y="267208"/>
                  </a:cubicBezTo>
                  <a:lnTo>
                    <a:pt x="11235182" y="1336294"/>
                  </a:lnTo>
                  <a:cubicBezTo>
                    <a:pt x="11235182" y="1483868"/>
                    <a:pt x="11115548" y="1603502"/>
                    <a:pt x="10967974" y="1603502"/>
                  </a:cubicBezTo>
                  <a:lnTo>
                    <a:pt x="267208" y="1603502"/>
                  </a:lnTo>
                  <a:cubicBezTo>
                    <a:pt x="119634" y="1603629"/>
                    <a:pt x="0" y="1483868"/>
                    <a:pt x="0" y="1336294"/>
                  </a:cubicBezTo>
                  <a:close/>
                </a:path>
              </a:pathLst>
            </a:custGeom>
            <a:solidFill>
              <a:srgbClr val="FFFFFF"/>
            </a:solidFill>
            <a:ln w="13970" cap="sq">
              <a:solidFill>
                <a:srgbClr val="D7DFEC"/>
              </a:solidFill>
              <a:prstDash val="solid"/>
              <a:miter/>
            </a:ln>
          </p:spPr>
        </p:sp>
      </p:grpSp>
      <p:sp>
        <p:nvSpPr>
          <p:cNvPr name="TextBox 38" id="38"/>
          <p:cNvSpPr txBox="true"/>
          <p:nvPr/>
        </p:nvSpPr>
        <p:spPr>
          <a:xfrm rot="0">
            <a:off x="8951976" y="5238750"/>
            <a:ext cx="8028432" cy="2762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040"/>
              </a:lnSpc>
            </a:pPr>
            <a:r>
              <a:rPr lang="en-US" sz="1700">
                <a:solidFill>
                  <a:srgbClr val="090E14"/>
                </a:solidFill>
                <a:latin typeface="Archivo Black"/>
                <a:ea typeface="Archivo Black"/>
                <a:cs typeface="Archivo Black"/>
                <a:sym typeface="Archivo Black"/>
              </a:rPr>
              <a:t>3 — DECISION</a:t>
            </a:r>
          </a:p>
        </p:txBody>
      </p:sp>
      <p:sp>
        <p:nvSpPr>
          <p:cNvPr name="TextBox 39" id="39"/>
          <p:cNvSpPr txBox="true"/>
          <p:nvPr/>
        </p:nvSpPr>
        <p:spPr>
          <a:xfrm rot="0">
            <a:off x="8951976" y="5678043"/>
            <a:ext cx="8010144" cy="2381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00"/>
              </a:lnSpc>
            </a:pPr>
            <a:r>
              <a:rPr lang="en-US" sz="1500">
                <a:solidFill>
                  <a:srgbClr val="585F6A"/>
                </a:solidFill>
                <a:latin typeface="Archivo Black"/>
                <a:ea typeface="Archivo Black"/>
                <a:cs typeface="Archivo Black"/>
                <a:sym typeface="Archivo Black"/>
              </a:rPr>
              <a:t>Assign a grade and apply the 75% attendance rule.</a:t>
            </a:r>
          </a:p>
        </p:txBody>
      </p:sp>
      <p:grpSp>
        <p:nvGrpSpPr>
          <p:cNvPr name="Group 40" id="40"/>
          <p:cNvGrpSpPr/>
          <p:nvPr/>
        </p:nvGrpSpPr>
        <p:grpSpPr>
          <a:xfrm rot="0">
            <a:off x="8725538" y="6530978"/>
            <a:ext cx="8426453" cy="1202693"/>
            <a:chOff x="0" y="0"/>
            <a:chExt cx="11235271" cy="1603591"/>
          </a:xfrm>
        </p:grpSpPr>
        <p:sp>
          <p:nvSpPr>
            <p:cNvPr name="Freeform 41" id="41"/>
            <p:cNvSpPr/>
            <p:nvPr/>
          </p:nvSpPr>
          <p:spPr>
            <a:xfrm flipH="false" flipV="false" rot="0">
              <a:off x="0" y="0"/>
              <a:ext cx="11235182" cy="1603502"/>
            </a:xfrm>
            <a:custGeom>
              <a:avLst/>
              <a:gdLst/>
              <a:ahLst/>
              <a:cxnLst/>
              <a:rect r="r" b="b" t="t" l="l"/>
              <a:pathLst>
                <a:path h="1603502" w="11235182">
                  <a:moveTo>
                    <a:pt x="0" y="267208"/>
                  </a:moveTo>
                  <a:cubicBezTo>
                    <a:pt x="0" y="119634"/>
                    <a:pt x="119634" y="0"/>
                    <a:pt x="267208" y="0"/>
                  </a:cubicBezTo>
                  <a:lnTo>
                    <a:pt x="10967974" y="0"/>
                  </a:lnTo>
                  <a:cubicBezTo>
                    <a:pt x="11115548" y="0"/>
                    <a:pt x="11235182" y="119634"/>
                    <a:pt x="11235182" y="267208"/>
                  </a:cubicBezTo>
                  <a:lnTo>
                    <a:pt x="11235182" y="1336294"/>
                  </a:lnTo>
                  <a:cubicBezTo>
                    <a:pt x="11235182" y="1483868"/>
                    <a:pt x="11115548" y="1603502"/>
                    <a:pt x="10967974" y="1603502"/>
                  </a:cubicBezTo>
                  <a:lnTo>
                    <a:pt x="267208" y="1603502"/>
                  </a:lnTo>
                  <a:cubicBezTo>
                    <a:pt x="119634" y="1603629"/>
                    <a:pt x="0" y="1483868"/>
                    <a:pt x="0" y="1336294"/>
                  </a:cubicBezTo>
                  <a:close/>
                </a:path>
              </a:pathLst>
            </a:custGeom>
            <a:solidFill>
              <a:srgbClr val="FFFFFF"/>
            </a:solidFill>
            <a:ln w="13970" cap="sq">
              <a:solidFill>
                <a:srgbClr val="D7DFEC"/>
              </a:solidFill>
              <a:prstDash val="solid"/>
              <a:miter/>
            </a:ln>
          </p:spPr>
        </p:sp>
      </p:grpSp>
      <p:sp>
        <p:nvSpPr>
          <p:cNvPr name="TextBox 42" id="42"/>
          <p:cNvSpPr txBox="true"/>
          <p:nvPr/>
        </p:nvSpPr>
        <p:spPr>
          <a:xfrm rot="0">
            <a:off x="8951976" y="6701790"/>
            <a:ext cx="8028432" cy="2762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040"/>
              </a:lnSpc>
            </a:pPr>
            <a:r>
              <a:rPr lang="en-US" sz="1700">
                <a:solidFill>
                  <a:srgbClr val="090E14"/>
                </a:solidFill>
                <a:latin typeface="Archivo Black"/>
                <a:ea typeface="Archivo Black"/>
                <a:cs typeface="Archivo Black"/>
                <a:sym typeface="Archivo Black"/>
              </a:rPr>
              <a:t>4 — REPORTING</a:t>
            </a:r>
          </a:p>
        </p:txBody>
      </p:sp>
      <p:sp>
        <p:nvSpPr>
          <p:cNvPr name="TextBox 43" id="43"/>
          <p:cNvSpPr txBox="true"/>
          <p:nvPr/>
        </p:nvSpPr>
        <p:spPr>
          <a:xfrm rot="0">
            <a:off x="8951976" y="7141083"/>
            <a:ext cx="8010144" cy="2381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00"/>
              </a:lnSpc>
            </a:pPr>
            <a:r>
              <a:rPr lang="en-US" sz="1500">
                <a:solidFill>
                  <a:srgbClr val="585F6A"/>
                </a:solidFill>
                <a:latin typeface="Archivo Black"/>
                <a:ea typeface="Archivo Black"/>
                <a:cs typeface="Archivo Black"/>
                <a:sym typeface="Archivo Black"/>
              </a:rPr>
              <a:t>Present the processed result in one final report.</a:t>
            </a:r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3" id="3" descr="bg.jpeg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-3364" r="0" b="-3364"/>
              </a:stretch>
            </a:blipFill>
          </p:spPr>
        </p:sp>
      </p:grpSp>
      <p:grpSp>
        <p:nvGrpSpPr>
          <p:cNvPr name="Group 4" id="4"/>
          <p:cNvGrpSpPr/>
          <p:nvPr/>
        </p:nvGrpSpPr>
        <p:grpSpPr>
          <a:xfrm rot="0">
            <a:off x="22355" y="22355"/>
            <a:ext cx="18243299" cy="10242299"/>
            <a:chOff x="0" y="0"/>
            <a:chExt cx="24324399" cy="13656399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4324438" cy="13656438"/>
            </a:xfrm>
            <a:custGeom>
              <a:avLst/>
              <a:gdLst/>
              <a:ahLst/>
              <a:cxnLst/>
              <a:rect r="r" b="b" t="t" l="l"/>
              <a:pathLst>
                <a:path h="13656438" w="24324438">
                  <a:moveTo>
                    <a:pt x="0" y="0"/>
                  </a:moveTo>
                  <a:lnTo>
                    <a:pt x="24324438" y="0"/>
                  </a:lnTo>
                  <a:lnTo>
                    <a:pt x="24324438" y="13656438"/>
                  </a:lnTo>
                  <a:lnTo>
                    <a:pt x="0" y="1365643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22033" t="0" r="-22033" b="0"/>
              </a:stretch>
            </a:blipFill>
            <a:ln w="10160" cap="sq">
              <a:solidFill>
                <a:srgbClr val="090E14"/>
              </a:solidFill>
              <a:prstDash val="solid"/>
              <a:miter/>
            </a:ln>
          </p:spPr>
        </p:sp>
      </p:grpSp>
      <p:grpSp>
        <p:nvGrpSpPr>
          <p:cNvPr name="Group 6" id="6"/>
          <p:cNvGrpSpPr/>
          <p:nvPr/>
        </p:nvGrpSpPr>
        <p:grpSpPr>
          <a:xfrm rot="2700000">
            <a:off x="16504920" y="73152"/>
            <a:ext cx="54864" cy="530352"/>
            <a:chOff x="0" y="0"/>
            <a:chExt cx="73152" cy="707136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73152" cy="707136"/>
            </a:xfrm>
            <a:custGeom>
              <a:avLst/>
              <a:gdLst/>
              <a:ahLst/>
              <a:cxnLst/>
              <a:rect r="r" b="b" t="t" l="l"/>
              <a:pathLst>
                <a:path h="707136" w="73152">
                  <a:moveTo>
                    <a:pt x="0" y="0"/>
                  </a:moveTo>
                  <a:lnTo>
                    <a:pt x="73152" y="0"/>
                  </a:lnTo>
                  <a:lnTo>
                    <a:pt x="73152" y="707136"/>
                  </a:lnTo>
                  <a:lnTo>
                    <a:pt x="0" y="707136"/>
                  </a:lnTo>
                  <a:close/>
                </a:path>
              </a:pathLst>
            </a:custGeom>
            <a:solidFill>
              <a:srgbClr val="090E14"/>
            </a:solidFill>
          </p:spPr>
        </p:sp>
      </p:grpSp>
      <p:grpSp>
        <p:nvGrpSpPr>
          <p:cNvPr name="Group 8" id="8"/>
          <p:cNvGrpSpPr/>
          <p:nvPr/>
        </p:nvGrpSpPr>
        <p:grpSpPr>
          <a:xfrm rot="2700000">
            <a:off x="16934688" y="420624"/>
            <a:ext cx="54864" cy="530352"/>
            <a:chOff x="0" y="0"/>
            <a:chExt cx="73152" cy="707136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73152" cy="707136"/>
            </a:xfrm>
            <a:custGeom>
              <a:avLst/>
              <a:gdLst/>
              <a:ahLst/>
              <a:cxnLst/>
              <a:rect r="r" b="b" t="t" l="l"/>
              <a:pathLst>
                <a:path h="707136" w="73152">
                  <a:moveTo>
                    <a:pt x="0" y="0"/>
                  </a:moveTo>
                  <a:lnTo>
                    <a:pt x="73152" y="0"/>
                  </a:lnTo>
                  <a:lnTo>
                    <a:pt x="73152" y="707136"/>
                  </a:lnTo>
                  <a:lnTo>
                    <a:pt x="0" y="707136"/>
                  </a:lnTo>
                  <a:close/>
                </a:path>
              </a:pathLst>
            </a:custGeom>
            <a:solidFill>
              <a:srgbClr val="090E14"/>
            </a:solidFill>
          </p:spPr>
        </p:sp>
      </p:grpSp>
      <p:grpSp>
        <p:nvGrpSpPr>
          <p:cNvPr name="Group 10" id="10"/>
          <p:cNvGrpSpPr/>
          <p:nvPr/>
        </p:nvGrpSpPr>
        <p:grpSpPr>
          <a:xfrm rot="2700000">
            <a:off x="17364456" y="768096"/>
            <a:ext cx="54864" cy="530352"/>
            <a:chOff x="0" y="0"/>
            <a:chExt cx="73152" cy="707136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73152" cy="707136"/>
            </a:xfrm>
            <a:custGeom>
              <a:avLst/>
              <a:gdLst/>
              <a:ahLst/>
              <a:cxnLst/>
              <a:rect r="r" b="b" t="t" l="l"/>
              <a:pathLst>
                <a:path h="707136" w="73152">
                  <a:moveTo>
                    <a:pt x="0" y="0"/>
                  </a:moveTo>
                  <a:lnTo>
                    <a:pt x="73152" y="0"/>
                  </a:lnTo>
                  <a:lnTo>
                    <a:pt x="73152" y="707136"/>
                  </a:lnTo>
                  <a:lnTo>
                    <a:pt x="0" y="707136"/>
                  </a:lnTo>
                  <a:close/>
                </a:path>
              </a:pathLst>
            </a:custGeom>
            <a:solidFill>
              <a:srgbClr val="090E14"/>
            </a:solidFill>
          </p:spPr>
        </p:sp>
      </p:grpSp>
      <p:grpSp>
        <p:nvGrpSpPr>
          <p:cNvPr name="Group 12" id="12"/>
          <p:cNvGrpSpPr/>
          <p:nvPr/>
        </p:nvGrpSpPr>
        <p:grpSpPr>
          <a:xfrm rot="2700000">
            <a:off x="17794224" y="1115568"/>
            <a:ext cx="54864" cy="530352"/>
            <a:chOff x="0" y="0"/>
            <a:chExt cx="73152" cy="707136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73152" cy="707136"/>
            </a:xfrm>
            <a:custGeom>
              <a:avLst/>
              <a:gdLst/>
              <a:ahLst/>
              <a:cxnLst/>
              <a:rect r="r" b="b" t="t" l="l"/>
              <a:pathLst>
                <a:path h="707136" w="73152">
                  <a:moveTo>
                    <a:pt x="0" y="0"/>
                  </a:moveTo>
                  <a:lnTo>
                    <a:pt x="73152" y="0"/>
                  </a:lnTo>
                  <a:lnTo>
                    <a:pt x="73152" y="707136"/>
                  </a:lnTo>
                  <a:lnTo>
                    <a:pt x="0" y="707136"/>
                  </a:lnTo>
                  <a:close/>
                </a:path>
              </a:pathLst>
            </a:custGeom>
            <a:solidFill>
              <a:srgbClr val="090E14"/>
            </a:solidFill>
          </p:spPr>
        </p:sp>
      </p:grpSp>
      <p:grpSp>
        <p:nvGrpSpPr>
          <p:cNvPr name="Group 14" id="14"/>
          <p:cNvGrpSpPr/>
          <p:nvPr/>
        </p:nvGrpSpPr>
        <p:grpSpPr>
          <a:xfrm rot="2700000">
            <a:off x="18223992" y="1463040"/>
            <a:ext cx="54864" cy="530352"/>
            <a:chOff x="0" y="0"/>
            <a:chExt cx="73152" cy="707136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73152" cy="707136"/>
            </a:xfrm>
            <a:custGeom>
              <a:avLst/>
              <a:gdLst/>
              <a:ahLst/>
              <a:cxnLst/>
              <a:rect r="r" b="b" t="t" l="l"/>
              <a:pathLst>
                <a:path h="707136" w="73152">
                  <a:moveTo>
                    <a:pt x="0" y="0"/>
                  </a:moveTo>
                  <a:lnTo>
                    <a:pt x="73152" y="0"/>
                  </a:lnTo>
                  <a:lnTo>
                    <a:pt x="73152" y="707136"/>
                  </a:lnTo>
                  <a:lnTo>
                    <a:pt x="0" y="707136"/>
                  </a:lnTo>
                  <a:close/>
                </a:path>
              </a:pathLst>
            </a:custGeom>
            <a:solidFill>
              <a:srgbClr val="090E14"/>
            </a:solidFill>
          </p:spPr>
        </p:sp>
      </p:grpSp>
      <p:grpSp>
        <p:nvGrpSpPr>
          <p:cNvPr name="Group 16" id="16"/>
          <p:cNvGrpSpPr/>
          <p:nvPr/>
        </p:nvGrpSpPr>
        <p:grpSpPr>
          <a:xfrm rot="2700000">
            <a:off x="18653760" y="1810512"/>
            <a:ext cx="54864" cy="530352"/>
            <a:chOff x="0" y="0"/>
            <a:chExt cx="73152" cy="707136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73152" cy="707136"/>
            </a:xfrm>
            <a:custGeom>
              <a:avLst/>
              <a:gdLst/>
              <a:ahLst/>
              <a:cxnLst/>
              <a:rect r="r" b="b" t="t" l="l"/>
              <a:pathLst>
                <a:path h="707136" w="73152">
                  <a:moveTo>
                    <a:pt x="0" y="0"/>
                  </a:moveTo>
                  <a:lnTo>
                    <a:pt x="73152" y="0"/>
                  </a:lnTo>
                  <a:lnTo>
                    <a:pt x="73152" y="707136"/>
                  </a:lnTo>
                  <a:lnTo>
                    <a:pt x="0" y="707136"/>
                  </a:lnTo>
                  <a:close/>
                </a:path>
              </a:pathLst>
            </a:custGeom>
            <a:solidFill>
              <a:srgbClr val="090E14"/>
            </a:solidFill>
          </p:spPr>
        </p:sp>
      </p:grpSp>
      <p:grpSp>
        <p:nvGrpSpPr>
          <p:cNvPr name="Group 18" id="18"/>
          <p:cNvGrpSpPr/>
          <p:nvPr/>
        </p:nvGrpSpPr>
        <p:grpSpPr>
          <a:xfrm rot="2700000">
            <a:off x="19083528" y="2157984"/>
            <a:ext cx="54864" cy="530352"/>
            <a:chOff x="0" y="0"/>
            <a:chExt cx="73152" cy="707136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73152" cy="707136"/>
            </a:xfrm>
            <a:custGeom>
              <a:avLst/>
              <a:gdLst/>
              <a:ahLst/>
              <a:cxnLst/>
              <a:rect r="r" b="b" t="t" l="l"/>
              <a:pathLst>
                <a:path h="707136" w="73152">
                  <a:moveTo>
                    <a:pt x="0" y="0"/>
                  </a:moveTo>
                  <a:lnTo>
                    <a:pt x="73152" y="0"/>
                  </a:lnTo>
                  <a:lnTo>
                    <a:pt x="73152" y="707136"/>
                  </a:lnTo>
                  <a:lnTo>
                    <a:pt x="0" y="707136"/>
                  </a:lnTo>
                  <a:close/>
                </a:path>
              </a:pathLst>
            </a:custGeom>
            <a:solidFill>
              <a:srgbClr val="090E14"/>
            </a:solidFill>
          </p:spPr>
        </p:sp>
      </p:grpSp>
      <p:sp>
        <p:nvSpPr>
          <p:cNvPr name="TextBox 20" id="20"/>
          <p:cNvSpPr txBox="true"/>
          <p:nvPr/>
        </p:nvSpPr>
        <p:spPr>
          <a:xfrm rot="0">
            <a:off x="978408" y="575691"/>
            <a:ext cx="12673584" cy="5524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320"/>
              </a:lnSpc>
            </a:pPr>
            <a:r>
              <a:rPr lang="en-US" sz="3600">
                <a:solidFill>
                  <a:srgbClr val="090E14"/>
                </a:solidFill>
                <a:latin typeface="Archivo Black"/>
                <a:ea typeface="Archivo Black"/>
                <a:cs typeface="Archivo Black"/>
                <a:sym typeface="Archivo Black"/>
              </a:rPr>
              <a:t>3. Objectives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1005840" y="1343406"/>
            <a:ext cx="14228064" cy="2762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040"/>
              </a:lnSpc>
            </a:pPr>
            <a:r>
              <a:rPr lang="en-US" sz="1700">
                <a:solidFill>
                  <a:srgbClr val="585F6A"/>
                </a:solidFill>
                <a:latin typeface="Archivo Black"/>
                <a:ea typeface="Archivo Black"/>
                <a:cs typeface="Archivo Black"/>
                <a:sym typeface="Archivo Black"/>
              </a:rPr>
              <a:t>What the project is designed to accomplish</a:t>
            </a:r>
          </a:p>
        </p:txBody>
      </p:sp>
      <p:grpSp>
        <p:nvGrpSpPr>
          <p:cNvPr name="Group 22" id="22"/>
          <p:cNvGrpSpPr/>
          <p:nvPr/>
        </p:nvGrpSpPr>
        <p:grpSpPr>
          <a:xfrm rot="0">
            <a:off x="987552" y="1755648"/>
            <a:ext cx="1051560" cy="50292"/>
            <a:chOff x="0" y="0"/>
            <a:chExt cx="1402080" cy="67056"/>
          </a:xfrm>
        </p:grpSpPr>
        <p:sp>
          <p:nvSpPr>
            <p:cNvPr name="Freeform 23" id="23"/>
            <p:cNvSpPr/>
            <p:nvPr/>
          </p:nvSpPr>
          <p:spPr>
            <a:xfrm flipH="false" flipV="false" rot="0">
              <a:off x="0" y="0"/>
              <a:ext cx="1402080" cy="67056"/>
            </a:xfrm>
            <a:custGeom>
              <a:avLst/>
              <a:gdLst/>
              <a:ahLst/>
              <a:cxnLst/>
              <a:rect r="r" b="b" t="t" l="l"/>
              <a:pathLst>
                <a:path h="67056" w="1402080">
                  <a:moveTo>
                    <a:pt x="0" y="0"/>
                  </a:moveTo>
                  <a:lnTo>
                    <a:pt x="1402080" y="0"/>
                  </a:lnTo>
                  <a:lnTo>
                    <a:pt x="1402080" y="67056"/>
                  </a:lnTo>
                  <a:lnTo>
                    <a:pt x="0" y="67056"/>
                  </a:lnTo>
                  <a:close/>
                </a:path>
              </a:pathLst>
            </a:custGeom>
            <a:solidFill>
              <a:srgbClr val="265BCD"/>
            </a:solidFill>
          </p:spPr>
        </p:sp>
      </p:grpSp>
      <p:grpSp>
        <p:nvGrpSpPr>
          <p:cNvPr name="Group 24" id="24"/>
          <p:cNvGrpSpPr/>
          <p:nvPr/>
        </p:nvGrpSpPr>
        <p:grpSpPr>
          <a:xfrm rot="0">
            <a:off x="980570" y="2050418"/>
            <a:ext cx="4723133" cy="2254253"/>
            <a:chOff x="0" y="0"/>
            <a:chExt cx="6297511" cy="3005671"/>
          </a:xfrm>
        </p:grpSpPr>
        <p:sp>
          <p:nvSpPr>
            <p:cNvPr name="Freeform 25" id="25"/>
            <p:cNvSpPr/>
            <p:nvPr/>
          </p:nvSpPr>
          <p:spPr>
            <a:xfrm flipH="false" flipV="false" rot="0">
              <a:off x="0" y="0"/>
              <a:ext cx="6297549" cy="3005709"/>
            </a:xfrm>
            <a:custGeom>
              <a:avLst/>
              <a:gdLst/>
              <a:ahLst/>
              <a:cxnLst/>
              <a:rect r="r" b="b" t="t" l="l"/>
              <a:pathLst>
                <a:path h="3005709" w="6297549">
                  <a:moveTo>
                    <a:pt x="0" y="501015"/>
                  </a:moveTo>
                  <a:cubicBezTo>
                    <a:pt x="0" y="224282"/>
                    <a:pt x="224282" y="0"/>
                    <a:pt x="501015" y="0"/>
                  </a:cubicBezTo>
                  <a:lnTo>
                    <a:pt x="5796534" y="0"/>
                  </a:lnTo>
                  <a:cubicBezTo>
                    <a:pt x="6073267" y="0"/>
                    <a:pt x="6297549" y="224282"/>
                    <a:pt x="6297549" y="501015"/>
                  </a:cubicBezTo>
                  <a:lnTo>
                    <a:pt x="6297549" y="2504694"/>
                  </a:lnTo>
                  <a:cubicBezTo>
                    <a:pt x="6297549" y="2781427"/>
                    <a:pt x="6073267" y="3005709"/>
                    <a:pt x="5796534" y="3005709"/>
                  </a:cubicBezTo>
                  <a:lnTo>
                    <a:pt x="501015" y="3005709"/>
                  </a:lnTo>
                  <a:cubicBezTo>
                    <a:pt x="224282" y="3005709"/>
                    <a:pt x="0" y="2781427"/>
                    <a:pt x="0" y="2504694"/>
                  </a:cubicBezTo>
                  <a:close/>
                </a:path>
              </a:pathLst>
            </a:custGeom>
            <a:solidFill>
              <a:srgbClr val="FFFFFF"/>
            </a:solidFill>
            <a:ln w="13970" cap="sq">
              <a:solidFill>
                <a:srgbClr val="D7DFEC"/>
              </a:solidFill>
              <a:prstDash val="solid"/>
              <a:miter/>
            </a:ln>
          </p:spPr>
        </p:sp>
      </p:grpSp>
      <p:sp>
        <p:nvSpPr>
          <p:cNvPr name="TextBox 26" id="26"/>
          <p:cNvSpPr txBox="true"/>
          <p:nvPr/>
        </p:nvSpPr>
        <p:spPr>
          <a:xfrm rot="0">
            <a:off x="1207008" y="2221230"/>
            <a:ext cx="4325112" cy="2762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040"/>
              </a:lnSpc>
            </a:pPr>
            <a:r>
              <a:rPr lang="en-US" sz="1700">
                <a:solidFill>
                  <a:srgbClr val="090E14"/>
                </a:solidFill>
                <a:latin typeface="Archivo Black"/>
                <a:ea typeface="Archivo Black"/>
                <a:cs typeface="Archivo Black"/>
                <a:sym typeface="Archivo Black"/>
              </a:rPr>
              <a:t>Collect input</a:t>
            </a:r>
          </a:p>
        </p:txBody>
      </p:sp>
      <p:sp>
        <p:nvSpPr>
          <p:cNvPr name="TextBox 27" id="27"/>
          <p:cNvSpPr txBox="true"/>
          <p:nvPr/>
        </p:nvSpPr>
        <p:spPr>
          <a:xfrm rot="0">
            <a:off x="1207008" y="2660523"/>
            <a:ext cx="4306824" cy="6953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00"/>
              </a:lnSpc>
            </a:pPr>
            <a:r>
              <a:rPr lang="en-US" sz="1500">
                <a:solidFill>
                  <a:srgbClr val="585F6A"/>
                </a:solidFill>
                <a:latin typeface="Archivo Black"/>
                <a:ea typeface="Archivo Black"/>
                <a:cs typeface="Archivo Black"/>
                <a:sym typeface="Archivo Black"/>
              </a:rPr>
              <a:t>Read student name, subject count, subject marks, and attendance using Scanner.</a:t>
            </a:r>
          </a:p>
        </p:txBody>
      </p:sp>
      <p:grpSp>
        <p:nvGrpSpPr>
          <p:cNvPr name="Group 28" id="28"/>
          <p:cNvGrpSpPr/>
          <p:nvPr/>
        </p:nvGrpSpPr>
        <p:grpSpPr>
          <a:xfrm rot="0">
            <a:off x="6165218" y="2050418"/>
            <a:ext cx="4723133" cy="2254253"/>
            <a:chOff x="0" y="0"/>
            <a:chExt cx="6297511" cy="3005671"/>
          </a:xfrm>
        </p:grpSpPr>
        <p:sp>
          <p:nvSpPr>
            <p:cNvPr name="Freeform 29" id="29"/>
            <p:cNvSpPr/>
            <p:nvPr/>
          </p:nvSpPr>
          <p:spPr>
            <a:xfrm flipH="false" flipV="false" rot="0">
              <a:off x="0" y="0"/>
              <a:ext cx="6297549" cy="3005709"/>
            </a:xfrm>
            <a:custGeom>
              <a:avLst/>
              <a:gdLst/>
              <a:ahLst/>
              <a:cxnLst/>
              <a:rect r="r" b="b" t="t" l="l"/>
              <a:pathLst>
                <a:path h="3005709" w="6297549">
                  <a:moveTo>
                    <a:pt x="0" y="501015"/>
                  </a:moveTo>
                  <a:cubicBezTo>
                    <a:pt x="0" y="224282"/>
                    <a:pt x="224282" y="0"/>
                    <a:pt x="501015" y="0"/>
                  </a:cubicBezTo>
                  <a:lnTo>
                    <a:pt x="5796534" y="0"/>
                  </a:lnTo>
                  <a:cubicBezTo>
                    <a:pt x="6073267" y="0"/>
                    <a:pt x="6297549" y="224282"/>
                    <a:pt x="6297549" y="501015"/>
                  </a:cubicBezTo>
                  <a:lnTo>
                    <a:pt x="6297549" y="2504694"/>
                  </a:lnTo>
                  <a:cubicBezTo>
                    <a:pt x="6297549" y="2781427"/>
                    <a:pt x="6073267" y="3005709"/>
                    <a:pt x="5796534" y="3005709"/>
                  </a:cubicBezTo>
                  <a:lnTo>
                    <a:pt x="501015" y="3005709"/>
                  </a:lnTo>
                  <a:cubicBezTo>
                    <a:pt x="224282" y="3005709"/>
                    <a:pt x="0" y="2781427"/>
                    <a:pt x="0" y="2504694"/>
                  </a:cubicBezTo>
                  <a:close/>
                </a:path>
              </a:pathLst>
            </a:custGeom>
            <a:solidFill>
              <a:srgbClr val="FFFFFF"/>
            </a:solidFill>
            <a:ln w="13970" cap="sq">
              <a:solidFill>
                <a:srgbClr val="D7DFEC"/>
              </a:solidFill>
              <a:prstDash val="solid"/>
              <a:miter/>
            </a:ln>
          </p:spPr>
        </p:sp>
      </p:grpSp>
      <p:sp>
        <p:nvSpPr>
          <p:cNvPr name="TextBox 30" id="30"/>
          <p:cNvSpPr txBox="true"/>
          <p:nvPr/>
        </p:nvSpPr>
        <p:spPr>
          <a:xfrm rot="0">
            <a:off x="6391656" y="2221230"/>
            <a:ext cx="4325112" cy="2762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040"/>
              </a:lnSpc>
            </a:pPr>
            <a:r>
              <a:rPr lang="en-US" sz="1700">
                <a:solidFill>
                  <a:srgbClr val="090E14"/>
                </a:solidFill>
                <a:latin typeface="Archivo Black"/>
                <a:ea typeface="Archivo Black"/>
                <a:cs typeface="Archivo Black"/>
                <a:sym typeface="Archivo Black"/>
              </a:rPr>
              <a:t>Validate marks</a:t>
            </a:r>
          </a:p>
        </p:txBody>
      </p:sp>
      <p:sp>
        <p:nvSpPr>
          <p:cNvPr name="TextBox 31" id="31"/>
          <p:cNvSpPr txBox="true"/>
          <p:nvPr/>
        </p:nvSpPr>
        <p:spPr>
          <a:xfrm rot="0">
            <a:off x="6391656" y="2660523"/>
            <a:ext cx="4306824" cy="4667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00"/>
              </a:lnSpc>
            </a:pPr>
            <a:r>
              <a:rPr lang="en-US" sz="1500">
                <a:solidFill>
                  <a:srgbClr val="585F6A"/>
                </a:solidFill>
                <a:latin typeface="Archivo Black"/>
                <a:ea typeface="Archivo Black"/>
                <a:cs typeface="Archivo Black"/>
                <a:sym typeface="Archivo Black"/>
              </a:rPr>
              <a:t>Allow marks only in the 0–100 range and reject invalid values.</a:t>
            </a:r>
          </a:p>
        </p:txBody>
      </p:sp>
      <p:grpSp>
        <p:nvGrpSpPr>
          <p:cNvPr name="Group 32" id="32"/>
          <p:cNvGrpSpPr/>
          <p:nvPr/>
        </p:nvGrpSpPr>
        <p:grpSpPr>
          <a:xfrm rot="0">
            <a:off x="11349866" y="2050418"/>
            <a:ext cx="4723133" cy="2254253"/>
            <a:chOff x="0" y="0"/>
            <a:chExt cx="6297511" cy="3005671"/>
          </a:xfrm>
        </p:grpSpPr>
        <p:sp>
          <p:nvSpPr>
            <p:cNvPr name="Freeform 33" id="33"/>
            <p:cNvSpPr/>
            <p:nvPr/>
          </p:nvSpPr>
          <p:spPr>
            <a:xfrm flipH="false" flipV="false" rot="0">
              <a:off x="0" y="0"/>
              <a:ext cx="6297549" cy="3005709"/>
            </a:xfrm>
            <a:custGeom>
              <a:avLst/>
              <a:gdLst/>
              <a:ahLst/>
              <a:cxnLst/>
              <a:rect r="r" b="b" t="t" l="l"/>
              <a:pathLst>
                <a:path h="3005709" w="6297549">
                  <a:moveTo>
                    <a:pt x="0" y="501015"/>
                  </a:moveTo>
                  <a:cubicBezTo>
                    <a:pt x="0" y="224282"/>
                    <a:pt x="224282" y="0"/>
                    <a:pt x="501015" y="0"/>
                  </a:cubicBezTo>
                  <a:lnTo>
                    <a:pt x="5796534" y="0"/>
                  </a:lnTo>
                  <a:cubicBezTo>
                    <a:pt x="6073267" y="0"/>
                    <a:pt x="6297549" y="224282"/>
                    <a:pt x="6297549" y="501015"/>
                  </a:cubicBezTo>
                  <a:lnTo>
                    <a:pt x="6297549" y="2504694"/>
                  </a:lnTo>
                  <a:cubicBezTo>
                    <a:pt x="6297549" y="2781427"/>
                    <a:pt x="6073267" y="3005709"/>
                    <a:pt x="5796534" y="3005709"/>
                  </a:cubicBezTo>
                  <a:lnTo>
                    <a:pt x="501015" y="3005709"/>
                  </a:lnTo>
                  <a:cubicBezTo>
                    <a:pt x="224282" y="3005709"/>
                    <a:pt x="0" y="2781427"/>
                    <a:pt x="0" y="2504694"/>
                  </a:cubicBezTo>
                  <a:close/>
                </a:path>
              </a:pathLst>
            </a:custGeom>
            <a:solidFill>
              <a:srgbClr val="FFFFFF"/>
            </a:solidFill>
            <a:ln w="13970" cap="sq">
              <a:solidFill>
                <a:srgbClr val="D7DFEC"/>
              </a:solidFill>
              <a:prstDash val="solid"/>
              <a:miter/>
            </a:ln>
          </p:spPr>
        </p:sp>
      </p:grpSp>
      <p:sp>
        <p:nvSpPr>
          <p:cNvPr name="TextBox 34" id="34"/>
          <p:cNvSpPr txBox="true"/>
          <p:nvPr/>
        </p:nvSpPr>
        <p:spPr>
          <a:xfrm rot="0">
            <a:off x="11576304" y="2221230"/>
            <a:ext cx="4325112" cy="2762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040"/>
              </a:lnSpc>
            </a:pPr>
            <a:r>
              <a:rPr lang="en-US" sz="1700">
                <a:solidFill>
                  <a:srgbClr val="090E14"/>
                </a:solidFill>
                <a:latin typeface="Archivo Black"/>
                <a:ea typeface="Archivo Black"/>
                <a:cs typeface="Archivo Black"/>
                <a:sym typeface="Archivo Black"/>
              </a:rPr>
              <a:t>Calculate performance</a:t>
            </a:r>
          </a:p>
        </p:txBody>
      </p:sp>
      <p:sp>
        <p:nvSpPr>
          <p:cNvPr name="TextBox 35" id="35"/>
          <p:cNvSpPr txBox="true"/>
          <p:nvPr/>
        </p:nvSpPr>
        <p:spPr>
          <a:xfrm rot="0">
            <a:off x="11576304" y="2660523"/>
            <a:ext cx="4306824" cy="4667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00"/>
              </a:lnSpc>
            </a:pPr>
            <a:r>
              <a:rPr lang="en-US" sz="1500">
                <a:solidFill>
                  <a:srgbClr val="585F6A"/>
                </a:solidFill>
                <a:latin typeface="Archivo Black"/>
                <a:ea typeface="Archivo Black"/>
                <a:cs typeface="Archivo Black"/>
                <a:sym typeface="Archivo Black"/>
              </a:rPr>
              <a:t>Compute total marks and average across all subjects.</a:t>
            </a:r>
          </a:p>
        </p:txBody>
      </p:sp>
      <p:grpSp>
        <p:nvGrpSpPr>
          <p:cNvPr name="Group 36" id="36"/>
          <p:cNvGrpSpPr/>
          <p:nvPr/>
        </p:nvGrpSpPr>
        <p:grpSpPr>
          <a:xfrm rot="0">
            <a:off x="980570" y="4793618"/>
            <a:ext cx="4723133" cy="2254253"/>
            <a:chOff x="0" y="0"/>
            <a:chExt cx="6297511" cy="3005671"/>
          </a:xfrm>
        </p:grpSpPr>
        <p:sp>
          <p:nvSpPr>
            <p:cNvPr name="Freeform 37" id="37"/>
            <p:cNvSpPr/>
            <p:nvPr/>
          </p:nvSpPr>
          <p:spPr>
            <a:xfrm flipH="false" flipV="false" rot="0">
              <a:off x="0" y="0"/>
              <a:ext cx="6297549" cy="3005709"/>
            </a:xfrm>
            <a:custGeom>
              <a:avLst/>
              <a:gdLst/>
              <a:ahLst/>
              <a:cxnLst/>
              <a:rect r="r" b="b" t="t" l="l"/>
              <a:pathLst>
                <a:path h="3005709" w="6297549">
                  <a:moveTo>
                    <a:pt x="0" y="501015"/>
                  </a:moveTo>
                  <a:cubicBezTo>
                    <a:pt x="0" y="224282"/>
                    <a:pt x="224282" y="0"/>
                    <a:pt x="501015" y="0"/>
                  </a:cubicBezTo>
                  <a:lnTo>
                    <a:pt x="5796534" y="0"/>
                  </a:lnTo>
                  <a:cubicBezTo>
                    <a:pt x="6073267" y="0"/>
                    <a:pt x="6297549" y="224282"/>
                    <a:pt x="6297549" y="501015"/>
                  </a:cubicBezTo>
                  <a:lnTo>
                    <a:pt x="6297549" y="2504694"/>
                  </a:lnTo>
                  <a:cubicBezTo>
                    <a:pt x="6297549" y="2781427"/>
                    <a:pt x="6073267" y="3005709"/>
                    <a:pt x="5796534" y="3005709"/>
                  </a:cubicBezTo>
                  <a:lnTo>
                    <a:pt x="501015" y="3005709"/>
                  </a:lnTo>
                  <a:cubicBezTo>
                    <a:pt x="224282" y="3005709"/>
                    <a:pt x="0" y="2781427"/>
                    <a:pt x="0" y="2504694"/>
                  </a:cubicBezTo>
                  <a:close/>
                </a:path>
              </a:pathLst>
            </a:custGeom>
            <a:solidFill>
              <a:srgbClr val="FFFFFF"/>
            </a:solidFill>
            <a:ln w="13970" cap="sq">
              <a:solidFill>
                <a:srgbClr val="D7DFEC"/>
              </a:solidFill>
              <a:prstDash val="solid"/>
              <a:miter/>
            </a:ln>
          </p:spPr>
        </p:sp>
      </p:grpSp>
      <p:sp>
        <p:nvSpPr>
          <p:cNvPr name="TextBox 38" id="38"/>
          <p:cNvSpPr txBox="true"/>
          <p:nvPr/>
        </p:nvSpPr>
        <p:spPr>
          <a:xfrm rot="0">
            <a:off x="1207008" y="4964430"/>
            <a:ext cx="4325112" cy="2762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040"/>
              </a:lnSpc>
            </a:pPr>
            <a:r>
              <a:rPr lang="en-US" sz="1700">
                <a:solidFill>
                  <a:srgbClr val="090E14"/>
                </a:solidFill>
                <a:latin typeface="Archivo Black"/>
                <a:ea typeface="Archivo Black"/>
                <a:cs typeface="Archivo Black"/>
                <a:sym typeface="Archivo Black"/>
              </a:rPr>
              <a:t>Assign grade</a:t>
            </a:r>
          </a:p>
        </p:txBody>
      </p:sp>
      <p:sp>
        <p:nvSpPr>
          <p:cNvPr name="TextBox 39" id="39"/>
          <p:cNvSpPr txBox="true"/>
          <p:nvPr/>
        </p:nvSpPr>
        <p:spPr>
          <a:xfrm rot="0">
            <a:off x="1207008" y="5403723"/>
            <a:ext cx="4306824" cy="4667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00"/>
              </a:lnSpc>
            </a:pPr>
            <a:r>
              <a:rPr lang="en-US" sz="1500">
                <a:solidFill>
                  <a:srgbClr val="585F6A"/>
                </a:solidFill>
                <a:latin typeface="Archivo Black"/>
                <a:ea typeface="Archivo Black"/>
                <a:cs typeface="Archivo Black"/>
                <a:sym typeface="Archivo Black"/>
              </a:rPr>
              <a:t>Use an else-if ladder with A, B, C, and D thresholds.</a:t>
            </a:r>
          </a:p>
        </p:txBody>
      </p:sp>
      <p:grpSp>
        <p:nvGrpSpPr>
          <p:cNvPr name="Group 40" id="40"/>
          <p:cNvGrpSpPr/>
          <p:nvPr/>
        </p:nvGrpSpPr>
        <p:grpSpPr>
          <a:xfrm rot="0">
            <a:off x="6165218" y="4793618"/>
            <a:ext cx="4723133" cy="2254253"/>
            <a:chOff x="0" y="0"/>
            <a:chExt cx="6297511" cy="3005671"/>
          </a:xfrm>
        </p:grpSpPr>
        <p:sp>
          <p:nvSpPr>
            <p:cNvPr name="Freeform 41" id="41"/>
            <p:cNvSpPr/>
            <p:nvPr/>
          </p:nvSpPr>
          <p:spPr>
            <a:xfrm flipH="false" flipV="false" rot="0">
              <a:off x="0" y="0"/>
              <a:ext cx="6297549" cy="3005709"/>
            </a:xfrm>
            <a:custGeom>
              <a:avLst/>
              <a:gdLst/>
              <a:ahLst/>
              <a:cxnLst/>
              <a:rect r="r" b="b" t="t" l="l"/>
              <a:pathLst>
                <a:path h="3005709" w="6297549">
                  <a:moveTo>
                    <a:pt x="0" y="501015"/>
                  </a:moveTo>
                  <a:cubicBezTo>
                    <a:pt x="0" y="224282"/>
                    <a:pt x="224282" y="0"/>
                    <a:pt x="501015" y="0"/>
                  </a:cubicBezTo>
                  <a:lnTo>
                    <a:pt x="5796534" y="0"/>
                  </a:lnTo>
                  <a:cubicBezTo>
                    <a:pt x="6073267" y="0"/>
                    <a:pt x="6297549" y="224282"/>
                    <a:pt x="6297549" y="501015"/>
                  </a:cubicBezTo>
                  <a:lnTo>
                    <a:pt x="6297549" y="2504694"/>
                  </a:lnTo>
                  <a:cubicBezTo>
                    <a:pt x="6297549" y="2781427"/>
                    <a:pt x="6073267" y="3005709"/>
                    <a:pt x="5796534" y="3005709"/>
                  </a:cubicBezTo>
                  <a:lnTo>
                    <a:pt x="501015" y="3005709"/>
                  </a:lnTo>
                  <a:cubicBezTo>
                    <a:pt x="224282" y="3005709"/>
                    <a:pt x="0" y="2781427"/>
                    <a:pt x="0" y="2504694"/>
                  </a:cubicBezTo>
                  <a:close/>
                </a:path>
              </a:pathLst>
            </a:custGeom>
            <a:solidFill>
              <a:srgbClr val="FFFFFF"/>
            </a:solidFill>
            <a:ln w="13970" cap="sq">
              <a:solidFill>
                <a:srgbClr val="D7DFEC"/>
              </a:solidFill>
              <a:prstDash val="solid"/>
              <a:miter/>
            </a:ln>
          </p:spPr>
        </p:sp>
      </p:grpSp>
      <p:sp>
        <p:nvSpPr>
          <p:cNvPr name="TextBox 42" id="42"/>
          <p:cNvSpPr txBox="true"/>
          <p:nvPr/>
        </p:nvSpPr>
        <p:spPr>
          <a:xfrm rot="0">
            <a:off x="6391656" y="4964430"/>
            <a:ext cx="4325112" cy="2762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040"/>
              </a:lnSpc>
            </a:pPr>
            <a:r>
              <a:rPr lang="en-US" sz="1700">
                <a:solidFill>
                  <a:srgbClr val="090E14"/>
                </a:solidFill>
                <a:latin typeface="Archivo Black"/>
                <a:ea typeface="Archivo Black"/>
                <a:cs typeface="Archivo Black"/>
                <a:sym typeface="Archivo Black"/>
              </a:rPr>
              <a:t>Check eligibility</a:t>
            </a:r>
          </a:p>
        </p:txBody>
      </p:sp>
      <p:sp>
        <p:nvSpPr>
          <p:cNvPr name="TextBox 43" id="43"/>
          <p:cNvSpPr txBox="true"/>
          <p:nvPr/>
        </p:nvSpPr>
        <p:spPr>
          <a:xfrm rot="0">
            <a:off x="6391656" y="5403723"/>
            <a:ext cx="4306824" cy="4667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00"/>
              </a:lnSpc>
            </a:pPr>
            <a:r>
              <a:rPr lang="en-US" sz="1500">
                <a:solidFill>
                  <a:srgbClr val="585F6A"/>
                </a:solidFill>
                <a:latin typeface="Archivo Black"/>
                <a:ea typeface="Archivo Black"/>
                <a:cs typeface="Archivo Black"/>
                <a:sym typeface="Archivo Black"/>
              </a:rPr>
              <a:t>Use attendance ≥ 75% as the exam-eligibility condition.</a:t>
            </a:r>
          </a:p>
        </p:txBody>
      </p:sp>
      <p:grpSp>
        <p:nvGrpSpPr>
          <p:cNvPr name="Group 44" id="44"/>
          <p:cNvGrpSpPr/>
          <p:nvPr/>
        </p:nvGrpSpPr>
        <p:grpSpPr>
          <a:xfrm rot="0">
            <a:off x="11349866" y="4793618"/>
            <a:ext cx="4723133" cy="2254253"/>
            <a:chOff x="0" y="0"/>
            <a:chExt cx="6297511" cy="3005671"/>
          </a:xfrm>
        </p:grpSpPr>
        <p:sp>
          <p:nvSpPr>
            <p:cNvPr name="Freeform 45" id="45"/>
            <p:cNvSpPr/>
            <p:nvPr/>
          </p:nvSpPr>
          <p:spPr>
            <a:xfrm flipH="false" flipV="false" rot="0">
              <a:off x="0" y="0"/>
              <a:ext cx="6297549" cy="3005709"/>
            </a:xfrm>
            <a:custGeom>
              <a:avLst/>
              <a:gdLst/>
              <a:ahLst/>
              <a:cxnLst/>
              <a:rect r="r" b="b" t="t" l="l"/>
              <a:pathLst>
                <a:path h="3005709" w="6297549">
                  <a:moveTo>
                    <a:pt x="0" y="501015"/>
                  </a:moveTo>
                  <a:cubicBezTo>
                    <a:pt x="0" y="224282"/>
                    <a:pt x="224282" y="0"/>
                    <a:pt x="501015" y="0"/>
                  </a:cubicBezTo>
                  <a:lnTo>
                    <a:pt x="5796534" y="0"/>
                  </a:lnTo>
                  <a:cubicBezTo>
                    <a:pt x="6073267" y="0"/>
                    <a:pt x="6297549" y="224282"/>
                    <a:pt x="6297549" y="501015"/>
                  </a:cubicBezTo>
                  <a:lnTo>
                    <a:pt x="6297549" y="2504694"/>
                  </a:lnTo>
                  <a:cubicBezTo>
                    <a:pt x="6297549" y="2781427"/>
                    <a:pt x="6073267" y="3005709"/>
                    <a:pt x="5796534" y="3005709"/>
                  </a:cubicBezTo>
                  <a:lnTo>
                    <a:pt x="501015" y="3005709"/>
                  </a:lnTo>
                  <a:cubicBezTo>
                    <a:pt x="224282" y="3005709"/>
                    <a:pt x="0" y="2781427"/>
                    <a:pt x="0" y="2504694"/>
                  </a:cubicBezTo>
                  <a:close/>
                </a:path>
              </a:pathLst>
            </a:custGeom>
            <a:solidFill>
              <a:srgbClr val="FFFFFF"/>
            </a:solidFill>
            <a:ln w="13970" cap="sq">
              <a:solidFill>
                <a:srgbClr val="D7DFEC"/>
              </a:solidFill>
              <a:prstDash val="solid"/>
              <a:miter/>
            </a:ln>
          </p:spPr>
        </p:sp>
      </p:grpSp>
      <p:sp>
        <p:nvSpPr>
          <p:cNvPr name="TextBox 46" id="46"/>
          <p:cNvSpPr txBox="true"/>
          <p:nvPr/>
        </p:nvSpPr>
        <p:spPr>
          <a:xfrm rot="0">
            <a:off x="11576304" y="4964430"/>
            <a:ext cx="4325112" cy="2762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040"/>
              </a:lnSpc>
            </a:pPr>
            <a:r>
              <a:rPr lang="en-US" sz="1700">
                <a:solidFill>
                  <a:srgbClr val="090E14"/>
                </a:solidFill>
                <a:latin typeface="Archivo Black"/>
                <a:ea typeface="Archivo Black"/>
                <a:cs typeface="Archivo Black"/>
                <a:sym typeface="Archivo Black"/>
              </a:rPr>
              <a:t>Generate report</a:t>
            </a:r>
          </a:p>
        </p:txBody>
      </p:sp>
      <p:sp>
        <p:nvSpPr>
          <p:cNvPr name="TextBox 47" id="47"/>
          <p:cNvSpPr txBox="true"/>
          <p:nvPr/>
        </p:nvSpPr>
        <p:spPr>
          <a:xfrm rot="0">
            <a:off x="11576304" y="5403723"/>
            <a:ext cx="4306824" cy="4667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00"/>
              </a:lnSpc>
            </a:pPr>
            <a:r>
              <a:rPr lang="en-US" sz="1500">
                <a:solidFill>
                  <a:srgbClr val="585F6A"/>
                </a:solidFill>
                <a:latin typeface="Archivo Black"/>
                <a:ea typeface="Archivo Black"/>
                <a:cs typeface="Archivo Black"/>
                <a:sym typeface="Archivo Black"/>
              </a:rPr>
              <a:t>Display all important academic details in one final output.</a:t>
            </a:r>
          </a:p>
        </p:txBody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3" id="3" descr="bg.jpeg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-3364" r="0" b="-3364"/>
              </a:stretch>
            </a:blipFill>
          </p:spPr>
        </p:sp>
      </p:grpSp>
      <p:grpSp>
        <p:nvGrpSpPr>
          <p:cNvPr name="Group 4" id="4"/>
          <p:cNvGrpSpPr/>
          <p:nvPr/>
        </p:nvGrpSpPr>
        <p:grpSpPr>
          <a:xfrm rot="0">
            <a:off x="22355" y="22355"/>
            <a:ext cx="18243299" cy="10242299"/>
            <a:chOff x="0" y="0"/>
            <a:chExt cx="24324399" cy="13656399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4324438" cy="13656438"/>
            </a:xfrm>
            <a:custGeom>
              <a:avLst/>
              <a:gdLst/>
              <a:ahLst/>
              <a:cxnLst/>
              <a:rect r="r" b="b" t="t" l="l"/>
              <a:pathLst>
                <a:path h="13656438" w="24324438">
                  <a:moveTo>
                    <a:pt x="0" y="0"/>
                  </a:moveTo>
                  <a:lnTo>
                    <a:pt x="24324438" y="0"/>
                  </a:lnTo>
                  <a:lnTo>
                    <a:pt x="24324438" y="13656438"/>
                  </a:lnTo>
                  <a:lnTo>
                    <a:pt x="0" y="1365643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22033" t="0" r="-22033" b="0"/>
              </a:stretch>
            </a:blipFill>
            <a:ln w="10160" cap="sq">
              <a:solidFill>
                <a:srgbClr val="090E14"/>
              </a:solidFill>
              <a:prstDash val="solid"/>
              <a:miter/>
            </a:ln>
          </p:spPr>
        </p:sp>
      </p:grpSp>
      <p:grpSp>
        <p:nvGrpSpPr>
          <p:cNvPr name="Group 6" id="6"/>
          <p:cNvGrpSpPr/>
          <p:nvPr/>
        </p:nvGrpSpPr>
        <p:grpSpPr>
          <a:xfrm rot="2700000">
            <a:off x="16504920" y="73152"/>
            <a:ext cx="54864" cy="530352"/>
            <a:chOff x="0" y="0"/>
            <a:chExt cx="73152" cy="707136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73152" cy="707136"/>
            </a:xfrm>
            <a:custGeom>
              <a:avLst/>
              <a:gdLst/>
              <a:ahLst/>
              <a:cxnLst/>
              <a:rect r="r" b="b" t="t" l="l"/>
              <a:pathLst>
                <a:path h="707136" w="73152">
                  <a:moveTo>
                    <a:pt x="0" y="0"/>
                  </a:moveTo>
                  <a:lnTo>
                    <a:pt x="73152" y="0"/>
                  </a:lnTo>
                  <a:lnTo>
                    <a:pt x="73152" y="707136"/>
                  </a:lnTo>
                  <a:lnTo>
                    <a:pt x="0" y="707136"/>
                  </a:lnTo>
                  <a:close/>
                </a:path>
              </a:pathLst>
            </a:custGeom>
            <a:solidFill>
              <a:srgbClr val="090E14"/>
            </a:solidFill>
          </p:spPr>
        </p:sp>
      </p:grpSp>
      <p:grpSp>
        <p:nvGrpSpPr>
          <p:cNvPr name="Group 8" id="8"/>
          <p:cNvGrpSpPr/>
          <p:nvPr/>
        </p:nvGrpSpPr>
        <p:grpSpPr>
          <a:xfrm rot="2700000">
            <a:off x="16934688" y="420624"/>
            <a:ext cx="54864" cy="530352"/>
            <a:chOff x="0" y="0"/>
            <a:chExt cx="73152" cy="707136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73152" cy="707136"/>
            </a:xfrm>
            <a:custGeom>
              <a:avLst/>
              <a:gdLst/>
              <a:ahLst/>
              <a:cxnLst/>
              <a:rect r="r" b="b" t="t" l="l"/>
              <a:pathLst>
                <a:path h="707136" w="73152">
                  <a:moveTo>
                    <a:pt x="0" y="0"/>
                  </a:moveTo>
                  <a:lnTo>
                    <a:pt x="73152" y="0"/>
                  </a:lnTo>
                  <a:lnTo>
                    <a:pt x="73152" y="707136"/>
                  </a:lnTo>
                  <a:lnTo>
                    <a:pt x="0" y="707136"/>
                  </a:lnTo>
                  <a:close/>
                </a:path>
              </a:pathLst>
            </a:custGeom>
            <a:solidFill>
              <a:srgbClr val="090E14"/>
            </a:solidFill>
          </p:spPr>
        </p:sp>
      </p:grpSp>
      <p:grpSp>
        <p:nvGrpSpPr>
          <p:cNvPr name="Group 10" id="10"/>
          <p:cNvGrpSpPr/>
          <p:nvPr/>
        </p:nvGrpSpPr>
        <p:grpSpPr>
          <a:xfrm rot="2700000">
            <a:off x="17364456" y="768096"/>
            <a:ext cx="54864" cy="530352"/>
            <a:chOff x="0" y="0"/>
            <a:chExt cx="73152" cy="707136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73152" cy="707136"/>
            </a:xfrm>
            <a:custGeom>
              <a:avLst/>
              <a:gdLst/>
              <a:ahLst/>
              <a:cxnLst/>
              <a:rect r="r" b="b" t="t" l="l"/>
              <a:pathLst>
                <a:path h="707136" w="73152">
                  <a:moveTo>
                    <a:pt x="0" y="0"/>
                  </a:moveTo>
                  <a:lnTo>
                    <a:pt x="73152" y="0"/>
                  </a:lnTo>
                  <a:lnTo>
                    <a:pt x="73152" y="707136"/>
                  </a:lnTo>
                  <a:lnTo>
                    <a:pt x="0" y="707136"/>
                  </a:lnTo>
                  <a:close/>
                </a:path>
              </a:pathLst>
            </a:custGeom>
            <a:solidFill>
              <a:srgbClr val="090E14"/>
            </a:solidFill>
          </p:spPr>
        </p:sp>
      </p:grpSp>
      <p:grpSp>
        <p:nvGrpSpPr>
          <p:cNvPr name="Group 12" id="12"/>
          <p:cNvGrpSpPr/>
          <p:nvPr/>
        </p:nvGrpSpPr>
        <p:grpSpPr>
          <a:xfrm rot="2700000">
            <a:off x="17794224" y="1115568"/>
            <a:ext cx="54864" cy="530352"/>
            <a:chOff x="0" y="0"/>
            <a:chExt cx="73152" cy="707136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73152" cy="707136"/>
            </a:xfrm>
            <a:custGeom>
              <a:avLst/>
              <a:gdLst/>
              <a:ahLst/>
              <a:cxnLst/>
              <a:rect r="r" b="b" t="t" l="l"/>
              <a:pathLst>
                <a:path h="707136" w="73152">
                  <a:moveTo>
                    <a:pt x="0" y="0"/>
                  </a:moveTo>
                  <a:lnTo>
                    <a:pt x="73152" y="0"/>
                  </a:lnTo>
                  <a:lnTo>
                    <a:pt x="73152" y="707136"/>
                  </a:lnTo>
                  <a:lnTo>
                    <a:pt x="0" y="707136"/>
                  </a:lnTo>
                  <a:close/>
                </a:path>
              </a:pathLst>
            </a:custGeom>
            <a:solidFill>
              <a:srgbClr val="090E14"/>
            </a:solidFill>
          </p:spPr>
        </p:sp>
      </p:grpSp>
      <p:grpSp>
        <p:nvGrpSpPr>
          <p:cNvPr name="Group 14" id="14"/>
          <p:cNvGrpSpPr/>
          <p:nvPr/>
        </p:nvGrpSpPr>
        <p:grpSpPr>
          <a:xfrm rot="2700000">
            <a:off x="18223992" y="1463040"/>
            <a:ext cx="54864" cy="530352"/>
            <a:chOff x="0" y="0"/>
            <a:chExt cx="73152" cy="707136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73152" cy="707136"/>
            </a:xfrm>
            <a:custGeom>
              <a:avLst/>
              <a:gdLst/>
              <a:ahLst/>
              <a:cxnLst/>
              <a:rect r="r" b="b" t="t" l="l"/>
              <a:pathLst>
                <a:path h="707136" w="73152">
                  <a:moveTo>
                    <a:pt x="0" y="0"/>
                  </a:moveTo>
                  <a:lnTo>
                    <a:pt x="73152" y="0"/>
                  </a:lnTo>
                  <a:lnTo>
                    <a:pt x="73152" y="707136"/>
                  </a:lnTo>
                  <a:lnTo>
                    <a:pt x="0" y="707136"/>
                  </a:lnTo>
                  <a:close/>
                </a:path>
              </a:pathLst>
            </a:custGeom>
            <a:solidFill>
              <a:srgbClr val="090E14"/>
            </a:solidFill>
          </p:spPr>
        </p:sp>
      </p:grpSp>
      <p:grpSp>
        <p:nvGrpSpPr>
          <p:cNvPr name="Group 16" id="16"/>
          <p:cNvGrpSpPr/>
          <p:nvPr/>
        </p:nvGrpSpPr>
        <p:grpSpPr>
          <a:xfrm rot="2700000">
            <a:off x="18653760" y="1810512"/>
            <a:ext cx="54864" cy="530352"/>
            <a:chOff x="0" y="0"/>
            <a:chExt cx="73152" cy="707136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73152" cy="707136"/>
            </a:xfrm>
            <a:custGeom>
              <a:avLst/>
              <a:gdLst/>
              <a:ahLst/>
              <a:cxnLst/>
              <a:rect r="r" b="b" t="t" l="l"/>
              <a:pathLst>
                <a:path h="707136" w="73152">
                  <a:moveTo>
                    <a:pt x="0" y="0"/>
                  </a:moveTo>
                  <a:lnTo>
                    <a:pt x="73152" y="0"/>
                  </a:lnTo>
                  <a:lnTo>
                    <a:pt x="73152" y="707136"/>
                  </a:lnTo>
                  <a:lnTo>
                    <a:pt x="0" y="707136"/>
                  </a:lnTo>
                  <a:close/>
                </a:path>
              </a:pathLst>
            </a:custGeom>
            <a:solidFill>
              <a:srgbClr val="090E14"/>
            </a:solidFill>
          </p:spPr>
        </p:sp>
      </p:grpSp>
      <p:grpSp>
        <p:nvGrpSpPr>
          <p:cNvPr name="Group 18" id="18"/>
          <p:cNvGrpSpPr/>
          <p:nvPr/>
        </p:nvGrpSpPr>
        <p:grpSpPr>
          <a:xfrm rot="2700000">
            <a:off x="19083528" y="2157984"/>
            <a:ext cx="54864" cy="530352"/>
            <a:chOff x="0" y="0"/>
            <a:chExt cx="73152" cy="707136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73152" cy="707136"/>
            </a:xfrm>
            <a:custGeom>
              <a:avLst/>
              <a:gdLst/>
              <a:ahLst/>
              <a:cxnLst/>
              <a:rect r="r" b="b" t="t" l="l"/>
              <a:pathLst>
                <a:path h="707136" w="73152">
                  <a:moveTo>
                    <a:pt x="0" y="0"/>
                  </a:moveTo>
                  <a:lnTo>
                    <a:pt x="73152" y="0"/>
                  </a:lnTo>
                  <a:lnTo>
                    <a:pt x="73152" y="707136"/>
                  </a:lnTo>
                  <a:lnTo>
                    <a:pt x="0" y="707136"/>
                  </a:lnTo>
                  <a:close/>
                </a:path>
              </a:pathLst>
            </a:custGeom>
            <a:solidFill>
              <a:srgbClr val="090E14"/>
            </a:solidFill>
          </p:spPr>
        </p:sp>
      </p:grpSp>
      <p:sp>
        <p:nvSpPr>
          <p:cNvPr name="TextBox 20" id="20"/>
          <p:cNvSpPr txBox="true"/>
          <p:nvPr/>
        </p:nvSpPr>
        <p:spPr>
          <a:xfrm rot="0">
            <a:off x="978408" y="575691"/>
            <a:ext cx="12673584" cy="5524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320"/>
              </a:lnSpc>
            </a:pPr>
            <a:r>
              <a:rPr lang="en-US" sz="3600">
                <a:solidFill>
                  <a:srgbClr val="090E14"/>
                </a:solidFill>
                <a:latin typeface="Archivo Black"/>
                <a:ea typeface="Archivo Black"/>
                <a:cs typeface="Archivo Black"/>
                <a:sym typeface="Archivo Black"/>
              </a:rPr>
              <a:t>4. Existing System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1005840" y="1343406"/>
            <a:ext cx="14228064" cy="2762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040"/>
              </a:lnSpc>
            </a:pPr>
            <a:r>
              <a:rPr lang="en-US" sz="1700">
                <a:solidFill>
                  <a:srgbClr val="585F6A"/>
                </a:solidFill>
                <a:latin typeface="Archivo Black"/>
                <a:ea typeface="Archivo Black"/>
                <a:cs typeface="Archivo Black"/>
                <a:sym typeface="Archivo Black"/>
              </a:rPr>
              <a:t>Baseline approach before the proposed single-program workflow</a:t>
            </a:r>
          </a:p>
        </p:txBody>
      </p:sp>
      <p:grpSp>
        <p:nvGrpSpPr>
          <p:cNvPr name="Group 22" id="22"/>
          <p:cNvGrpSpPr/>
          <p:nvPr/>
        </p:nvGrpSpPr>
        <p:grpSpPr>
          <a:xfrm rot="0">
            <a:off x="987552" y="1755648"/>
            <a:ext cx="1051560" cy="50292"/>
            <a:chOff x="0" y="0"/>
            <a:chExt cx="1402080" cy="67056"/>
          </a:xfrm>
        </p:grpSpPr>
        <p:sp>
          <p:nvSpPr>
            <p:cNvPr name="Freeform 23" id="23"/>
            <p:cNvSpPr/>
            <p:nvPr/>
          </p:nvSpPr>
          <p:spPr>
            <a:xfrm flipH="false" flipV="false" rot="0">
              <a:off x="0" y="0"/>
              <a:ext cx="1402080" cy="67056"/>
            </a:xfrm>
            <a:custGeom>
              <a:avLst/>
              <a:gdLst/>
              <a:ahLst/>
              <a:cxnLst/>
              <a:rect r="r" b="b" t="t" l="l"/>
              <a:pathLst>
                <a:path h="67056" w="1402080">
                  <a:moveTo>
                    <a:pt x="0" y="0"/>
                  </a:moveTo>
                  <a:lnTo>
                    <a:pt x="1402080" y="0"/>
                  </a:lnTo>
                  <a:lnTo>
                    <a:pt x="1402080" y="67056"/>
                  </a:lnTo>
                  <a:lnTo>
                    <a:pt x="0" y="67056"/>
                  </a:lnTo>
                  <a:close/>
                </a:path>
              </a:pathLst>
            </a:custGeom>
            <a:solidFill>
              <a:srgbClr val="265BCD"/>
            </a:solidFill>
          </p:spPr>
        </p:sp>
      </p:grpSp>
      <p:sp>
        <p:nvSpPr>
          <p:cNvPr name="TextBox 24" id="24"/>
          <p:cNvSpPr txBox="true"/>
          <p:nvPr/>
        </p:nvSpPr>
        <p:spPr>
          <a:xfrm rot="0">
            <a:off x="1005840" y="2185035"/>
            <a:ext cx="4718304" cy="2762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60"/>
              </a:lnSpc>
            </a:pPr>
            <a:r>
              <a:rPr lang="en-US" sz="1800">
                <a:solidFill>
                  <a:srgbClr val="585F6A"/>
                </a:solidFill>
                <a:latin typeface="Archivo Black"/>
                <a:ea typeface="Archivo Black"/>
                <a:cs typeface="Archivo Black"/>
                <a:sym typeface="Archivo Black"/>
              </a:rPr>
              <a:t>SEPARATE STEPS</a:t>
            </a:r>
          </a:p>
        </p:txBody>
      </p:sp>
      <p:grpSp>
        <p:nvGrpSpPr>
          <p:cNvPr name="Group 25" id="25"/>
          <p:cNvGrpSpPr/>
          <p:nvPr/>
        </p:nvGrpSpPr>
        <p:grpSpPr>
          <a:xfrm rot="0">
            <a:off x="980570" y="2736218"/>
            <a:ext cx="6780533" cy="974093"/>
            <a:chOff x="0" y="0"/>
            <a:chExt cx="9040711" cy="1298791"/>
          </a:xfrm>
        </p:grpSpPr>
        <p:sp>
          <p:nvSpPr>
            <p:cNvPr name="Freeform 26" id="26"/>
            <p:cNvSpPr/>
            <p:nvPr/>
          </p:nvSpPr>
          <p:spPr>
            <a:xfrm flipH="false" flipV="false" rot="0">
              <a:off x="0" y="0"/>
              <a:ext cx="9040622" cy="1298702"/>
            </a:xfrm>
            <a:custGeom>
              <a:avLst/>
              <a:gdLst/>
              <a:ahLst/>
              <a:cxnLst/>
              <a:rect r="r" b="b" t="t" l="l"/>
              <a:pathLst>
                <a:path h="1298702" w="9040622">
                  <a:moveTo>
                    <a:pt x="0" y="216408"/>
                  </a:moveTo>
                  <a:cubicBezTo>
                    <a:pt x="0" y="96901"/>
                    <a:pt x="96901" y="0"/>
                    <a:pt x="216408" y="0"/>
                  </a:cubicBezTo>
                  <a:lnTo>
                    <a:pt x="8824214" y="0"/>
                  </a:lnTo>
                  <a:cubicBezTo>
                    <a:pt x="8943721" y="0"/>
                    <a:pt x="9040622" y="96901"/>
                    <a:pt x="9040622" y="216408"/>
                  </a:cubicBezTo>
                  <a:lnTo>
                    <a:pt x="9040622" y="1082294"/>
                  </a:lnTo>
                  <a:cubicBezTo>
                    <a:pt x="9040622" y="1201801"/>
                    <a:pt x="8943721" y="1298702"/>
                    <a:pt x="8824214" y="1298702"/>
                  </a:cubicBezTo>
                  <a:lnTo>
                    <a:pt x="216408" y="1298702"/>
                  </a:lnTo>
                  <a:cubicBezTo>
                    <a:pt x="96901" y="1298829"/>
                    <a:pt x="0" y="1201928"/>
                    <a:pt x="0" y="1082294"/>
                  </a:cubicBezTo>
                  <a:close/>
                </a:path>
              </a:pathLst>
            </a:custGeom>
            <a:solidFill>
              <a:srgbClr val="FFFFFF"/>
            </a:solidFill>
            <a:ln w="13970" cap="sq">
              <a:solidFill>
                <a:srgbClr val="D7DFEC"/>
              </a:solidFill>
              <a:prstDash val="solid"/>
              <a:miter/>
            </a:ln>
          </p:spPr>
        </p:sp>
      </p:grpSp>
      <p:sp>
        <p:nvSpPr>
          <p:cNvPr name="TextBox 27" id="27"/>
          <p:cNvSpPr txBox="true"/>
          <p:nvPr/>
        </p:nvSpPr>
        <p:spPr>
          <a:xfrm rot="0">
            <a:off x="1207008" y="2916555"/>
            <a:ext cx="6382512" cy="2476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19"/>
              </a:lnSpc>
            </a:pPr>
            <a:r>
              <a:rPr lang="en-US" sz="1599">
                <a:solidFill>
                  <a:srgbClr val="090E14"/>
                </a:solidFill>
                <a:latin typeface="Archivo Black"/>
                <a:ea typeface="Archivo Black"/>
                <a:cs typeface="Archivo Black"/>
                <a:sym typeface="Archivo Black"/>
              </a:rPr>
              <a:t>Enter marks</a:t>
            </a:r>
          </a:p>
        </p:txBody>
      </p:sp>
      <p:sp>
        <p:nvSpPr>
          <p:cNvPr name="TextBox 28" id="28"/>
          <p:cNvSpPr txBox="true"/>
          <p:nvPr/>
        </p:nvSpPr>
        <p:spPr>
          <a:xfrm rot="0">
            <a:off x="1207008" y="3346323"/>
            <a:ext cx="6364224" cy="2000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559"/>
              </a:lnSpc>
            </a:pPr>
            <a:r>
              <a:rPr lang="en-US" sz="1299">
                <a:solidFill>
                  <a:srgbClr val="585F6A"/>
                </a:solidFill>
                <a:latin typeface="Archivo Black"/>
                <a:ea typeface="Archivo Black"/>
                <a:cs typeface="Archivo Black"/>
                <a:sym typeface="Archivo Black"/>
              </a:rPr>
              <a:t>Subject values handled individually</a:t>
            </a:r>
          </a:p>
        </p:txBody>
      </p:sp>
      <p:grpSp>
        <p:nvGrpSpPr>
          <p:cNvPr name="Group 29" id="29"/>
          <p:cNvGrpSpPr/>
          <p:nvPr/>
        </p:nvGrpSpPr>
        <p:grpSpPr>
          <a:xfrm rot="0">
            <a:off x="980570" y="4062098"/>
            <a:ext cx="6780533" cy="974093"/>
            <a:chOff x="0" y="0"/>
            <a:chExt cx="9040711" cy="1298791"/>
          </a:xfrm>
        </p:grpSpPr>
        <p:sp>
          <p:nvSpPr>
            <p:cNvPr name="Freeform 30" id="30"/>
            <p:cNvSpPr/>
            <p:nvPr/>
          </p:nvSpPr>
          <p:spPr>
            <a:xfrm flipH="false" flipV="false" rot="0">
              <a:off x="0" y="0"/>
              <a:ext cx="9040622" cy="1298702"/>
            </a:xfrm>
            <a:custGeom>
              <a:avLst/>
              <a:gdLst/>
              <a:ahLst/>
              <a:cxnLst/>
              <a:rect r="r" b="b" t="t" l="l"/>
              <a:pathLst>
                <a:path h="1298702" w="9040622">
                  <a:moveTo>
                    <a:pt x="0" y="216408"/>
                  </a:moveTo>
                  <a:cubicBezTo>
                    <a:pt x="0" y="96901"/>
                    <a:pt x="96901" y="0"/>
                    <a:pt x="216408" y="0"/>
                  </a:cubicBezTo>
                  <a:lnTo>
                    <a:pt x="8824214" y="0"/>
                  </a:lnTo>
                  <a:cubicBezTo>
                    <a:pt x="8943721" y="0"/>
                    <a:pt x="9040622" y="96901"/>
                    <a:pt x="9040622" y="216408"/>
                  </a:cubicBezTo>
                  <a:lnTo>
                    <a:pt x="9040622" y="1082294"/>
                  </a:lnTo>
                  <a:cubicBezTo>
                    <a:pt x="9040622" y="1201801"/>
                    <a:pt x="8943721" y="1298702"/>
                    <a:pt x="8824214" y="1298702"/>
                  </a:cubicBezTo>
                  <a:lnTo>
                    <a:pt x="216408" y="1298702"/>
                  </a:lnTo>
                  <a:cubicBezTo>
                    <a:pt x="96901" y="1298829"/>
                    <a:pt x="0" y="1201928"/>
                    <a:pt x="0" y="1082294"/>
                  </a:cubicBezTo>
                  <a:close/>
                </a:path>
              </a:pathLst>
            </a:custGeom>
            <a:solidFill>
              <a:srgbClr val="FFFFFF"/>
            </a:solidFill>
            <a:ln w="13970" cap="sq">
              <a:solidFill>
                <a:srgbClr val="D7DFEC"/>
              </a:solidFill>
              <a:prstDash val="solid"/>
              <a:miter/>
            </a:ln>
          </p:spPr>
        </p:sp>
      </p:grpSp>
      <p:sp>
        <p:nvSpPr>
          <p:cNvPr name="TextBox 31" id="31"/>
          <p:cNvSpPr txBox="true"/>
          <p:nvPr/>
        </p:nvSpPr>
        <p:spPr>
          <a:xfrm rot="0">
            <a:off x="1207008" y="4242435"/>
            <a:ext cx="6382512" cy="2476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19"/>
              </a:lnSpc>
            </a:pPr>
            <a:r>
              <a:rPr lang="en-US" sz="1599">
                <a:solidFill>
                  <a:srgbClr val="090E14"/>
                </a:solidFill>
                <a:latin typeface="Archivo Black"/>
                <a:ea typeface="Archivo Black"/>
                <a:cs typeface="Archivo Black"/>
                <a:sym typeface="Archivo Black"/>
              </a:rPr>
              <a:t>Calculate average</a:t>
            </a:r>
          </a:p>
        </p:txBody>
      </p:sp>
      <p:sp>
        <p:nvSpPr>
          <p:cNvPr name="TextBox 32" id="32"/>
          <p:cNvSpPr txBox="true"/>
          <p:nvPr/>
        </p:nvSpPr>
        <p:spPr>
          <a:xfrm rot="0">
            <a:off x="1207008" y="4672203"/>
            <a:ext cx="6364224" cy="2000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559"/>
              </a:lnSpc>
            </a:pPr>
            <a:r>
              <a:rPr lang="en-US" sz="1299">
                <a:solidFill>
                  <a:srgbClr val="585F6A"/>
                </a:solidFill>
                <a:latin typeface="Archivo Black"/>
                <a:ea typeface="Archivo Black"/>
                <a:cs typeface="Archivo Black"/>
                <a:sym typeface="Archivo Black"/>
              </a:rPr>
              <a:t>Total divided by subject count</a:t>
            </a:r>
          </a:p>
        </p:txBody>
      </p:sp>
      <p:grpSp>
        <p:nvGrpSpPr>
          <p:cNvPr name="Group 33" id="33"/>
          <p:cNvGrpSpPr/>
          <p:nvPr/>
        </p:nvGrpSpPr>
        <p:grpSpPr>
          <a:xfrm rot="0">
            <a:off x="980570" y="5387978"/>
            <a:ext cx="6780533" cy="974093"/>
            <a:chOff x="0" y="0"/>
            <a:chExt cx="9040711" cy="1298791"/>
          </a:xfrm>
        </p:grpSpPr>
        <p:sp>
          <p:nvSpPr>
            <p:cNvPr name="Freeform 34" id="34"/>
            <p:cNvSpPr/>
            <p:nvPr/>
          </p:nvSpPr>
          <p:spPr>
            <a:xfrm flipH="false" flipV="false" rot="0">
              <a:off x="0" y="0"/>
              <a:ext cx="9040622" cy="1298702"/>
            </a:xfrm>
            <a:custGeom>
              <a:avLst/>
              <a:gdLst/>
              <a:ahLst/>
              <a:cxnLst/>
              <a:rect r="r" b="b" t="t" l="l"/>
              <a:pathLst>
                <a:path h="1298702" w="9040622">
                  <a:moveTo>
                    <a:pt x="0" y="216408"/>
                  </a:moveTo>
                  <a:cubicBezTo>
                    <a:pt x="0" y="96901"/>
                    <a:pt x="96901" y="0"/>
                    <a:pt x="216408" y="0"/>
                  </a:cubicBezTo>
                  <a:lnTo>
                    <a:pt x="8824214" y="0"/>
                  </a:lnTo>
                  <a:cubicBezTo>
                    <a:pt x="8943721" y="0"/>
                    <a:pt x="9040622" y="96901"/>
                    <a:pt x="9040622" y="216408"/>
                  </a:cubicBezTo>
                  <a:lnTo>
                    <a:pt x="9040622" y="1082294"/>
                  </a:lnTo>
                  <a:cubicBezTo>
                    <a:pt x="9040622" y="1201801"/>
                    <a:pt x="8943721" y="1298702"/>
                    <a:pt x="8824214" y="1298702"/>
                  </a:cubicBezTo>
                  <a:lnTo>
                    <a:pt x="216408" y="1298702"/>
                  </a:lnTo>
                  <a:cubicBezTo>
                    <a:pt x="96901" y="1298829"/>
                    <a:pt x="0" y="1201928"/>
                    <a:pt x="0" y="1082294"/>
                  </a:cubicBezTo>
                  <a:close/>
                </a:path>
              </a:pathLst>
            </a:custGeom>
            <a:solidFill>
              <a:srgbClr val="FFFFFF"/>
            </a:solidFill>
            <a:ln w="13970" cap="sq">
              <a:solidFill>
                <a:srgbClr val="D7DFEC"/>
              </a:solidFill>
              <a:prstDash val="solid"/>
              <a:miter/>
            </a:ln>
          </p:spPr>
        </p:sp>
      </p:grpSp>
      <p:sp>
        <p:nvSpPr>
          <p:cNvPr name="TextBox 35" id="35"/>
          <p:cNvSpPr txBox="true"/>
          <p:nvPr/>
        </p:nvSpPr>
        <p:spPr>
          <a:xfrm rot="0">
            <a:off x="1207008" y="5568315"/>
            <a:ext cx="6382512" cy="2476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19"/>
              </a:lnSpc>
            </a:pPr>
            <a:r>
              <a:rPr lang="en-US" sz="1599">
                <a:solidFill>
                  <a:srgbClr val="090E14"/>
                </a:solidFill>
                <a:latin typeface="Archivo Black"/>
                <a:ea typeface="Archivo Black"/>
                <a:cs typeface="Archivo Black"/>
                <a:sym typeface="Archivo Black"/>
              </a:rPr>
              <a:t>Assign grade</a:t>
            </a:r>
          </a:p>
        </p:txBody>
      </p:sp>
      <p:sp>
        <p:nvSpPr>
          <p:cNvPr name="TextBox 36" id="36"/>
          <p:cNvSpPr txBox="true"/>
          <p:nvPr/>
        </p:nvSpPr>
        <p:spPr>
          <a:xfrm rot="0">
            <a:off x="1207008" y="5998083"/>
            <a:ext cx="6364224" cy="2000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559"/>
              </a:lnSpc>
            </a:pPr>
            <a:r>
              <a:rPr lang="en-US" sz="1299">
                <a:solidFill>
                  <a:srgbClr val="585F6A"/>
                </a:solidFill>
                <a:latin typeface="Archivo Black"/>
                <a:ea typeface="Archivo Black"/>
                <a:cs typeface="Archivo Black"/>
                <a:sym typeface="Archivo Black"/>
              </a:rPr>
              <a:t>Compare average against grade bands</a:t>
            </a:r>
          </a:p>
        </p:txBody>
      </p:sp>
      <p:grpSp>
        <p:nvGrpSpPr>
          <p:cNvPr name="Group 37" id="37"/>
          <p:cNvGrpSpPr/>
          <p:nvPr/>
        </p:nvGrpSpPr>
        <p:grpSpPr>
          <a:xfrm rot="0">
            <a:off x="980570" y="6713858"/>
            <a:ext cx="6780533" cy="974093"/>
            <a:chOff x="0" y="0"/>
            <a:chExt cx="9040711" cy="1298791"/>
          </a:xfrm>
        </p:grpSpPr>
        <p:sp>
          <p:nvSpPr>
            <p:cNvPr name="Freeform 38" id="38"/>
            <p:cNvSpPr/>
            <p:nvPr/>
          </p:nvSpPr>
          <p:spPr>
            <a:xfrm flipH="false" flipV="false" rot="0">
              <a:off x="0" y="0"/>
              <a:ext cx="9040622" cy="1298702"/>
            </a:xfrm>
            <a:custGeom>
              <a:avLst/>
              <a:gdLst/>
              <a:ahLst/>
              <a:cxnLst/>
              <a:rect r="r" b="b" t="t" l="l"/>
              <a:pathLst>
                <a:path h="1298702" w="9040622">
                  <a:moveTo>
                    <a:pt x="0" y="216408"/>
                  </a:moveTo>
                  <a:cubicBezTo>
                    <a:pt x="0" y="96901"/>
                    <a:pt x="96901" y="0"/>
                    <a:pt x="216408" y="0"/>
                  </a:cubicBezTo>
                  <a:lnTo>
                    <a:pt x="8824214" y="0"/>
                  </a:lnTo>
                  <a:cubicBezTo>
                    <a:pt x="8943721" y="0"/>
                    <a:pt x="9040622" y="96901"/>
                    <a:pt x="9040622" y="216408"/>
                  </a:cubicBezTo>
                  <a:lnTo>
                    <a:pt x="9040622" y="1082294"/>
                  </a:lnTo>
                  <a:cubicBezTo>
                    <a:pt x="9040622" y="1201801"/>
                    <a:pt x="8943721" y="1298702"/>
                    <a:pt x="8824214" y="1298702"/>
                  </a:cubicBezTo>
                  <a:lnTo>
                    <a:pt x="216408" y="1298702"/>
                  </a:lnTo>
                  <a:cubicBezTo>
                    <a:pt x="96901" y="1298829"/>
                    <a:pt x="0" y="1201928"/>
                    <a:pt x="0" y="1082294"/>
                  </a:cubicBezTo>
                  <a:close/>
                </a:path>
              </a:pathLst>
            </a:custGeom>
            <a:solidFill>
              <a:srgbClr val="FFFFFF"/>
            </a:solidFill>
            <a:ln w="13970" cap="sq">
              <a:solidFill>
                <a:srgbClr val="D7DFEC"/>
              </a:solidFill>
              <a:prstDash val="solid"/>
              <a:miter/>
            </a:ln>
          </p:spPr>
        </p:sp>
      </p:grpSp>
      <p:sp>
        <p:nvSpPr>
          <p:cNvPr name="TextBox 39" id="39"/>
          <p:cNvSpPr txBox="true"/>
          <p:nvPr/>
        </p:nvSpPr>
        <p:spPr>
          <a:xfrm rot="0">
            <a:off x="1207008" y="6894195"/>
            <a:ext cx="6382512" cy="2476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19"/>
              </a:lnSpc>
            </a:pPr>
            <a:r>
              <a:rPr lang="en-US" sz="1599">
                <a:solidFill>
                  <a:srgbClr val="090E14"/>
                </a:solidFill>
                <a:latin typeface="Archivo Black"/>
                <a:ea typeface="Archivo Black"/>
                <a:cs typeface="Archivo Black"/>
                <a:sym typeface="Archivo Black"/>
              </a:rPr>
              <a:t>Check attendance</a:t>
            </a:r>
          </a:p>
        </p:txBody>
      </p:sp>
      <p:sp>
        <p:nvSpPr>
          <p:cNvPr name="TextBox 40" id="40"/>
          <p:cNvSpPr txBox="true"/>
          <p:nvPr/>
        </p:nvSpPr>
        <p:spPr>
          <a:xfrm rot="0">
            <a:off x="1207008" y="7323963"/>
            <a:ext cx="6364224" cy="2000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559"/>
              </a:lnSpc>
            </a:pPr>
            <a:r>
              <a:rPr lang="en-US" sz="1299">
                <a:solidFill>
                  <a:srgbClr val="585F6A"/>
                </a:solidFill>
                <a:latin typeface="Archivo Black"/>
                <a:ea typeface="Archivo Black"/>
                <a:cs typeface="Archivo Black"/>
                <a:sym typeface="Archivo Black"/>
              </a:rPr>
              <a:t>Compare attendance with 75% threshold</a:t>
            </a:r>
          </a:p>
        </p:txBody>
      </p:sp>
      <p:sp>
        <p:nvSpPr>
          <p:cNvPr name="TextBox 41" id="41"/>
          <p:cNvSpPr txBox="true"/>
          <p:nvPr/>
        </p:nvSpPr>
        <p:spPr>
          <a:xfrm rot="0">
            <a:off x="8567928" y="2185035"/>
            <a:ext cx="7461504" cy="2762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60"/>
              </a:lnSpc>
            </a:pPr>
            <a:r>
              <a:rPr lang="en-US" sz="1800">
                <a:solidFill>
                  <a:srgbClr val="585F6A"/>
                </a:solidFill>
                <a:latin typeface="Archivo Black"/>
                <a:ea typeface="Archivo Black"/>
                <a:cs typeface="Archivo Black"/>
                <a:sym typeface="Archivo Black"/>
              </a:rPr>
              <a:t>LIMITATION OF A SEPARATE PROCESS</a:t>
            </a:r>
          </a:p>
        </p:txBody>
      </p:sp>
      <p:grpSp>
        <p:nvGrpSpPr>
          <p:cNvPr name="Group 42" id="42"/>
          <p:cNvGrpSpPr/>
          <p:nvPr/>
        </p:nvGrpSpPr>
        <p:grpSpPr>
          <a:xfrm rot="0">
            <a:off x="8542658" y="2736218"/>
            <a:ext cx="8152133" cy="2117093"/>
            <a:chOff x="0" y="0"/>
            <a:chExt cx="10869511" cy="2822791"/>
          </a:xfrm>
        </p:grpSpPr>
        <p:sp>
          <p:nvSpPr>
            <p:cNvPr name="Freeform 43" id="43"/>
            <p:cNvSpPr/>
            <p:nvPr/>
          </p:nvSpPr>
          <p:spPr>
            <a:xfrm flipH="false" flipV="false" rot="0">
              <a:off x="0" y="0"/>
              <a:ext cx="10869549" cy="2822829"/>
            </a:xfrm>
            <a:custGeom>
              <a:avLst/>
              <a:gdLst/>
              <a:ahLst/>
              <a:cxnLst/>
              <a:rect r="r" b="b" t="t" l="l"/>
              <a:pathLst>
                <a:path h="2822829" w="10869549">
                  <a:moveTo>
                    <a:pt x="0" y="470535"/>
                  </a:moveTo>
                  <a:cubicBezTo>
                    <a:pt x="0" y="210693"/>
                    <a:pt x="210693" y="0"/>
                    <a:pt x="470535" y="0"/>
                  </a:cubicBezTo>
                  <a:lnTo>
                    <a:pt x="10399014" y="0"/>
                  </a:lnTo>
                  <a:cubicBezTo>
                    <a:pt x="10658856" y="0"/>
                    <a:pt x="10869549" y="210693"/>
                    <a:pt x="10869549" y="470535"/>
                  </a:cubicBezTo>
                  <a:lnTo>
                    <a:pt x="10869549" y="2352294"/>
                  </a:lnTo>
                  <a:cubicBezTo>
                    <a:pt x="10869549" y="2612136"/>
                    <a:pt x="10658856" y="2822829"/>
                    <a:pt x="10399014" y="2822829"/>
                  </a:cubicBezTo>
                  <a:lnTo>
                    <a:pt x="470535" y="2822829"/>
                  </a:lnTo>
                  <a:cubicBezTo>
                    <a:pt x="210693" y="2822829"/>
                    <a:pt x="0" y="2612136"/>
                    <a:pt x="0" y="2352294"/>
                  </a:cubicBezTo>
                  <a:close/>
                </a:path>
              </a:pathLst>
            </a:custGeom>
            <a:solidFill>
              <a:srgbClr val="FFFFFF"/>
            </a:solidFill>
            <a:ln w="13970" cap="sq">
              <a:solidFill>
                <a:srgbClr val="D7DFEC"/>
              </a:solidFill>
              <a:prstDash val="solid"/>
              <a:miter/>
            </a:ln>
          </p:spPr>
        </p:sp>
      </p:grpSp>
      <p:sp>
        <p:nvSpPr>
          <p:cNvPr name="TextBox 44" id="44"/>
          <p:cNvSpPr txBox="true"/>
          <p:nvPr/>
        </p:nvSpPr>
        <p:spPr>
          <a:xfrm rot="0">
            <a:off x="8769096" y="2916555"/>
            <a:ext cx="4243388" cy="3143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00"/>
              </a:lnSpc>
            </a:pPr>
            <a:r>
              <a:rPr lang="en-US" sz="2000">
                <a:solidFill>
                  <a:srgbClr val="090E14"/>
                </a:solidFill>
                <a:latin typeface="Archivo Black"/>
                <a:ea typeface="Archivo Black"/>
                <a:cs typeface="Archivo Black"/>
                <a:sym typeface="Archivo Black"/>
              </a:rPr>
              <a:t>REPEATED MANUAL PROCESS</a:t>
            </a:r>
          </a:p>
        </p:txBody>
      </p:sp>
      <p:sp>
        <p:nvSpPr>
          <p:cNvPr name="TextBox 45" id="45"/>
          <p:cNvSpPr txBox="true"/>
          <p:nvPr/>
        </p:nvSpPr>
        <p:spPr>
          <a:xfrm rot="0">
            <a:off x="8769096" y="3346323"/>
            <a:ext cx="7735824" cy="8096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60"/>
              </a:lnSpc>
            </a:pPr>
            <a:r>
              <a:rPr lang="en-US" sz="1800">
                <a:solidFill>
                  <a:srgbClr val="585F6A"/>
                </a:solidFill>
                <a:latin typeface="Archivo Black"/>
                <a:ea typeface="Archivo Black"/>
                <a:cs typeface="Archivo Black"/>
                <a:sym typeface="Archivo Black"/>
              </a:rPr>
              <a:t>Without a single workflow, the calculations and eligibility check must be coordinated step by step. The proposed program combines these operations in one executable flow.</a:t>
            </a:r>
          </a:p>
        </p:txBody>
      </p:sp>
      <p:grpSp>
        <p:nvGrpSpPr>
          <p:cNvPr name="Group 46" id="46"/>
          <p:cNvGrpSpPr/>
          <p:nvPr/>
        </p:nvGrpSpPr>
        <p:grpSpPr>
          <a:xfrm rot="0">
            <a:off x="8542658" y="5159378"/>
            <a:ext cx="8152133" cy="2528573"/>
            <a:chOff x="0" y="0"/>
            <a:chExt cx="10869511" cy="3371431"/>
          </a:xfrm>
        </p:grpSpPr>
        <p:sp>
          <p:nvSpPr>
            <p:cNvPr name="Freeform 47" id="47"/>
            <p:cNvSpPr/>
            <p:nvPr/>
          </p:nvSpPr>
          <p:spPr>
            <a:xfrm flipH="false" flipV="false" rot="0">
              <a:off x="0" y="0"/>
              <a:ext cx="10869549" cy="3371469"/>
            </a:xfrm>
            <a:custGeom>
              <a:avLst/>
              <a:gdLst/>
              <a:ahLst/>
              <a:cxnLst/>
              <a:rect r="r" b="b" t="t" l="l"/>
              <a:pathLst>
                <a:path h="3371469" w="10869549">
                  <a:moveTo>
                    <a:pt x="0" y="561975"/>
                  </a:moveTo>
                  <a:cubicBezTo>
                    <a:pt x="0" y="251587"/>
                    <a:pt x="251587" y="0"/>
                    <a:pt x="561975" y="0"/>
                  </a:cubicBezTo>
                  <a:lnTo>
                    <a:pt x="10307574" y="0"/>
                  </a:lnTo>
                  <a:cubicBezTo>
                    <a:pt x="10617962" y="0"/>
                    <a:pt x="10869549" y="251587"/>
                    <a:pt x="10869549" y="561975"/>
                  </a:cubicBezTo>
                  <a:lnTo>
                    <a:pt x="10869549" y="2809494"/>
                  </a:lnTo>
                  <a:cubicBezTo>
                    <a:pt x="10869549" y="3119882"/>
                    <a:pt x="10617962" y="3371469"/>
                    <a:pt x="10307574" y="3371469"/>
                  </a:cubicBezTo>
                  <a:lnTo>
                    <a:pt x="561975" y="3371469"/>
                  </a:lnTo>
                  <a:cubicBezTo>
                    <a:pt x="251587" y="3371469"/>
                    <a:pt x="0" y="3119882"/>
                    <a:pt x="0" y="2809494"/>
                  </a:cubicBezTo>
                  <a:close/>
                </a:path>
              </a:pathLst>
            </a:custGeom>
            <a:solidFill>
              <a:srgbClr val="FFFFFF"/>
            </a:solidFill>
            <a:ln w="13970" cap="sq">
              <a:solidFill>
                <a:srgbClr val="D7DFEC"/>
              </a:solidFill>
              <a:prstDash val="solid"/>
              <a:miter/>
            </a:ln>
          </p:spPr>
        </p:sp>
      </p:grpSp>
      <p:sp>
        <p:nvSpPr>
          <p:cNvPr name="TextBox 48" id="48"/>
          <p:cNvSpPr txBox="true"/>
          <p:nvPr/>
        </p:nvSpPr>
        <p:spPr>
          <a:xfrm rot="0">
            <a:off x="8769096" y="5339715"/>
            <a:ext cx="2834005" cy="3143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00"/>
              </a:lnSpc>
            </a:pPr>
            <a:r>
              <a:rPr lang="en-US" sz="2000">
                <a:solidFill>
                  <a:srgbClr val="090E14"/>
                </a:solidFill>
                <a:latin typeface="Archivo Black"/>
                <a:ea typeface="Archivo Black"/>
                <a:cs typeface="Archivo Black"/>
                <a:sym typeface="Archivo Black"/>
              </a:rPr>
              <a:t>PROJECT BASELINE</a:t>
            </a:r>
          </a:p>
        </p:txBody>
      </p:sp>
      <p:sp>
        <p:nvSpPr>
          <p:cNvPr name="TextBox 49" id="49"/>
          <p:cNvSpPr txBox="true"/>
          <p:nvPr/>
        </p:nvSpPr>
        <p:spPr>
          <a:xfrm rot="0">
            <a:off x="8769096" y="5769483"/>
            <a:ext cx="7735824" cy="10763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60"/>
              </a:lnSpc>
            </a:pPr>
            <a:r>
              <a:rPr lang="en-US" sz="1800">
                <a:solidFill>
                  <a:srgbClr val="585F6A"/>
                </a:solidFill>
                <a:latin typeface="Archivo Black"/>
                <a:ea typeface="Archivo Black"/>
                <a:cs typeface="Archivo Black"/>
                <a:sym typeface="Archivo Black"/>
              </a:rPr>
              <a:t>The current project source is a console-based Java program, so the “existing system” here is the baseline process that the program consolidates rather than a separate software product.</a:t>
            </a:r>
          </a:p>
        </p:txBody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3" id="3" descr="bg.jpeg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-3364" r="0" b="-3364"/>
              </a:stretch>
            </a:blipFill>
          </p:spPr>
        </p:sp>
      </p:grpSp>
      <p:grpSp>
        <p:nvGrpSpPr>
          <p:cNvPr name="Group 4" id="4"/>
          <p:cNvGrpSpPr/>
          <p:nvPr/>
        </p:nvGrpSpPr>
        <p:grpSpPr>
          <a:xfrm rot="0">
            <a:off x="22355" y="22355"/>
            <a:ext cx="18243299" cy="10242299"/>
            <a:chOff x="0" y="0"/>
            <a:chExt cx="24324399" cy="13656399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4324438" cy="13656438"/>
            </a:xfrm>
            <a:custGeom>
              <a:avLst/>
              <a:gdLst/>
              <a:ahLst/>
              <a:cxnLst/>
              <a:rect r="r" b="b" t="t" l="l"/>
              <a:pathLst>
                <a:path h="13656438" w="24324438">
                  <a:moveTo>
                    <a:pt x="0" y="0"/>
                  </a:moveTo>
                  <a:lnTo>
                    <a:pt x="24324438" y="0"/>
                  </a:lnTo>
                  <a:lnTo>
                    <a:pt x="24324438" y="13656438"/>
                  </a:lnTo>
                  <a:lnTo>
                    <a:pt x="0" y="1365643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22033" t="0" r="-22033" b="0"/>
              </a:stretch>
            </a:blipFill>
            <a:ln w="10160" cap="sq">
              <a:solidFill>
                <a:srgbClr val="090E14"/>
              </a:solidFill>
              <a:prstDash val="solid"/>
              <a:miter/>
            </a:ln>
          </p:spPr>
        </p:sp>
      </p:grpSp>
      <p:grpSp>
        <p:nvGrpSpPr>
          <p:cNvPr name="Group 6" id="6"/>
          <p:cNvGrpSpPr/>
          <p:nvPr/>
        </p:nvGrpSpPr>
        <p:grpSpPr>
          <a:xfrm rot="2700000">
            <a:off x="16504920" y="73152"/>
            <a:ext cx="54864" cy="530352"/>
            <a:chOff x="0" y="0"/>
            <a:chExt cx="73152" cy="707136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73152" cy="707136"/>
            </a:xfrm>
            <a:custGeom>
              <a:avLst/>
              <a:gdLst/>
              <a:ahLst/>
              <a:cxnLst/>
              <a:rect r="r" b="b" t="t" l="l"/>
              <a:pathLst>
                <a:path h="707136" w="73152">
                  <a:moveTo>
                    <a:pt x="0" y="0"/>
                  </a:moveTo>
                  <a:lnTo>
                    <a:pt x="73152" y="0"/>
                  </a:lnTo>
                  <a:lnTo>
                    <a:pt x="73152" y="707136"/>
                  </a:lnTo>
                  <a:lnTo>
                    <a:pt x="0" y="707136"/>
                  </a:lnTo>
                  <a:close/>
                </a:path>
              </a:pathLst>
            </a:custGeom>
            <a:solidFill>
              <a:srgbClr val="090E14"/>
            </a:solidFill>
          </p:spPr>
        </p:sp>
      </p:grpSp>
      <p:grpSp>
        <p:nvGrpSpPr>
          <p:cNvPr name="Group 8" id="8"/>
          <p:cNvGrpSpPr/>
          <p:nvPr/>
        </p:nvGrpSpPr>
        <p:grpSpPr>
          <a:xfrm rot="2700000">
            <a:off x="16934688" y="420624"/>
            <a:ext cx="54864" cy="530352"/>
            <a:chOff x="0" y="0"/>
            <a:chExt cx="73152" cy="707136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73152" cy="707136"/>
            </a:xfrm>
            <a:custGeom>
              <a:avLst/>
              <a:gdLst/>
              <a:ahLst/>
              <a:cxnLst/>
              <a:rect r="r" b="b" t="t" l="l"/>
              <a:pathLst>
                <a:path h="707136" w="73152">
                  <a:moveTo>
                    <a:pt x="0" y="0"/>
                  </a:moveTo>
                  <a:lnTo>
                    <a:pt x="73152" y="0"/>
                  </a:lnTo>
                  <a:lnTo>
                    <a:pt x="73152" y="707136"/>
                  </a:lnTo>
                  <a:lnTo>
                    <a:pt x="0" y="707136"/>
                  </a:lnTo>
                  <a:close/>
                </a:path>
              </a:pathLst>
            </a:custGeom>
            <a:solidFill>
              <a:srgbClr val="090E14"/>
            </a:solidFill>
          </p:spPr>
        </p:sp>
      </p:grpSp>
      <p:grpSp>
        <p:nvGrpSpPr>
          <p:cNvPr name="Group 10" id="10"/>
          <p:cNvGrpSpPr/>
          <p:nvPr/>
        </p:nvGrpSpPr>
        <p:grpSpPr>
          <a:xfrm rot="2700000">
            <a:off x="17364456" y="768096"/>
            <a:ext cx="54864" cy="530352"/>
            <a:chOff x="0" y="0"/>
            <a:chExt cx="73152" cy="707136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73152" cy="707136"/>
            </a:xfrm>
            <a:custGeom>
              <a:avLst/>
              <a:gdLst/>
              <a:ahLst/>
              <a:cxnLst/>
              <a:rect r="r" b="b" t="t" l="l"/>
              <a:pathLst>
                <a:path h="707136" w="73152">
                  <a:moveTo>
                    <a:pt x="0" y="0"/>
                  </a:moveTo>
                  <a:lnTo>
                    <a:pt x="73152" y="0"/>
                  </a:lnTo>
                  <a:lnTo>
                    <a:pt x="73152" y="707136"/>
                  </a:lnTo>
                  <a:lnTo>
                    <a:pt x="0" y="707136"/>
                  </a:lnTo>
                  <a:close/>
                </a:path>
              </a:pathLst>
            </a:custGeom>
            <a:solidFill>
              <a:srgbClr val="090E14"/>
            </a:solidFill>
          </p:spPr>
        </p:sp>
      </p:grpSp>
      <p:grpSp>
        <p:nvGrpSpPr>
          <p:cNvPr name="Group 12" id="12"/>
          <p:cNvGrpSpPr/>
          <p:nvPr/>
        </p:nvGrpSpPr>
        <p:grpSpPr>
          <a:xfrm rot="2700000">
            <a:off x="17794224" y="1115568"/>
            <a:ext cx="54864" cy="530352"/>
            <a:chOff x="0" y="0"/>
            <a:chExt cx="73152" cy="707136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73152" cy="707136"/>
            </a:xfrm>
            <a:custGeom>
              <a:avLst/>
              <a:gdLst/>
              <a:ahLst/>
              <a:cxnLst/>
              <a:rect r="r" b="b" t="t" l="l"/>
              <a:pathLst>
                <a:path h="707136" w="73152">
                  <a:moveTo>
                    <a:pt x="0" y="0"/>
                  </a:moveTo>
                  <a:lnTo>
                    <a:pt x="73152" y="0"/>
                  </a:lnTo>
                  <a:lnTo>
                    <a:pt x="73152" y="707136"/>
                  </a:lnTo>
                  <a:lnTo>
                    <a:pt x="0" y="707136"/>
                  </a:lnTo>
                  <a:close/>
                </a:path>
              </a:pathLst>
            </a:custGeom>
            <a:solidFill>
              <a:srgbClr val="090E14"/>
            </a:solidFill>
          </p:spPr>
        </p:sp>
      </p:grpSp>
      <p:grpSp>
        <p:nvGrpSpPr>
          <p:cNvPr name="Group 14" id="14"/>
          <p:cNvGrpSpPr/>
          <p:nvPr/>
        </p:nvGrpSpPr>
        <p:grpSpPr>
          <a:xfrm rot="2700000">
            <a:off x="18223992" y="1463040"/>
            <a:ext cx="54864" cy="530352"/>
            <a:chOff x="0" y="0"/>
            <a:chExt cx="73152" cy="707136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73152" cy="707136"/>
            </a:xfrm>
            <a:custGeom>
              <a:avLst/>
              <a:gdLst/>
              <a:ahLst/>
              <a:cxnLst/>
              <a:rect r="r" b="b" t="t" l="l"/>
              <a:pathLst>
                <a:path h="707136" w="73152">
                  <a:moveTo>
                    <a:pt x="0" y="0"/>
                  </a:moveTo>
                  <a:lnTo>
                    <a:pt x="73152" y="0"/>
                  </a:lnTo>
                  <a:lnTo>
                    <a:pt x="73152" y="707136"/>
                  </a:lnTo>
                  <a:lnTo>
                    <a:pt x="0" y="707136"/>
                  </a:lnTo>
                  <a:close/>
                </a:path>
              </a:pathLst>
            </a:custGeom>
            <a:solidFill>
              <a:srgbClr val="090E14"/>
            </a:solidFill>
          </p:spPr>
        </p:sp>
      </p:grpSp>
      <p:grpSp>
        <p:nvGrpSpPr>
          <p:cNvPr name="Group 16" id="16"/>
          <p:cNvGrpSpPr/>
          <p:nvPr/>
        </p:nvGrpSpPr>
        <p:grpSpPr>
          <a:xfrm rot="2700000">
            <a:off x="18653760" y="1810512"/>
            <a:ext cx="54864" cy="530352"/>
            <a:chOff x="0" y="0"/>
            <a:chExt cx="73152" cy="707136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73152" cy="707136"/>
            </a:xfrm>
            <a:custGeom>
              <a:avLst/>
              <a:gdLst/>
              <a:ahLst/>
              <a:cxnLst/>
              <a:rect r="r" b="b" t="t" l="l"/>
              <a:pathLst>
                <a:path h="707136" w="73152">
                  <a:moveTo>
                    <a:pt x="0" y="0"/>
                  </a:moveTo>
                  <a:lnTo>
                    <a:pt x="73152" y="0"/>
                  </a:lnTo>
                  <a:lnTo>
                    <a:pt x="73152" y="707136"/>
                  </a:lnTo>
                  <a:lnTo>
                    <a:pt x="0" y="707136"/>
                  </a:lnTo>
                  <a:close/>
                </a:path>
              </a:pathLst>
            </a:custGeom>
            <a:solidFill>
              <a:srgbClr val="090E14"/>
            </a:solidFill>
          </p:spPr>
        </p:sp>
      </p:grpSp>
      <p:grpSp>
        <p:nvGrpSpPr>
          <p:cNvPr name="Group 18" id="18"/>
          <p:cNvGrpSpPr/>
          <p:nvPr/>
        </p:nvGrpSpPr>
        <p:grpSpPr>
          <a:xfrm rot="2700000">
            <a:off x="19083528" y="2157984"/>
            <a:ext cx="54864" cy="530352"/>
            <a:chOff x="0" y="0"/>
            <a:chExt cx="73152" cy="707136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73152" cy="707136"/>
            </a:xfrm>
            <a:custGeom>
              <a:avLst/>
              <a:gdLst/>
              <a:ahLst/>
              <a:cxnLst/>
              <a:rect r="r" b="b" t="t" l="l"/>
              <a:pathLst>
                <a:path h="707136" w="73152">
                  <a:moveTo>
                    <a:pt x="0" y="0"/>
                  </a:moveTo>
                  <a:lnTo>
                    <a:pt x="73152" y="0"/>
                  </a:lnTo>
                  <a:lnTo>
                    <a:pt x="73152" y="707136"/>
                  </a:lnTo>
                  <a:lnTo>
                    <a:pt x="0" y="707136"/>
                  </a:lnTo>
                  <a:close/>
                </a:path>
              </a:pathLst>
            </a:custGeom>
            <a:solidFill>
              <a:srgbClr val="090E14"/>
            </a:solidFill>
          </p:spPr>
        </p:sp>
      </p:grpSp>
      <p:sp>
        <p:nvSpPr>
          <p:cNvPr name="TextBox 20" id="20"/>
          <p:cNvSpPr txBox="true"/>
          <p:nvPr/>
        </p:nvSpPr>
        <p:spPr>
          <a:xfrm rot="0">
            <a:off x="978408" y="575691"/>
            <a:ext cx="12673584" cy="5524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320"/>
              </a:lnSpc>
            </a:pPr>
            <a:r>
              <a:rPr lang="en-US" sz="3600">
                <a:solidFill>
                  <a:srgbClr val="090E14"/>
                </a:solidFill>
                <a:latin typeface="Archivo Black"/>
                <a:ea typeface="Archivo Black"/>
                <a:cs typeface="Archivo Black"/>
                <a:sym typeface="Archivo Black"/>
              </a:rPr>
              <a:t>5. Proposed System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1005840" y="1343406"/>
            <a:ext cx="14228064" cy="2762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040"/>
              </a:lnSpc>
            </a:pPr>
            <a:r>
              <a:rPr lang="en-US" sz="1700">
                <a:solidFill>
                  <a:srgbClr val="585F6A"/>
                </a:solidFill>
                <a:latin typeface="Archivo Black"/>
                <a:ea typeface="Archivo Black"/>
                <a:cs typeface="Archivo Black"/>
                <a:sym typeface="Archivo Black"/>
              </a:rPr>
              <a:t>A console-based Java solution using Scanner, loops, validation, and conditional logic</a:t>
            </a:r>
          </a:p>
        </p:txBody>
      </p:sp>
      <p:grpSp>
        <p:nvGrpSpPr>
          <p:cNvPr name="Group 22" id="22"/>
          <p:cNvGrpSpPr/>
          <p:nvPr/>
        </p:nvGrpSpPr>
        <p:grpSpPr>
          <a:xfrm rot="0">
            <a:off x="987552" y="1755648"/>
            <a:ext cx="1051560" cy="50292"/>
            <a:chOff x="0" y="0"/>
            <a:chExt cx="1402080" cy="67056"/>
          </a:xfrm>
        </p:grpSpPr>
        <p:sp>
          <p:nvSpPr>
            <p:cNvPr name="Freeform 23" id="23"/>
            <p:cNvSpPr/>
            <p:nvPr/>
          </p:nvSpPr>
          <p:spPr>
            <a:xfrm flipH="false" flipV="false" rot="0">
              <a:off x="0" y="0"/>
              <a:ext cx="1402080" cy="67056"/>
            </a:xfrm>
            <a:custGeom>
              <a:avLst/>
              <a:gdLst/>
              <a:ahLst/>
              <a:cxnLst/>
              <a:rect r="r" b="b" t="t" l="l"/>
              <a:pathLst>
                <a:path h="67056" w="1402080">
                  <a:moveTo>
                    <a:pt x="0" y="0"/>
                  </a:moveTo>
                  <a:lnTo>
                    <a:pt x="1402080" y="0"/>
                  </a:lnTo>
                  <a:lnTo>
                    <a:pt x="1402080" y="67056"/>
                  </a:lnTo>
                  <a:lnTo>
                    <a:pt x="0" y="67056"/>
                  </a:lnTo>
                  <a:close/>
                </a:path>
              </a:pathLst>
            </a:custGeom>
            <a:solidFill>
              <a:srgbClr val="265BCD"/>
            </a:solidFill>
          </p:spPr>
        </p:sp>
      </p:grpSp>
      <p:grpSp>
        <p:nvGrpSpPr>
          <p:cNvPr name="Group 24" id="24"/>
          <p:cNvGrpSpPr/>
          <p:nvPr/>
        </p:nvGrpSpPr>
        <p:grpSpPr>
          <a:xfrm rot="0">
            <a:off x="814073" y="3648713"/>
            <a:ext cx="1938023" cy="1526543"/>
            <a:chOff x="0" y="0"/>
            <a:chExt cx="2584031" cy="2035391"/>
          </a:xfrm>
        </p:grpSpPr>
        <p:sp>
          <p:nvSpPr>
            <p:cNvPr name="Freeform 25" id="25"/>
            <p:cNvSpPr/>
            <p:nvPr/>
          </p:nvSpPr>
          <p:spPr>
            <a:xfrm flipH="false" flipV="false" rot="0">
              <a:off x="0" y="0"/>
              <a:ext cx="2584069" cy="2035429"/>
            </a:xfrm>
            <a:custGeom>
              <a:avLst/>
              <a:gdLst/>
              <a:ahLst/>
              <a:cxnLst/>
              <a:rect r="r" b="b" t="t" l="l"/>
              <a:pathLst>
                <a:path h="2035429" w="2584069">
                  <a:moveTo>
                    <a:pt x="0" y="339217"/>
                  </a:moveTo>
                  <a:cubicBezTo>
                    <a:pt x="0" y="151892"/>
                    <a:pt x="151892" y="0"/>
                    <a:pt x="339217" y="0"/>
                  </a:cubicBezTo>
                  <a:lnTo>
                    <a:pt x="2244852" y="0"/>
                  </a:lnTo>
                  <a:cubicBezTo>
                    <a:pt x="2432177" y="0"/>
                    <a:pt x="2584069" y="151892"/>
                    <a:pt x="2584069" y="339217"/>
                  </a:cubicBezTo>
                  <a:lnTo>
                    <a:pt x="2584069" y="1696212"/>
                  </a:lnTo>
                  <a:cubicBezTo>
                    <a:pt x="2584069" y="1883537"/>
                    <a:pt x="2432177" y="2035429"/>
                    <a:pt x="2244852" y="2035429"/>
                  </a:cubicBezTo>
                  <a:lnTo>
                    <a:pt x="339217" y="2035429"/>
                  </a:lnTo>
                  <a:cubicBezTo>
                    <a:pt x="151892" y="2035429"/>
                    <a:pt x="0" y="1883537"/>
                    <a:pt x="0" y="1696212"/>
                  </a:cubicBezTo>
                  <a:close/>
                </a:path>
              </a:pathLst>
            </a:custGeom>
            <a:solidFill>
              <a:srgbClr val="EBF1FF"/>
            </a:solidFill>
            <a:ln w="17780" cap="sq">
              <a:solidFill>
                <a:srgbClr val="265BCD"/>
              </a:solidFill>
              <a:prstDash val="solid"/>
              <a:miter/>
            </a:ln>
          </p:spPr>
        </p:sp>
      </p:grpSp>
      <p:sp>
        <p:nvSpPr>
          <p:cNvPr name="TextBox 26" id="26"/>
          <p:cNvSpPr txBox="true"/>
          <p:nvPr/>
        </p:nvSpPr>
        <p:spPr>
          <a:xfrm rot="0">
            <a:off x="1005840" y="3830955"/>
            <a:ext cx="466344" cy="2000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559"/>
              </a:lnSpc>
            </a:pPr>
            <a:r>
              <a:rPr lang="en-US" sz="1299">
                <a:solidFill>
                  <a:srgbClr val="265BCD"/>
                </a:solidFill>
                <a:latin typeface="Archivo Black"/>
                <a:ea typeface="Archivo Black"/>
                <a:cs typeface="Archivo Black"/>
                <a:sym typeface="Archivo Black"/>
              </a:rPr>
              <a:t>01</a:t>
            </a:r>
          </a:p>
        </p:txBody>
      </p:sp>
      <p:sp>
        <p:nvSpPr>
          <p:cNvPr name="TextBox 27" id="27"/>
          <p:cNvSpPr txBox="true"/>
          <p:nvPr/>
        </p:nvSpPr>
        <p:spPr>
          <a:xfrm rot="0">
            <a:off x="987552" y="4260723"/>
            <a:ext cx="1591056" cy="2381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800"/>
              </a:lnSpc>
            </a:pPr>
            <a:r>
              <a:rPr lang="en-US" sz="1500">
                <a:solidFill>
                  <a:srgbClr val="090E14"/>
                </a:solidFill>
                <a:latin typeface="Archivo Black"/>
                <a:ea typeface="Archivo Black"/>
                <a:cs typeface="Archivo Black"/>
                <a:sym typeface="Archivo Black"/>
              </a:rPr>
              <a:t>Scanner input</a:t>
            </a:r>
          </a:p>
        </p:txBody>
      </p:sp>
      <p:sp>
        <p:nvSpPr>
          <p:cNvPr name="TextBox 28" id="28"/>
          <p:cNvSpPr txBox="true"/>
          <p:nvPr/>
        </p:nvSpPr>
        <p:spPr>
          <a:xfrm rot="0">
            <a:off x="2801112" y="4178808"/>
            <a:ext cx="304800" cy="3619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879"/>
              </a:lnSpc>
            </a:pPr>
            <a:r>
              <a:rPr lang="en-US" sz="2400">
                <a:solidFill>
                  <a:srgbClr val="265BCD"/>
                </a:solidFill>
                <a:latin typeface="Archivo Black"/>
                <a:ea typeface="Archivo Black"/>
                <a:cs typeface="Archivo Black"/>
                <a:sym typeface="Archivo Black"/>
              </a:rPr>
              <a:t>→</a:t>
            </a:r>
          </a:p>
        </p:txBody>
      </p:sp>
      <p:grpSp>
        <p:nvGrpSpPr>
          <p:cNvPr name="Group 29" id="29"/>
          <p:cNvGrpSpPr/>
          <p:nvPr/>
        </p:nvGrpSpPr>
        <p:grpSpPr>
          <a:xfrm rot="0">
            <a:off x="3237233" y="3648713"/>
            <a:ext cx="1938023" cy="1526543"/>
            <a:chOff x="0" y="0"/>
            <a:chExt cx="2584031" cy="2035391"/>
          </a:xfrm>
        </p:grpSpPr>
        <p:sp>
          <p:nvSpPr>
            <p:cNvPr name="Freeform 30" id="30"/>
            <p:cNvSpPr/>
            <p:nvPr/>
          </p:nvSpPr>
          <p:spPr>
            <a:xfrm flipH="false" flipV="false" rot="0">
              <a:off x="0" y="0"/>
              <a:ext cx="2584069" cy="2035429"/>
            </a:xfrm>
            <a:custGeom>
              <a:avLst/>
              <a:gdLst/>
              <a:ahLst/>
              <a:cxnLst/>
              <a:rect r="r" b="b" t="t" l="l"/>
              <a:pathLst>
                <a:path h="2035429" w="2584069">
                  <a:moveTo>
                    <a:pt x="0" y="339217"/>
                  </a:moveTo>
                  <a:cubicBezTo>
                    <a:pt x="0" y="151892"/>
                    <a:pt x="151892" y="0"/>
                    <a:pt x="339217" y="0"/>
                  </a:cubicBezTo>
                  <a:lnTo>
                    <a:pt x="2244852" y="0"/>
                  </a:lnTo>
                  <a:cubicBezTo>
                    <a:pt x="2432177" y="0"/>
                    <a:pt x="2584069" y="151892"/>
                    <a:pt x="2584069" y="339217"/>
                  </a:cubicBezTo>
                  <a:lnTo>
                    <a:pt x="2584069" y="1696212"/>
                  </a:lnTo>
                  <a:cubicBezTo>
                    <a:pt x="2584069" y="1883537"/>
                    <a:pt x="2432177" y="2035429"/>
                    <a:pt x="2244852" y="2035429"/>
                  </a:cubicBezTo>
                  <a:lnTo>
                    <a:pt x="339217" y="2035429"/>
                  </a:lnTo>
                  <a:cubicBezTo>
                    <a:pt x="151892" y="2035429"/>
                    <a:pt x="0" y="1883537"/>
                    <a:pt x="0" y="1696212"/>
                  </a:cubicBezTo>
                  <a:close/>
                </a:path>
              </a:pathLst>
            </a:custGeom>
            <a:solidFill>
              <a:srgbClr val="EBF1FF"/>
            </a:solidFill>
            <a:ln w="17780" cap="sq">
              <a:solidFill>
                <a:srgbClr val="265BCD"/>
              </a:solidFill>
              <a:prstDash val="solid"/>
              <a:miter/>
            </a:ln>
          </p:spPr>
        </p:sp>
      </p:grpSp>
      <p:sp>
        <p:nvSpPr>
          <p:cNvPr name="TextBox 31" id="31"/>
          <p:cNvSpPr txBox="true"/>
          <p:nvPr/>
        </p:nvSpPr>
        <p:spPr>
          <a:xfrm rot="0">
            <a:off x="3429000" y="3830955"/>
            <a:ext cx="466344" cy="2000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559"/>
              </a:lnSpc>
            </a:pPr>
            <a:r>
              <a:rPr lang="en-US" sz="1299">
                <a:solidFill>
                  <a:srgbClr val="265BCD"/>
                </a:solidFill>
                <a:latin typeface="Archivo Black"/>
                <a:ea typeface="Archivo Black"/>
                <a:cs typeface="Archivo Black"/>
                <a:sym typeface="Archivo Black"/>
              </a:rPr>
              <a:t>02</a:t>
            </a:r>
          </a:p>
        </p:txBody>
      </p:sp>
      <p:sp>
        <p:nvSpPr>
          <p:cNvPr name="TextBox 32" id="32"/>
          <p:cNvSpPr txBox="true"/>
          <p:nvPr/>
        </p:nvSpPr>
        <p:spPr>
          <a:xfrm rot="0">
            <a:off x="3410712" y="4260723"/>
            <a:ext cx="1591056" cy="4667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800"/>
              </a:lnSpc>
            </a:pPr>
            <a:r>
              <a:rPr lang="en-US" sz="1500">
                <a:solidFill>
                  <a:srgbClr val="090E14"/>
                </a:solidFill>
                <a:latin typeface="Archivo Black"/>
                <a:ea typeface="Archivo Black"/>
                <a:cs typeface="Archivo Black"/>
                <a:sym typeface="Archivo Black"/>
              </a:rPr>
              <a:t>Validate subject count</a:t>
            </a:r>
          </a:p>
        </p:txBody>
      </p:sp>
      <p:sp>
        <p:nvSpPr>
          <p:cNvPr name="TextBox 33" id="33"/>
          <p:cNvSpPr txBox="true"/>
          <p:nvPr/>
        </p:nvSpPr>
        <p:spPr>
          <a:xfrm rot="0">
            <a:off x="5224272" y="4178808"/>
            <a:ext cx="304800" cy="3619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879"/>
              </a:lnSpc>
            </a:pPr>
            <a:r>
              <a:rPr lang="en-US" sz="2400">
                <a:solidFill>
                  <a:srgbClr val="265BCD"/>
                </a:solidFill>
                <a:latin typeface="Archivo Black"/>
                <a:ea typeface="Archivo Black"/>
                <a:cs typeface="Archivo Black"/>
                <a:sym typeface="Archivo Black"/>
              </a:rPr>
              <a:t>→</a:t>
            </a:r>
          </a:p>
        </p:txBody>
      </p:sp>
      <p:grpSp>
        <p:nvGrpSpPr>
          <p:cNvPr name="Group 34" id="34"/>
          <p:cNvGrpSpPr/>
          <p:nvPr/>
        </p:nvGrpSpPr>
        <p:grpSpPr>
          <a:xfrm rot="0">
            <a:off x="5660393" y="3648713"/>
            <a:ext cx="1938023" cy="1526543"/>
            <a:chOff x="0" y="0"/>
            <a:chExt cx="2584031" cy="2035391"/>
          </a:xfrm>
        </p:grpSpPr>
        <p:sp>
          <p:nvSpPr>
            <p:cNvPr name="Freeform 35" id="35"/>
            <p:cNvSpPr/>
            <p:nvPr/>
          </p:nvSpPr>
          <p:spPr>
            <a:xfrm flipH="false" flipV="false" rot="0">
              <a:off x="0" y="0"/>
              <a:ext cx="2584069" cy="2035429"/>
            </a:xfrm>
            <a:custGeom>
              <a:avLst/>
              <a:gdLst/>
              <a:ahLst/>
              <a:cxnLst/>
              <a:rect r="r" b="b" t="t" l="l"/>
              <a:pathLst>
                <a:path h="2035429" w="2584069">
                  <a:moveTo>
                    <a:pt x="0" y="339217"/>
                  </a:moveTo>
                  <a:cubicBezTo>
                    <a:pt x="0" y="151892"/>
                    <a:pt x="151892" y="0"/>
                    <a:pt x="339217" y="0"/>
                  </a:cubicBezTo>
                  <a:lnTo>
                    <a:pt x="2244852" y="0"/>
                  </a:lnTo>
                  <a:cubicBezTo>
                    <a:pt x="2432177" y="0"/>
                    <a:pt x="2584069" y="151892"/>
                    <a:pt x="2584069" y="339217"/>
                  </a:cubicBezTo>
                  <a:lnTo>
                    <a:pt x="2584069" y="1696212"/>
                  </a:lnTo>
                  <a:cubicBezTo>
                    <a:pt x="2584069" y="1883537"/>
                    <a:pt x="2432177" y="2035429"/>
                    <a:pt x="2244852" y="2035429"/>
                  </a:cubicBezTo>
                  <a:lnTo>
                    <a:pt x="339217" y="2035429"/>
                  </a:lnTo>
                  <a:cubicBezTo>
                    <a:pt x="151892" y="2035429"/>
                    <a:pt x="0" y="1883537"/>
                    <a:pt x="0" y="1696212"/>
                  </a:cubicBezTo>
                  <a:close/>
                </a:path>
              </a:pathLst>
            </a:custGeom>
            <a:solidFill>
              <a:srgbClr val="EBF1FF"/>
            </a:solidFill>
            <a:ln w="17780" cap="sq">
              <a:solidFill>
                <a:srgbClr val="265BCD"/>
              </a:solidFill>
              <a:prstDash val="solid"/>
              <a:miter/>
            </a:ln>
          </p:spPr>
        </p:sp>
      </p:grpSp>
      <p:sp>
        <p:nvSpPr>
          <p:cNvPr name="TextBox 36" id="36"/>
          <p:cNvSpPr txBox="true"/>
          <p:nvPr/>
        </p:nvSpPr>
        <p:spPr>
          <a:xfrm rot="0">
            <a:off x="5852160" y="3830955"/>
            <a:ext cx="466344" cy="2000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559"/>
              </a:lnSpc>
            </a:pPr>
            <a:r>
              <a:rPr lang="en-US" sz="1299">
                <a:solidFill>
                  <a:srgbClr val="265BCD"/>
                </a:solidFill>
                <a:latin typeface="Archivo Black"/>
                <a:ea typeface="Archivo Black"/>
                <a:cs typeface="Archivo Black"/>
                <a:sym typeface="Archivo Black"/>
              </a:rPr>
              <a:t>03</a:t>
            </a:r>
          </a:p>
        </p:txBody>
      </p:sp>
      <p:sp>
        <p:nvSpPr>
          <p:cNvPr name="TextBox 37" id="37"/>
          <p:cNvSpPr txBox="true"/>
          <p:nvPr/>
        </p:nvSpPr>
        <p:spPr>
          <a:xfrm rot="0">
            <a:off x="5833872" y="4260723"/>
            <a:ext cx="1591056" cy="2381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800"/>
              </a:lnSpc>
            </a:pPr>
            <a:r>
              <a:rPr lang="en-US" sz="1500">
                <a:solidFill>
                  <a:srgbClr val="090E14"/>
                </a:solidFill>
                <a:latin typeface="Archivo Black"/>
                <a:ea typeface="Archivo Black"/>
                <a:cs typeface="Archivo Black"/>
                <a:sym typeface="Archivo Black"/>
              </a:rPr>
              <a:t>Validate marks</a:t>
            </a:r>
          </a:p>
        </p:txBody>
      </p:sp>
      <p:sp>
        <p:nvSpPr>
          <p:cNvPr name="TextBox 38" id="38"/>
          <p:cNvSpPr txBox="true"/>
          <p:nvPr/>
        </p:nvSpPr>
        <p:spPr>
          <a:xfrm rot="0">
            <a:off x="7647432" y="4178808"/>
            <a:ext cx="304800" cy="3619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879"/>
              </a:lnSpc>
            </a:pPr>
            <a:r>
              <a:rPr lang="en-US" sz="2400">
                <a:solidFill>
                  <a:srgbClr val="265BCD"/>
                </a:solidFill>
                <a:latin typeface="Archivo Black"/>
                <a:ea typeface="Archivo Black"/>
                <a:cs typeface="Archivo Black"/>
                <a:sym typeface="Archivo Black"/>
              </a:rPr>
              <a:t>→</a:t>
            </a:r>
          </a:p>
        </p:txBody>
      </p:sp>
      <p:grpSp>
        <p:nvGrpSpPr>
          <p:cNvPr name="Group 39" id="39"/>
          <p:cNvGrpSpPr/>
          <p:nvPr/>
        </p:nvGrpSpPr>
        <p:grpSpPr>
          <a:xfrm rot="0">
            <a:off x="8083553" y="3648713"/>
            <a:ext cx="1938023" cy="1526543"/>
            <a:chOff x="0" y="0"/>
            <a:chExt cx="2584031" cy="2035391"/>
          </a:xfrm>
        </p:grpSpPr>
        <p:sp>
          <p:nvSpPr>
            <p:cNvPr name="Freeform 40" id="40"/>
            <p:cNvSpPr/>
            <p:nvPr/>
          </p:nvSpPr>
          <p:spPr>
            <a:xfrm flipH="false" flipV="false" rot="0">
              <a:off x="0" y="0"/>
              <a:ext cx="2584069" cy="2035429"/>
            </a:xfrm>
            <a:custGeom>
              <a:avLst/>
              <a:gdLst/>
              <a:ahLst/>
              <a:cxnLst/>
              <a:rect r="r" b="b" t="t" l="l"/>
              <a:pathLst>
                <a:path h="2035429" w="2584069">
                  <a:moveTo>
                    <a:pt x="0" y="339217"/>
                  </a:moveTo>
                  <a:cubicBezTo>
                    <a:pt x="0" y="151892"/>
                    <a:pt x="151892" y="0"/>
                    <a:pt x="339217" y="0"/>
                  </a:cubicBezTo>
                  <a:lnTo>
                    <a:pt x="2244852" y="0"/>
                  </a:lnTo>
                  <a:cubicBezTo>
                    <a:pt x="2432177" y="0"/>
                    <a:pt x="2584069" y="151892"/>
                    <a:pt x="2584069" y="339217"/>
                  </a:cubicBezTo>
                  <a:lnTo>
                    <a:pt x="2584069" y="1696212"/>
                  </a:lnTo>
                  <a:cubicBezTo>
                    <a:pt x="2584069" y="1883537"/>
                    <a:pt x="2432177" y="2035429"/>
                    <a:pt x="2244852" y="2035429"/>
                  </a:cubicBezTo>
                  <a:lnTo>
                    <a:pt x="339217" y="2035429"/>
                  </a:lnTo>
                  <a:cubicBezTo>
                    <a:pt x="151892" y="2035429"/>
                    <a:pt x="0" y="1883537"/>
                    <a:pt x="0" y="1696212"/>
                  </a:cubicBezTo>
                  <a:close/>
                </a:path>
              </a:pathLst>
            </a:custGeom>
            <a:solidFill>
              <a:srgbClr val="EBF1FF"/>
            </a:solidFill>
            <a:ln w="17780" cap="sq">
              <a:solidFill>
                <a:srgbClr val="265BCD"/>
              </a:solidFill>
              <a:prstDash val="solid"/>
              <a:miter/>
            </a:ln>
          </p:spPr>
        </p:sp>
      </p:grpSp>
      <p:sp>
        <p:nvSpPr>
          <p:cNvPr name="TextBox 41" id="41"/>
          <p:cNvSpPr txBox="true"/>
          <p:nvPr/>
        </p:nvSpPr>
        <p:spPr>
          <a:xfrm rot="0">
            <a:off x="8275320" y="3830955"/>
            <a:ext cx="466344" cy="2000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559"/>
              </a:lnSpc>
            </a:pPr>
            <a:r>
              <a:rPr lang="en-US" sz="1299">
                <a:solidFill>
                  <a:srgbClr val="265BCD"/>
                </a:solidFill>
                <a:latin typeface="Archivo Black"/>
                <a:ea typeface="Archivo Black"/>
                <a:cs typeface="Archivo Black"/>
                <a:sym typeface="Archivo Black"/>
              </a:rPr>
              <a:t>04</a:t>
            </a:r>
          </a:p>
        </p:txBody>
      </p:sp>
      <p:sp>
        <p:nvSpPr>
          <p:cNvPr name="TextBox 42" id="42"/>
          <p:cNvSpPr txBox="true"/>
          <p:nvPr/>
        </p:nvSpPr>
        <p:spPr>
          <a:xfrm rot="0">
            <a:off x="8257032" y="4260723"/>
            <a:ext cx="1591056" cy="4667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800"/>
              </a:lnSpc>
            </a:pPr>
            <a:r>
              <a:rPr lang="en-US" sz="1500">
                <a:solidFill>
                  <a:srgbClr val="090E14"/>
                </a:solidFill>
                <a:latin typeface="Archivo Black"/>
                <a:ea typeface="Archivo Black"/>
                <a:cs typeface="Archivo Black"/>
                <a:sym typeface="Archivo Black"/>
              </a:rPr>
              <a:t>Calculate total + average</a:t>
            </a:r>
          </a:p>
        </p:txBody>
      </p:sp>
      <p:sp>
        <p:nvSpPr>
          <p:cNvPr name="TextBox 43" id="43"/>
          <p:cNvSpPr txBox="true"/>
          <p:nvPr/>
        </p:nvSpPr>
        <p:spPr>
          <a:xfrm rot="0">
            <a:off x="10070592" y="4178808"/>
            <a:ext cx="304800" cy="3619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879"/>
              </a:lnSpc>
            </a:pPr>
            <a:r>
              <a:rPr lang="en-US" sz="2400">
                <a:solidFill>
                  <a:srgbClr val="265BCD"/>
                </a:solidFill>
                <a:latin typeface="Archivo Black"/>
                <a:ea typeface="Archivo Black"/>
                <a:cs typeface="Archivo Black"/>
                <a:sym typeface="Archivo Black"/>
              </a:rPr>
              <a:t>→</a:t>
            </a:r>
          </a:p>
        </p:txBody>
      </p:sp>
      <p:grpSp>
        <p:nvGrpSpPr>
          <p:cNvPr name="Group 44" id="44"/>
          <p:cNvGrpSpPr/>
          <p:nvPr/>
        </p:nvGrpSpPr>
        <p:grpSpPr>
          <a:xfrm rot="0">
            <a:off x="10506713" y="3648713"/>
            <a:ext cx="1938023" cy="1526543"/>
            <a:chOff x="0" y="0"/>
            <a:chExt cx="2584031" cy="2035391"/>
          </a:xfrm>
        </p:grpSpPr>
        <p:sp>
          <p:nvSpPr>
            <p:cNvPr name="Freeform 45" id="45"/>
            <p:cNvSpPr/>
            <p:nvPr/>
          </p:nvSpPr>
          <p:spPr>
            <a:xfrm flipH="false" flipV="false" rot="0">
              <a:off x="0" y="0"/>
              <a:ext cx="2584069" cy="2035429"/>
            </a:xfrm>
            <a:custGeom>
              <a:avLst/>
              <a:gdLst/>
              <a:ahLst/>
              <a:cxnLst/>
              <a:rect r="r" b="b" t="t" l="l"/>
              <a:pathLst>
                <a:path h="2035429" w="2584069">
                  <a:moveTo>
                    <a:pt x="0" y="339217"/>
                  </a:moveTo>
                  <a:cubicBezTo>
                    <a:pt x="0" y="151892"/>
                    <a:pt x="151892" y="0"/>
                    <a:pt x="339217" y="0"/>
                  </a:cubicBezTo>
                  <a:lnTo>
                    <a:pt x="2244852" y="0"/>
                  </a:lnTo>
                  <a:cubicBezTo>
                    <a:pt x="2432177" y="0"/>
                    <a:pt x="2584069" y="151892"/>
                    <a:pt x="2584069" y="339217"/>
                  </a:cubicBezTo>
                  <a:lnTo>
                    <a:pt x="2584069" y="1696212"/>
                  </a:lnTo>
                  <a:cubicBezTo>
                    <a:pt x="2584069" y="1883537"/>
                    <a:pt x="2432177" y="2035429"/>
                    <a:pt x="2244852" y="2035429"/>
                  </a:cubicBezTo>
                  <a:lnTo>
                    <a:pt x="339217" y="2035429"/>
                  </a:lnTo>
                  <a:cubicBezTo>
                    <a:pt x="151892" y="2035429"/>
                    <a:pt x="0" y="1883537"/>
                    <a:pt x="0" y="1696212"/>
                  </a:cubicBezTo>
                  <a:close/>
                </a:path>
              </a:pathLst>
            </a:custGeom>
            <a:solidFill>
              <a:srgbClr val="EBF1FF"/>
            </a:solidFill>
            <a:ln w="17780" cap="sq">
              <a:solidFill>
                <a:srgbClr val="265BCD"/>
              </a:solidFill>
              <a:prstDash val="solid"/>
              <a:miter/>
            </a:ln>
          </p:spPr>
        </p:sp>
      </p:grpSp>
      <p:sp>
        <p:nvSpPr>
          <p:cNvPr name="TextBox 46" id="46"/>
          <p:cNvSpPr txBox="true"/>
          <p:nvPr/>
        </p:nvSpPr>
        <p:spPr>
          <a:xfrm rot="0">
            <a:off x="10698480" y="3830955"/>
            <a:ext cx="466344" cy="2000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559"/>
              </a:lnSpc>
            </a:pPr>
            <a:r>
              <a:rPr lang="en-US" sz="1299">
                <a:solidFill>
                  <a:srgbClr val="265BCD"/>
                </a:solidFill>
                <a:latin typeface="Archivo Black"/>
                <a:ea typeface="Archivo Black"/>
                <a:cs typeface="Archivo Black"/>
                <a:sym typeface="Archivo Black"/>
              </a:rPr>
              <a:t>05</a:t>
            </a:r>
          </a:p>
        </p:txBody>
      </p:sp>
      <p:sp>
        <p:nvSpPr>
          <p:cNvPr name="TextBox 47" id="47"/>
          <p:cNvSpPr txBox="true"/>
          <p:nvPr/>
        </p:nvSpPr>
        <p:spPr>
          <a:xfrm rot="0">
            <a:off x="10680192" y="4260723"/>
            <a:ext cx="1591056" cy="2381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800"/>
              </a:lnSpc>
            </a:pPr>
            <a:r>
              <a:rPr lang="en-US" sz="1500">
                <a:solidFill>
                  <a:srgbClr val="090E14"/>
                </a:solidFill>
                <a:latin typeface="Archivo Black"/>
                <a:ea typeface="Archivo Black"/>
                <a:cs typeface="Archivo Black"/>
                <a:sym typeface="Archivo Black"/>
              </a:rPr>
              <a:t>Assign grade</a:t>
            </a:r>
          </a:p>
        </p:txBody>
      </p:sp>
      <p:sp>
        <p:nvSpPr>
          <p:cNvPr name="TextBox 48" id="48"/>
          <p:cNvSpPr txBox="true"/>
          <p:nvPr/>
        </p:nvSpPr>
        <p:spPr>
          <a:xfrm rot="0">
            <a:off x="12493752" y="4178808"/>
            <a:ext cx="304800" cy="3619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879"/>
              </a:lnSpc>
            </a:pPr>
            <a:r>
              <a:rPr lang="en-US" sz="2400">
                <a:solidFill>
                  <a:srgbClr val="265BCD"/>
                </a:solidFill>
                <a:latin typeface="Archivo Black"/>
                <a:ea typeface="Archivo Black"/>
                <a:cs typeface="Archivo Black"/>
                <a:sym typeface="Archivo Black"/>
              </a:rPr>
              <a:t>→</a:t>
            </a:r>
          </a:p>
        </p:txBody>
      </p:sp>
      <p:grpSp>
        <p:nvGrpSpPr>
          <p:cNvPr name="Group 49" id="49"/>
          <p:cNvGrpSpPr/>
          <p:nvPr/>
        </p:nvGrpSpPr>
        <p:grpSpPr>
          <a:xfrm rot="0">
            <a:off x="12929873" y="3648713"/>
            <a:ext cx="1938023" cy="1526543"/>
            <a:chOff x="0" y="0"/>
            <a:chExt cx="2584031" cy="2035391"/>
          </a:xfrm>
        </p:grpSpPr>
        <p:sp>
          <p:nvSpPr>
            <p:cNvPr name="Freeform 50" id="50"/>
            <p:cNvSpPr/>
            <p:nvPr/>
          </p:nvSpPr>
          <p:spPr>
            <a:xfrm flipH="false" flipV="false" rot="0">
              <a:off x="0" y="0"/>
              <a:ext cx="2584069" cy="2035429"/>
            </a:xfrm>
            <a:custGeom>
              <a:avLst/>
              <a:gdLst/>
              <a:ahLst/>
              <a:cxnLst/>
              <a:rect r="r" b="b" t="t" l="l"/>
              <a:pathLst>
                <a:path h="2035429" w="2584069">
                  <a:moveTo>
                    <a:pt x="0" y="339217"/>
                  </a:moveTo>
                  <a:cubicBezTo>
                    <a:pt x="0" y="151892"/>
                    <a:pt x="151892" y="0"/>
                    <a:pt x="339217" y="0"/>
                  </a:cubicBezTo>
                  <a:lnTo>
                    <a:pt x="2244852" y="0"/>
                  </a:lnTo>
                  <a:cubicBezTo>
                    <a:pt x="2432177" y="0"/>
                    <a:pt x="2584069" y="151892"/>
                    <a:pt x="2584069" y="339217"/>
                  </a:cubicBezTo>
                  <a:lnTo>
                    <a:pt x="2584069" y="1696212"/>
                  </a:lnTo>
                  <a:cubicBezTo>
                    <a:pt x="2584069" y="1883537"/>
                    <a:pt x="2432177" y="2035429"/>
                    <a:pt x="2244852" y="2035429"/>
                  </a:cubicBezTo>
                  <a:lnTo>
                    <a:pt x="339217" y="2035429"/>
                  </a:lnTo>
                  <a:cubicBezTo>
                    <a:pt x="151892" y="2035429"/>
                    <a:pt x="0" y="1883537"/>
                    <a:pt x="0" y="1696212"/>
                  </a:cubicBezTo>
                  <a:close/>
                </a:path>
              </a:pathLst>
            </a:custGeom>
            <a:solidFill>
              <a:srgbClr val="EBF1FF"/>
            </a:solidFill>
            <a:ln w="17780" cap="sq">
              <a:solidFill>
                <a:srgbClr val="265BCD"/>
              </a:solidFill>
              <a:prstDash val="solid"/>
              <a:miter/>
            </a:ln>
          </p:spPr>
        </p:sp>
      </p:grpSp>
      <p:sp>
        <p:nvSpPr>
          <p:cNvPr name="TextBox 51" id="51"/>
          <p:cNvSpPr txBox="true"/>
          <p:nvPr/>
        </p:nvSpPr>
        <p:spPr>
          <a:xfrm rot="0">
            <a:off x="13121640" y="3830955"/>
            <a:ext cx="466344" cy="2000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559"/>
              </a:lnSpc>
            </a:pPr>
            <a:r>
              <a:rPr lang="en-US" sz="1299">
                <a:solidFill>
                  <a:srgbClr val="265BCD"/>
                </a:solidFill>
                <a:latin typeface="Archivo Black"/>
                <a:ea typeface="Archivo Black"/>
                <a:cs typeface="Archivo Black"/>
                <a:sym typeface="Archivo Black"/>
              </a:rPr>
              <a:t>06</a:t>
            </a:r>
          </a:p>
        </p:txBody>
      </p:sp>
      <p:sp>
        <p:nvSpPr>
          <p:cNvPr name="TextBox 52" id="52"/>
          <p:cNvSpPr txBox="true"/>
          <p:nvPr/>
        </p:nvSpPr>
        <p:spPr>
          <a:xfrm rot="0">
            <a:off x="13103352" y="4260723"/>
            <a:ext cx="1591056" cy="4667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800"/>
              </a:lnSpc>
            </a:pPr>
            <a:r>
              <a:rPr lang="en-US" sz="1500">
                <a:solidFill>
                  <a:srgbClr val="090E14"/>
                </a:solidFill>
                <a:latin typeface="Archivo Black"/>
                <a:ea typeface="Archivo Black"/>
                <a:cs typeface="Archivo Black"/>
                <a:sym typeface="Archivo Black"/>
              </a:rPr>
              <a:t>Check 75% attendance</a:t>
            </a:r>
          </a:p>
        </p:txBody>
      </p:sp>
      <p:sp>
        <p:nvSpPr>
          <p:cNvPr name="TextBox 53" id="53"/>
          <p:cNvSpPr txBox="true"/>
          <p:nvPr/>
        </p:nvSpPr>
        <p:spPr>
          <a:xfrm rot="0">
            <a:off x="14916912" y="4178808"/>
            <a:ext cx="304800" cy="3619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879"/>
              </a:lnSpc>
            </a:pPr>
            <a:r>
              <a:rPr lang="en-US" sz="2400">
                <a:solidFill>
                  <a:srgbClr val="265BCD"/>
                </a:solidFill>
                <a:latin typeface="Archivo Black"/>
                <a:ea typeface="Archivo Black"/>
                <a:cs typeface="Archivo Black"/>
                <a:sym typeface="Archivo Black"/>
              </a:rPr>
              <a:t>→</a:t>
            </a:r>
          </a:p>
        </p:txBody>
      </p:sp>
      <p:grpSp>
        <p:nvGrpSpPr>
          <p:cNvPr name="Group 54" id="54"/>
          <p:cNvGrpSpPr/>
          <p:nvPr/>
        </p:nvGrpSpPr>
        <p:grpSpPr>
          <a:xfrm rot="0">
            <a:off x="15353033" y="3648713"/>
            <a:ext cx="1938023" cy="1526543"/>
            <a:chOff x="0" y="0"/>
            <a:chExt cx="2584031" cy="2035391"/>
          </a:xfrm>
        </p:grpSpPr>
        <p:sp>
          <p:nvSpPr>
            <p:cNvPr name="Freeform 55" id="55"/>
            <p:cNvSpPr/>
            <p:nvPr/>
          </p:nvSpPr>
          <p:spPr>
            <a:xfrm flipH="false" flipV="false" rot="0">
              <a:off x="0" y="0"/>
              <a:ext cx="2584069" cy="2035429"/>
            </a:xfrm>
            <a:custGeom>
              <a:avLst/>
              <a:gdLst/>
              <a:ahLst/>
              <a:cxnLst/>
              <a:rect r="r" b="b" t="t" l="l"/>
              <a:pathLst>
                <a:path h="2035429" w="2584069">
                  <a:moveTo>
                    <a:pt x="0" y="339217"/>
                  </a:moveTo>
                  <a:cubicBezTo>
                    <a:pt x="0" y="151892"/>
                    <a:pt x="151892" y="0"/>
                    <a:pt x="339217" y="0"/>
                  </a:cubicBezTo>
                  <a:lnTo>
                    <a:pt x="2244852" y="0"/>
                  </a:lnTo>
                  <a:cubicBezTo>
                    <a:pt x="2432177" y="0"/>
                    <a:pt x="2584069" y="151892"/>
                    <a:pt x="2584069" y="339217"/>
                  </a:cubicBezTo>
                  <a:lnTo>
                    <a:pt x="2584069" y="1696212"/>
                  </a:lnTo>
                  <a:cubicBezTo>
                    <a:pt x="2584069" y="1883537"/>
                    <a:pt x="2432177" y="2035429"/>
                    <a:pt x="2244852" y="2035429"/>
                  </a:cubicBezTo>
                  <a:lnTo>
                    <a:pt x="339217" y="2035429"/>
                  </a:lnTo>
                  <a:cubicBezTo>
                    <a:pt x="151892" y="2035429"/>
                    <a:pt x="0" y="1883537"/>
                    <a:pt x="0" y="1696212"/>
                  </a:cubicBezTo>
                  <a:close/>
                </a:path>
              </a:pathLst>
            </a:custGeom>
            <a:solidFill>
              <a:srgbClr val="FFFFFF"/>
            </a:solidFill>
            <a:ln w="17780" cap="sq">
              <a:solidFill>
                <a:srgbClr val="090E14"/>
              </a:solidFill>
              <a:prstDash val="solid"/>
              <a:miter/>
            </a:ln>
          </p:spPr>
        </p:sp>
      </p:grpSp>
      <p:sp>
        <p:nvSpPr>
          <p:cNvPr name="TextBox 56" id="56"/>
          <p:cNvSpPr txBox="true"/>
          <p:nvPr/>
        </p:nvSpPr>
        <p:spPr>
          <a:xfrm rot="0">
            <a:off x="15544800" y="3830955"/>
            <a:ext cx="466344" cy="2000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559"/>
              </a:lnSpc>
            </a:pPr>
            <a:r>
              <a:rPr lang="en-US" sz="1299">
                <a:solidFill>
                  <a:srgbClr val="265BCD"/>
                </a:solidFill>
                <a:latin typeface="Archivo Black"/>
                <a:ea typeface="Archivo Black"/>
                <a:cs typeface="Archivo Black"/>
                <a:sym typeface="Archivo Black"/>
              </a:rPr>
              <a:t>07</a:t>
            </a:r>
          </a:p>
        </p:txBody>
      </p:sp>
      <p:sp>
        <p:nvSpPr>
          <p:cNvPr name="TextBox 57" id="57"/>
          <p:cNvSpPr txBox="true"/>
          <p:nvPr/>
        </p:nvSpPr>
        <p:spPr>
          <a:xfrm rot="0">
            <a:off x="15526512" y="4260723"/>
            <a:ext cx="1591056" cy="2381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800"/>
              </a:lnSpc>
            </a:pPr>
            <a:r>
              <a:rPr lang="en-US" sz="1500">
                <a:solidFill>
                  <a:srgbClr val="090E14"/>
                </a:solidFill>
                <a:latin typeface="Archivo Black"/>
                <a:ea typeface="Archivo Black"/>
                <a:cs typeface="Archivo Black"/>
                <a:sym typeface="Archivo Black"/>
              </a:rPr>
              <a:t>Display report</a:t>
            </a:r>
          </a:p>
        </p:txBody>
      </p:sp>
      <p:grpSp>
        <p:nvGrpSpPr>
          <p:cNvPr name="Group 58" id="58"/>
          <p:cNvGrpSpPr/>
          <p:nvPr/>
        </p:nvGrpSpPr>
        <p:grpSpPr>
          <a:xfrm rot="0">
            <a:off x="3284858" y="6073778"/>
            <a:ext cx="4860293" cy="1477013"/>
            <a:chOff x="0" y="0"/>
            <a:chExt cx="6480391" cy="1969351"/>
          </a:xfrm>
        </p:grpSpPr>
        <p:sp>
          <p:nvSpPr>
            <p:cNvPr name="Freeform 59" id="59"/>
            <p:cNvSpPr/>
            <p:nvPr/>
          </p:nvSpPr>
          <p:spPr>
            <a:xfrm flipH="false" flipV="false" rot="0">
              <a:off x="0" y="0"/>
              <a:ext cx="6480302" cy="1969262"/>
            </a:xfrm>
            <a:custGeom>
              <a:avLst/>
              <a:gdLst/>
              <a:ahLst/>
              <a:cxnLst/>
              <a:rect r="r" b="b" t="t" l="l"/>
              <a:pathLst>
                <a:path h="1969262" w="6480302">
                  <a:moveTo>
                    <a:pt x="0" y="328168"/>
                  </a:moveTo>
                  <a:cubicBezTo>
                    <a:pt x="0" y="146939"/>
                    <a:pt x="146939" y="0"/>
                    <a:pt x="328168" y="0"/>
                  </a:cubicBezTo>
                  <a:lnTo>
                    <a:pt x="6152134" y="0"/>
                  </a:lnTo>
                  <a:cubicBezTo>
                    <a:pt x="6333363" y="0"/>
                    <a:pt x="6480302" y="146939"/>
                    <a:pt x="6480302" y="328168"/>
                  </a:cubicBezTo>
                  <a:lnTo>
                    <a:pt x="6480302" y="1641094"/>
                  </a:lnTo>
                  <a:cubicBezTo>
                    <a:pt x="6480302" y="1822323"/>
                    <a:pt x="6333363" y="1969262"/>
                    <a:pt x="6152134" y="1969262"/>
                  </a:cubicBezTo>
                  <a:lnTo>
                    <a:pt x="328168" y="1969262"/>
                  </a:lnTo>
                  <a:cubicBezTo>
                    <a:pt x="146939" y="1969389"/>
                    <a:pt x="0" y="1822450"/>
                    <a:pt x="0" y="1641094"/>
                  </a:cubicBezTo>
                  <a:close/>
                </a:path>
              </a:pathLst>
            </a:custGeom>
            <a:solidFill>
              <a:srgbClr val="FFFFFF"/>
            </a:solidFill>
            <a:ln w="13970" cap="sq">
              <a:solidFill>
                <a:srgbClr val="D7DFEC"/>
              </a:solidFill>
              <a:prstDash val="solid"/>
              <a:miter/>
            </a:ln>
          </p:spPr>
        </p:sp>
      </p:grpSp>
      <p:sp>
        <p:nvSpPr>
          <p:cNvPr name="TextBox 60" id="60"/>
          <p:cNvSpPr txBox="true"/>
          <p:nvPr/>
        </p:nvSpPr>
        <p:spPr>
          <a:xfrm rot="0">
            <a:off x="3511296" y="6254115"/>
            <a:ext cx="4462272" cy="2762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60"/>
              </a:lnSpc>
            </a:pPr>
            <a:r>
              <a:rPr lang="en-US" sz="1800">
                <a:solidFill>
                  <a:srgbClr val="090E14"/>
                </a:solidFill>
                <a:latin typeface="Archivo Black"/>
                <a:ea typeface="Archivo Black"/>
                <a:cs typeface="Archivo Black"/>
                <a:sym typeface="Archivo Black"/>
              </a:rPr>
              <a:t>WHY THIS DESIGN?</a:t>
            </a:r>
          </a:p>
        </p:txBody>
      </p:sp>
      <p:sp>
        <p:nvSpPr>
          <p:cNvPr name="TextBox 61" id="61"/>
          <p:cNvSpPr txBox="true"/>
          <p:nvPr/>
        </p:nvSpPr>
        <p:spPr>
          <a:xfrm rot="0">
            <a:off x="3511296" y="6683883"/>
            <a:ext cx="4443984" cy="7239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19"/>
              </a:lnSpc>
            </a:pPr>
            <a:r>
              <a:rPr lang="en-US" sz="1599">
                <a:solidFill>
                  <a:srgbClr val="585F6A"/>
                </a:solidFill>
                <a:latin typeface="Archivo Black"/>
                <a:ea typeface="Archivo Black"/>
                <a:cs typeface="Archivo Black"/>
                <a:sym typeface="Archivo Black"/>
              </a:rPr>
              <a:t>Simple control flow, clear validation, and direct console output make the project easy to trace.</a:t>
            </a:r>
          </a:p>
        </p:txBody>
      </p:sp>
      <p:grpSp>
        <p:nvGrpSpPr>
          <p:cNvPr name="Group 62" id="62"/>
          <p:cNvGrpSpPr/>
          <p:nvPr/>
        </p:nvGrpSpPr>
        <p:grpSpPr>
          <a:xfrm rot="0">
            <a:off x="8451218" y="6073778"/>
            <a:ext cx="4860293" cy="1477013"/>
            <a:chOff x="0" y="0"/>
            <a:chExt cx="6480391" cy="1969351"/>
          </a:xfrm>
        </p:grpSpPr>
        <p:sp>
          <p:nvSpPr>
            <p:cNvPr name="Freeform 63" id="63"/>
            <p:cNvSpPr/>
            <p:nvPr/>
          </p:nvSpPr>
          <p:spPr>
            <a:xfrm flipH="false" flipV="false" rot="0">
              <a:off x="0" y="0"/>
              <a:ext cx="6480302" cy="1969262"/>
            </a:xfrm>
            <a:custGeom>
              <a:avLst/>
              <a:gdLst/>
              <a:ahLst/>
              <a:cxnLst/>
              <a:rect r="r" b="b" t="t" l="l"/>
              <a:pathLst>
                <a:path h="1969262" w="6480302">
                  <a:moveTo>
                    <a:pt x="0" y="328168"/>
                  </a:moveTo>
                  <a:cubicBezTo>
                    <a:pt x="0" y="146939"/>
                    <a:pt x="146939" y="0"/>
                    <a:pt x="328168" y="0"/>
                  </a:cubicBezTo>
                  <a:lnTo>
                    <a:pt x="6152134" y="0"/>
                  </a:lnTo>
                  <a:cubicBezTo>
                    <a:pt x="6333363" y="0"/>
                    <a:pt x="6480302" y="146939"/>
                    <a:pt x="6480302" y="328168"/>
                  </a:cubicBezTo>
                  <a:lnTo>
                    <a:pt x="6480302" y="1641094"/>
                  </a:lnTo>
                  <a:cubicBezTo>
                    <a:pt x="6480302" y="1822323"/>
                    <a:pt x="6333363" y="1969262"/>
                    <a:pt x="6152134" y="1969262"/>
                  </a:cubicBezTo>
                  <a:lnTo>
                    <a:pt x="328168" y="1969262"/>
                  </a:lnTo>
                  <a:cubicBezTo>
                    <a:pt x="146939" y="1969389"/>
                    <a:pt x="0" y="1822450"/>
                    <a:pt x="0" y="1641094"/>
                  </a:cubicBezTo>
                  <a:close/>
                </a:path>
              </a:pathLst>
            </a:custGeom>
            <a:solidFill>
              <a:srgbClr val="FFFFFF"/>
            </a:solidFill>
            <a:ln w="13970" cap="sq">
              <a:solidFill>
                <a:srgbClr val="D7DFEC"/>
              </a:solidFill>
              <a:prstDash val="solid"/>
              <a:miter/>
            </a:ln>
          </p:spPr>
        </p:sp>
      </p:grpSp>
      <p:sp>
        <p:nvSpPr>
          <p:cNvPr name="TextBox 64" id="64"/>
          <p:cNvSpPr txBox="true"/>
          <p:nvPr/>
        </p:nvSpPr>
        <p:spPr>
          <a:xfrm rot="0">
            <a:off x="8677656" y="6254115"/>
            <a:ext cx="4462272" cy="2762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60"/>
              </a:lnSpc>
            </a:pPr>
            <a:r>
              <a:rPr lang="en-US" sz="1800">
                <a:solidFill>
                  <a:srgbClr val="090E14"/>
                </a:solidFill>
                <a:latin typeface="Archivo Black"/>
                <a:ea typeface="Archivo Black"/>
                <a:cs typeface="Archivo Black"/>
                <a:sym typeface="Archivo Black"/>
              </a:rPr>
              <a:t>CORE JAVA CONCEPTS</a:t>
            </a:r>
          </a:p>
        </p:txBody>
      </p:sp>
      <p:sp>
        <p:nvSpPr>
          <p:cNvPr name="TextBox 65" id="65"/>
          <p:cNvSpPr txBox="true"/>
          <p:nvPr/>
        </p:nvSpPr>
        <p:spPr>
          <a:xfrm rot="0">
            <a:off x="8677656" y="6683883"/>
            <a:ext cx="4443984" cy="7239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19"/>
              </a:lnSpc>
            </a:pPr>
            <a:r>
              <a:rPr lang="en-US" sz="1599">
                <a:solidFill>
                  <a:srgbClr val="585F6A"/>
                </a:solidFill>
                <a:latin typeface="Archivo Black"/>
                <a:ea typeface="Archivo Black"/>
                <a:cs typeface="Archivo Black"/>
                <a:sym typeface="Archivo Black"/>
              </a:rPr>
              <a:t>Scanner, while loop, for loop, arithmetic, if-else, else-if ladder, and String output.</a:t>
            </a:r>
          </a:p>
        </p:txBody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3" id="3" descr="bg.jpeg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-3364" r="0" b="-3364"/>
              </a:stretch>
            </a:blipFill>
          </p:spPr>
        </p:sp>
      </p:grpSp>
      <p:grpSp>
        <p:nvGrpSpPr>
          <p:cNvPr name="Group 4" id="4"/>
          <p:cNvGrpSpPr/>
          <p:nvPr/>
        </p:nvGrpSpPr>
        <p:grpSpPr>
          <a:xfrm rot="2700000">
            <a:off x="16504920" y="73152"/>
            <a:ext cx="54864" cy="530352"/>
            <a:chOff x="0" y="0"/>
            <a:chExt cx="73152" cy="707136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73152" cy="707136"/>
            </a:xfrm>
            <a:custGeom>
              <a:avLst/>
              <a:gdLst/>
              <a:ahLst/>
              <a:cxnLst/>
              <a:rect r="r" b="b" t="t" l="l"/>
              <a:pathLst>
                <a:path h="707136" w="73152">
                  <a:moveTo>
                    <a:pt x="0" y="0"/>
                  </a:moveTo>
                  <a:lnTo>
                    <a:pt x="73152" y="0"/>
                  </a:lnTo>
                  <a:lnTo>
                    <a:pt x="73152" y="707136"/>
                  </a:lnTo>
                  <a:lnTo>
                    <a:pt x="0" y="707136"/>
                  </a:lnTo>
                  <a:close/>
                </a:path>
              </a:pathLst>
            </a:custGeom>
            <a:solidFill>
              <a:srgbClr val="090E14"/>
            </a:solidFill>
          </p:spPr>
        </p:sp>
      </p:grpSp>
      <p:grpSp>
        <p:nvGrpSpPr>
          <p:cNvPr name="Group 6" id="6"/>
          <p:cNvGrpSpPr/>
          <p:nvPr/>
        </p:nvGrpSpPr>
        <p:grpSpPr>
          <a:xfrm rot="2700000">
            <a:off x="16934688" y="420624"/>
            <a:ext cx="54864" cy="530352"/>
            <a:chOff x="0" y="0"/>
            <a:chExt cx="73152" cy="707136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73152" cy="707136"/>
            </a:xfrm>
            <a:custGeom>
              <a:avLst/>
              <a:gdLst/>
              <a:ahLst/>
              <a:cxnLst/>
              <a:rect r="r" b="b" t="t" l="l"/>
              <a:pathLst>
                <a:path h="707136" w="73152">
                  <a:moveTo>
                    <a:pt x="0" y="0"/>
                  </a:moveTo>
                  <a:lnTo>
                    <a:pt x="73152" y="0"/>
                  </a:lnTo>
                  <a:lnTo>
                    <a:pt x="73152" y="707136"/>
                  </a:lnTo>
                  <a:lnTo>
                    <a:pt x="0" y="707136"/>
                  </a:lnTo>
                  <a:close/>
                </a:path>
              </a:pathLst>
            </a:custGeom>
            <a:solidFill>
              <a:srgbClr val="090E14"/>
            </a:solidFill>
          </p:spPr>
        </p:sp>
      </p:grpSp>
      <p:grpSp>
        <p:nvGrpSpPr>
          <p:cNvPr name="Group 8" id="8"/>
          <p:cNvGrpSpPr/>
          <p:nvPr/>
        </p:nvGrpSpPr>
        <p:grpSpPr>
          <a:xfrm rot="2700000">
            <a:off x="17364456" y="768096"/>
            <a:ext cx="54864" cy="530352"/>
            <a:chOff x="0" y="0"/>
            <a:chExt cx="73152" cy="707136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73152" cy="707136"/>
            </a:xfrm>
            <a:custGeom>
              <a:avLst/>
              <a:gdLst/>
              <a:ahLst/>
              <a:cxnLst/>
              <a:rect r="r" b="b" t="t" l="l"/>
              <a:pathLst>
                <a:path h="707136" w="73152">
                  <a:moveTo>
                    <a:pt x="0" y="0"/>
                  </a:moveTo>
                  <a:lnTo>
                    <a:pt x="73152" y="0"/>
                  </a:lnTo>
                  <a:lnTo>
                    <a:pt x="73152" y="707136"/>
                  </a:lnTo>
                  <a:lnTo>
                    <a:pt x="0" y="707136"/>
                  </a:lnTo>
                  <a:close/>
                </a:path>
              </a:pathLst>
            </a:custGeom>
            <a:solidFill>
              <a:srgbClr val="090E14"/>
            </a:solidFill>
          </p:spPr>
        </p:sp>
      </p:grpSp>
      <p:grpSp>
        <p:nvGrpSpPr>
          <p:cNvPr name="Group 10" id="10"/>
          <p:cNvGrpSpPr/>
          <p:nvPr/>
        </p:nvGrpSpPr>
        <p:grpSpPr>
          <a:xfrm rot="2700000">
            <a:off x="17794224" y="1115568"/>
            <a:ext cx="54864" cy="530352"/>
            <a:chOff x="0" y="0"/>
            <a:chExt cx="73152" cy="707136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73152" cy="707136"/>
            </a:xfrm>
            <a:custGeom>
              <a:avLst/>
              <a:gdLst/>
              <a:ahLst/>
              <a:cxnLst/>
              <a:rect r="r" b="b" t="t" l="l"/>
              <a:pathLst>
                <a:path h="707136" w="73152">
                  <a:moveTo>
                    <a:pt x="0" y="0"/>
                  </a:moveTo>
                  <a:lnTo>
                    <a:pt x="73152" y="0"/>
                  </a:lnTo>
                  <a:lnTo>
                    <a:pt x="73152" y="707136"/>
                  </a:lnTo>
                  <a:lnTo>
                    <a:pt x="0" y="707136"/>
                  </a:lnTo>
                  <a:close/>
                </a:path>
              </a:pathLst>
            </a:custGeom>
            <a:solidFill>
              <a:srgbClr val="090E14"/>
            </a:solidFill>
          </p:spPr>
        </p:sp>
      </p:grpSp>
      <p:grpSp>
        <p:nvGrpSpPr>
          <p:cNvPr name="Group 12" id="12"/>
          <p:cNvGrpSpPr/>
          <p:nvPr/>
        </p:nvGrpSpPr>
        <p:grpSpPr>
          <a:xfrm rot="2700000">
            <a:off x="18223992" y="1463040"/>
            <a:ext cx="54864" cy="530352"/>
            <a:chOff x="0" y="0"/>
            <a:chExt cx="73152" cy="707136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73152" cy="707136"/>
            </a:xfrm>
            <a:custGeom>
              <a:avLst/>
              <a:gdLst/>
              <a:ahLst/>
              <a:cxnLst/>
              <a:rect r="r" b="b" t="t" l="l"/>
              <a:pathLst>
                <a:path h="707136" w="73152">
                  <a:moveTo>
                    <a:pt x="0" y="0"/>
                  </a:moveTo>
                  <a:lnTo>
                    <a:pt x="73152" y="0"/>
                  </a:lnTo>
                  <a:lnTo>
                    <a:pt x="73152" y="707136"/>
                  </a:lnTo>
                  <a:lnTo>
                    <a:pt x="0" y="707136"/>
                  </a:lnTo>
                  <a:close/>
                </a:path>
              </a:pathLst>
            </a:custGeom>
            <a:solidFill>
              <a:srgbClr val="090E14"/>
            </a:solidFill>
          </p:spPr>
        </p:sp>
      </p:grpSp>
      <p:grpSp>
        <p:nvGrpSpPr>
          <p:cNvPr name="Group 14" id="14"/>
          <p:cNvGrpSpPr/>
          <p:nvPr/>
        </p:nvGrpSpPr>
        <p:grpSpPr>
          <a:xfrm rot="2700000">
            <a:off x="18653760" y="1810512"/>
            <a:ext cx="54864" cy="530352"/>
            <a:chOff x="0" y="0"/>
            <a:chExt cx="73152" cy="707136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73152" cy="707136"/>
            </a:xfrm>
            <a:custGeom>
              <a:avLst/>
              <a:gdLst/>
              <a:ahLst/>
              <a:cxnLst/>
              <a:rect r="r" b="b" t="t" l="l"/>
              <a:pathLst>
                <a:path h="707136" w="73152">
                  <a:moveTo>
                    <a:pt x="0" y="0"/>
                  </a:moveTo>
                  <a:lnTo>
                    <a:pt x="73152" y="0"/>
                  </a:lnTo>
                  <a:lnTo>
                    <a:pt x="73152" y="707136"/>
                  </a:lnTo>
                  <a:lnTo>
                    <a:pt x="0" y="707136"/>
                  </a:lnTo>
                  <a:close/>
                </a:path>
              </a:pathLst>
            </a:custGeom>
            <a:solidFill>
              <a:srgbClr val="090E14"/>
            </a:solidFill>
          </p:spPr>
        </p:sp>
      </p:grpSp>
      <p:grpSp>
        <p:nvGrpSpPr>
          <p:cNvPr name="Group 16" id="16"/>
          <p:cNvGrpSpPr/>
          <p:nvPr/>
        </p:nvGrpSpPr>
        <p:grpSpPr>
          <a:xfrm rot="2700000">
            <a:off x="19083528" y="2157984"/>
            <a:ext cx="54864" cy="530352"/>
            <a:chOff x="0" y="0"/>
            <a:chExt cx="73152" cy="707136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73152" cy="707136"/>
            </a:xfrm>
            <a:custGeom>
              <a:avLst/>
              <a:gdLst/>
              <a:ahLst/>
              <a:cxnLst/>
              <a:rect r="r" b="b" t="t" l="l"/>
              <a:pathLst>
                <a:path h="707136" w="73152">
                  <a:moveTo>
                    <a:pt x="0" y="0"/>
                  </a:moveTo>
                  <a:lnTo>
                    <a:pt x="73152" y="0"/>
                  </a:lnTo>
                  <a:lnTo>
                    <a:pt x="73152" y="707136"/>
                  </a:lnTo>
                  <a:lnTo>
                    <a:pt x="0" y="707136"/>
                  </a:lnTo>
                  <a:close/>
                </a:path>
              </a:pathLst>
            </a:custGeom>
            <a:solidFill>
              <a:srgbClr val="090E14"/>
            </a:solidFill>
          </p:spPr>
        </p:sp>
      </p:grpSp>
      <p:sp>
        <p:nvSpPr>
          <p:cNvPr name="TextBox 18" id="18"/>
          <p:cNvSpPr txBox="true"/>
          <p:nvPr/>
        </p:nvSpPr>
        <p:spPr>
          <a:xfrm rot="0">
            <a:off x="978408" y="575691"/>
            <a:ext cx="12673584" cy="5524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320"/>
              </a:lnSpc>
            </a:pPr>
            <a:r>
              <a:rPr lang="en-US" sz="3600">
                <a:solidFill>
                  <a:srgbClr val="090E14"/>
                </a:solidFill>
                <a:latin typeface="Archivo Black"/>
                <a:ea typeface="Archivo Black"/>
                <a:cs typeface="Archivo Black"/>
                <a:sym typeface="Archivo Black"/>
              </a:rPr>
              <a:t>6. System Architecture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1005840" y="1343406"/>
            <a:ext cx="14228064" cy="2762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040"/>
              </a:lnSpc>
            </a:pPr>
            <a:r>
              <a:rPr lang="en-US" sz="1700">
                <a:solidFill>
                  <a:srgbClr val="585F6A"/>
                </a:solidFill>
                <a:latin typeface="Archivo Black"/>
                <a:ea typeface="Archivo Black"/>
                <a:cs typeface="Archivo Black"/>
                <a:sym typeface="Archivo Black"/>
              </a:rPr>
              <a:t>Data flows from user input to the final student report</a:t>
            </a:r>
          </a:p>
        </p:txBody>
      </p:sp>
      <p:grpSp>
        <p:nvGrpSpPr>
          <p:cNvPr name="Group 20" id="20"/>
          <p:cNvGrpSpPr/>
          <p:nvPr/>
        </p:nvGrpSpPr>
        <p:grpSpPr>
          <a:xfrm rot="0">
            <a:off x="987552" y="1755648"/>
            <a:ext cx="1051560" cy="50292"/>
            <a:chOff x="0" y="0"/>
            <a:chExt cx="1402080" cy="67056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1402080" cy="67056"/>
            </a:xfrm>
            <a:custGeom>
              <a:avLst/>
              <a:gdLst/>
              <a:ahLst/>
              <a:cxnLst/>
              <a:rect r="r" b="b" t="t" l="l"/>
              <a:pathLst>
                <a:path h="67056" w="1402080">
                  <a:moveTo>
                    <a:pt x="0" y="0"/>
                  </a:moveTo>
                  <a:lnTo>
                    <a:pt x="1402080" y="0"/>
                  </a:lnTo>
                  <a:lnTo>
                    <a:pt x="1402080" y="67056"/>
                  </a:lnTo>
                  <a:lnTo>
                    <a:pt x="0" y="67056"/>
                  </a:lnTo>
                  <a:close/>
                </a:path>
              </a:pathLst>
            </a:custGeom>
            <a:solidFill>
              <a:srgbClr val="265BCD"/>
            </a:solidFill>
          </p:spPr>
        </p:sp>
      </p:grpSp>
      <p:grpSp>
        <p:nvGrpSpPr>
          <p:cNvPr name="Group 22" id="22"/>
          <p:cNvGrpSpPr/>
          <p:nvPr/>
        </p:nvGrpSpPr>
        <p:grpSpPr>
          <a:xfrm rot="0">
            <a:off x="907418" y="3650618"/>
            <a:ext cx="2391413" cy="1248413"/>
            <a:chOff x="0" y="0"/>
            <a:chExt cx="3188551" cy="1664551"/>
          </a:xfrm>
        </p:grpSpPr>
        <p:sp>
          <p:nvSpPr>
            <p:cNvPr name="Freeform 23" id="23"/>
            <p:cNvSpPr/>
            <p:nvPr/>
          </p:nvSpPr>
          <p:spPr>
            <a:xfrm flipH="false" flipV="false" rot="0">
              <a:off x="0" y="0"/>
              <a:ext cx="3188462" cy="1664462"/>
            </a:xfrm>
            <a:custGeom>
              <a:avLst/>
              <a:gdLst/>
              <a:ahLst/>
              <a:cxnLst/>
              <a:rect r="r" b="b" t="t" l="l"/>
              <a:pathLst>
                <a:path h="1664462" w="3188462">
                  <a:moveTo>
                    <a:pt x="0" y="277368"/>
                  </a:moveTo>
                  <a:cubicBezTo>
                    <a:pt x="0" y="124206"/>
                    <a:pt x="124206" y="0"/>
                    <a:pt x="277368" y="0"/>
                  </a:cubicBezTo>
                  <a:lnTo>
                    <a:pt x="2911094" y="0"/>
                  </a:lnTo>
                  <a:cubicBezTo>
                    <a:pt x="3064256" y="0"/>
                    <a:pt x="3188462" y="124206"/>
                    <a:pt x="3188462" y="277368"/>
                  </a:cubicBezTo>
                  <a:lnTo>
                    <a:pt x="3188462" y="1387094"/>
                  </a:lnTo>
                  <a:cubicBezTo>
                    <a:pt x="3188462" y="1540256"/>
                    <a:pt x="3064256" y="1664462"/>
                    <a:pt x="2911094" y="1664462"/>
                  </a:cubicBezTo>
                  <a:lnTo>
                    <a:pt x="277368" y="1664462"/>
                  </a:lnTo>
                  <a:cubicBezTo>
                    <a:pt x="124206" y="1664589"/>
                    <a:pt x="0" y="1540383"/>
                    <a:pt x="0" y="1387094"/>
                  </a:cubicBezTo>
                  <a:close/>
                </a:path>
              </a:pathLst>
            </a:custGeom>
            <a:solidFill>
              <a:srgbClr val="FFFFFF"/>
            </a:solidFill>
            <a:ln w="13970" cap="sq">
              <a:solidFill>
                <a:srgbClr val="D7DFEC"/>
              </a:solidFill>
              <a:prstDash val="solid"/>
              <a:miter/>
            </a:ln>
          </p:spPr>
        </p:sp>
      </p:grpSp>
      <p:sp>
        <p:nvSpPr>
          <p:cNvPr name="TextBox 24" id="24"/>
          <p:cNvSpPr txBox="true"/>
          <p:nvPr/>
        </p:nvSpPr>
        <p:spPr>
          <a:xfrm rot="0">
            <a:off x="1133856" y="3830955"/>
            <a:ext cx="1993392" cy="2381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00"/>
              </a:lnSpc>
            </a:pPr>
            <a:r>
              <a:rPr lang="en-US" sz="1500">
                <a:solidFill>
                  <a:srgbClr val="090E14"/>
                </a:solidFill>
                <a:latin typeface="Archivo Black"/>
                <a:ea typeface="Archivo Black"/>
                <a:cs typeface="Archivo Black"/>
                <a:sym typeface="Archivo Black"/>
              </a:rPr>
              <a:t>USER</a:t>
            </a:r>
          </a:p>
        </p:txBody>
      </p:sp>
      <p:sp>
        <p:nvSpPr>
          <p:cNvPr name="TextBox 25" id="25"/>
          <p:cNvSpPr txBox="true"/>
          <p:nvPr/>
        </p:nvSpPr>
        <p:spPr>
          <a:xfrm rot="0">
            <a:off x="1133856" y="4260723"/>
            <a:ext cx="1975104" cy="2190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80"/>
              </a:lnSpc>
            </a:pPr>
            <a:r>
              <a:rPr lang="en-US" sz="1400">
                <a:solidFill>
                  <a:srgbClr val="585F6A"/>
                </a:solidFill>
                <a:latin typeface="Archivo Black"/>
                <a:ea typeface="Archivo Black"/>
                <a:cs typeface="Archivo Black"/>
                <a:sym typeface="Archivo Black"/>
              </a:rPr>
              <a:t>Student / operator</a:t>
            </a:r>
          </a:p>
        </p:txBody>
      </p:sp>
      <p:grpSp>
        <p:nvGrpSpPr>
          <p:cNvPr name="Group 26" id="26"/>
          <p:cNvGrpSpPr/>
          <p:nvPr/>
        </p:nvGrpSpPr>
        <p:grpSpPr>
          <a:xfrm rot="0">
            <a:off x="3787778" y="3239138"/>
            <a:ext cx="3214373" cy="2071373"/>
            <a:chOff x="0" y="0"/>
            <a:chExt cx="4285831" cy="2761831"/>
          </a:xfrm>
        </p:grpSpPr>
        <p:sp>
          <p:nvSpPr>
            <p:cNvPr name="Freeform 27" id="27"/>
            <p:cNvSpPr/>
            <p:nvPr/>
          </p:nvSpPr>
          <p:spPr>
            <a:xfrm flipH="false" flipV="false" rot="0">
              <a:off x="0" y="0"/>
              <a:ext cx="4285869" cy="2761869"/>
            </a:xfrm>
            <a:custGeom>
              <a:avLst/>
              <a:gdLst/>
              <a:ahLst/>
              <a:cxnLst/>
              <a:rect r="r" b="b" t="t" l="l"/>
              <a:pathLst>
                <a:path h="2761869" w="4285869">
                  <a:moveTo>
                    <a:pt x="0" y="460375"/>
                  </a:moveTo>
                  <a:cubicBezTo>
                    <a:pt x="0" y="206121"/>
                    <a:pt x="206121" y="0"/>
                    <a:pt x="460375" y="0"/>
                  </a:cubicBezTo>
                  <a:lnTo>
                    <a:pt x="3825494" y="0"/>
                  </a:lnTo>
                  <a:cubicBezTo>
                    <a:pt x="4079748" y="0"/>
                    <a:pt x="4285869" y="206121"/>
                    <a:pt x="4285869" y="460375"/>
                  </a:cubicBezTo>
                  <a:lnTo>
                    <a:pt x="4285869" y="2301494"/>
                  </a:lnTo>
                  <a:cubicBezTo>
                    <a:pt x="4285869" y="2555748"/>
                    <a:pt x="4079748" y="2761869"/>
                    <a:pt x="3825494" y="2761869"/>
                  </a:cubicBezTo>
                  <a:lnTo>
                    <a:pt x="460375" y="2761869"/>
                  </a:lnTo>
                  <a:cubicBezTo>
                    <a:pt x="206121" y="2761869"/>
                    <a:pt x="0" y="2555748"/>
                    <a:pt x="0" y="2301494"/>
                  </a:cubicBezTo>
                  <a:close/>
                </a:path>
              </a:pathLst>
            </a:custGeom>
            <a:solidFill>
              <a:srgbClr val="FFFFFF"/>
            </a:solidFill>
            <a:ln w="13970" cap="sq">
              <a:solidFill>
                <a:srgbClr val="D7DFEC"/>
              </a:solidFill>
              <a:prstDash val="solid"/>
              <a:miter/>
            </a:ln>
          </p:spPr>
        </p:sp>
      </p:grpSp>
      <p:sp>
        <p:nvSpPr>
          <p:cNvPr name="TextBox 28" id="28"/>
          <p:cNvSpPr txBox="true"/>
          <p:nvPr/>
        </p:nvSpPr>
        <p:spPr>
          <a:xfrm rot="0">
            <a:off x="4014216" y="3419475"/>
            <a:ext cx="2816352" cy="2381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00"/>
              </a:lnSpc>
            </a:pPr>
            <a:r>
              <a:rPr lang="en-US" sz="1500">
                <a:solidFill>
                  <a:srgbClr val="090E14"/>
                </a:solidFill>
                <a:latin typeface="Archivo Black"/>
                <a:ea typeface="Archivo Black"/>
                <a:cs typeface="Archivo Black"/>
                <a:sym typeface="Archivo Black"/>
              </a:rPr>
              <a:t>INPUT</a:t>
            </a:r>
          </a:p>
        </p:txBody>
      </p:sp>
      <p:sp>
        <p:nvSpPr>
          <p:cNvPr name="TextBox 29" id="29"/>
          <p:cNvSpPr txBox="true"/>
          <p:nvPr/>
        </p:nvSpPr>
        <p:spPr>
          <a:xfrm rot="0">
            <a:off x="4014216" y="3849243"/>
            <a:ext cx="2798064" cy="6381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80"/>
              </a:lnSpc>
            </a:pPr>
            <a:r>
              <a:rPr lang="en-US" sz="1400">
                <a:solidFill>
                  <a:srgbClr val="585F6A"/>
                </a:solidFill>
                <a:latin typeface="Archivo Black"/>
                <a:ea typeface="Archivo Black"/>
                <a:cs typeface="Archivo Black"/>
                <a:sym typeface="Archivo Black"/>
              </a:rPr>
              <a:t>Scanner</a:t>
            </a:r>
          </a:p>
          <a:p>
            <a:pPr algn="l">
              <a:lnSpc>
                <a:spcPts val="1680"/>
              </a:lnSpc>
            </a:pPr>
            <a:r>
              <a:rPr lang="en-US" sz="1400">
                <a:solidFill>
                  <a:srgbClr val="585F6A"/>
                </a:solidFill>
                <a:latin typeface="Archivo Black"/>
                <a:ea typeface="Archivo Black"/>
                <a:cs typeface="Archivo Black"/>
                <a:sym typeface="Archivo Black"/>
              </a:rPr>
              <a:t>Name • Subjects • Marks • Attendance</a:t>
            </a:r>
          </a:p>
        </p:txBody>
      </p:sp>
      <p:grpSp>
        <p:nvGrpSpPr>
          <p:cNvPr name="Group 30" id="30"/>
          <p:cNvGrpSpPr/>
          <p:nvPr/>
        </p:nvGrpSpPr>
        <p:grpSpPr>
          <a:xfrm rot="0">
            <a:off x="7445378" y="3239138"/>
            <a:ext cx="2940053" cy="2071373"/>
            <a:chOff x="0" y="0"/>
            <a:chExt cx="3920071" cy="2761831"/>
          </a:xfrm>
        </p:grpSpPr>
        <p:sp>
          <p:nvSpPr>
            <p:cNvPr name="Freeform 31" id="31"/>
            <p:cNvSpPr/>
            <p:nvPr/>
          </p:nvSpPr>
          <p:spPr>
            <a:xfrm flipH="false" flipV="false" rot="0">
              <a:off x="0" y="0"/>
              <a:ext cx="3920109" cy="2761869"/>
            </a:xfrm>
            <a:custGeom>
              <a:avLst/>
              <a:gdLst/>
              <a:ahLst/>
              <a:cxnLst/>
              <a:rect r="r" b="b" t="t" l="l"/>
              <a:pathLst>
                <a:path h="2761869" w="3920109">
                  <a:moveTo>
                    <a:pt x="0" y="460375"/>
                  </a:moveTo>
                  <a:cubicBezTo>
                    <a:pt x="0" y="206121"/>
                    <a:pt x="206121" y="0"/>
                    <a:pt x="460375" y="0"/>
                  </a:cubicBezTo>
                  <a:lnTo>
                    <a:pt x="3459734" y="0"/>
                  </a:lnTo>
                  <a:cubicBezTo>
                    <a:pt x="3713988" y="0"/>
                    <a:pt x="3920109" y="206121"/>
                    <a:pt x="3920109" y="460375"/>
                  </a:cubicBezTo>
                  <a:lnTo>
                    <a:pt x="3920109" y="2301494"/>
                  </a:lnTo>
                  <a:cubicBezTo>
                    <a:pt x="3920109" y="2555748"/>
                    <a:pt x="3713988" y="2761869"/>
                    <a:pt x="3459734" y="2761869"/>
                  </a:cubicBezTo>
                  <a:lnTo>
                    <a:pt x="460375" y="2761869"/>
                  </a:lnTo>
                  <a:cubicBezTo>
                    <a:pt x="206121" y="2761869"/>
                    <a:pt x="0" y="2555748"/>
                    <a:pt x="0" y="2301494"/>
                  </a:cubicBezTo>
                  <a:close/>
                </a:path>
              </a:pathLst>
            </a:custGeom>
            <a:solidFill>
              <a:srgbClr val="FFFFFF"/>
            </a:solidFill>
            <a:ln w="13970" cap="sq">
              <a:solidFill>
                <a:srgbClr val="D7DFEC"/>
              </a:solidFill>
              <a:prstDash val="solid"/>
              <a:miter/>
            </a:ln>
          </p:spPr>
        </p:sp>
      </p:grpSp>
      <p:sp>
        <p:nvSpPr>
          <p:cNvPr name="TextBox 32" id="32"/>
          <p:cNvSpPr txBox="true"/>
          <p:nvPr/>
        </p:nvSpPr>
        <p:spPr>
          <a:xfrm rot="0">
            <a:off x="7671816" y="3419475"/>
            <a:ext cx="2542032" cy="2381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00"/>
              </a:lnSpc>
            </a:pPr>
            <a:r>
              <a:rPr lang="en-US" sz="1500">
                <a:solidFill>
                  <a:srgbClr val="090E14"/>
                </a:solidFill>
                <a:latin typeface="Archivo Black"/>
                <a:ea typeface="Archivo Black"/>
                <a:cs typeface="Archivo Black"/>
                <a:sym typeface="Archivo Black"/>
              </a:rPr>
              <a:t>VALIDATION</a:t>
            </a:r>
          </a:p>
        </p:txBody>
      </p:sp>
      <p:sp>
        <p:nvSpPr>
          <p:cNvPr name="TextBox 33" id="33"/>
          <p:cNvSpPr txBox="true"/>
          <p:nvPr/>
        </p:nvSpPr>
        <p:spPr>
          <a:xfrm rot="0">
            <a:off x="7671816" y="3849243"/>
            <a:ext cx="2523744" cy="6381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80"/>
              </a:lnSpc>
            </a:pPr>
            <a:r>
              <a:rPr lang="en-US" sz="1400">
                <a:solidFill>
                  <a:srgbClr val="585F6A"/>
                </a:solidFill>
                <a:latin typeface="Archivo Black"/>
                <a:ea typeface="Archivo Black"/>
                <a:cs typeface="Archivo Black"/>
                <a:sym typeface="Archivo Black"/>
              </a:rPr>
              <a:t>Input checks</a:t>
            </a:r>
          </a:p>
          <a:p>
            <a:pPr algn="l">
              <a:lnSpc>
                <a:spcPts val="1680"/>
              </a:lnSpc>
            </a:pPr>
            <a:r>
              <a:rPr lang="en-US" sz="1400">
                <a:solidFill>
                  <a:srgbClr val="585F6A"/>
                </a:solidFill>
                <a:latin typeface="Archivo Black"/>
                <a:ea typeface="Archivo Black"/>
                <a:cs typeface="Archivo Black"/>
                <a:sym typeface="Archivo Black"/>
              </a:rPr>
              <a:t>Subjects &gt; 0</a:t>
            </a:r>
          </a:p>
          <a:p>
            <a:pPr algn="l">
              <a:lnSpc>
                <a:spcPts val="1680"/>
              </a:lnSpc>
            </a:pPr>
            <a:r>
              <a:rPr lang="en-US" sz="1400">
                <a:solidFill>
                  <a:srgbClr val="585F6A"/>
                </a:solidFill>
                <a:latin typeface="Archivo Black"/>
                <a:ea typeface="Archivo Black"/>
                <a:cs typeface="Archivo Black"/>
                <a:sym typeface="Archivo Black"/>
              </a:rPr>
              <a:t>Marks 0–100</a:t>
            </a:r>
          </a:p>
        </p:txBody>
      </p:sp>
      <p:grpSp>
        <p:nvGrpSpPr>
          <p:cNvPr name="Group 34" id="34"/>
          <p:cNvGrpSpPr/>
          <p:nvPr/>
        </p:nvGrpSpPr>
        <p:grpSpPr>
          <a:xfrm rot="0">
            <a:off x="10828658" y="3239138"/>
            <a:ext cx="2940053" cy="2071373"/>
            <a:chOff x="0" y="0"/>
            <a:chExt cx="3920071" cy="2761831"/>
          </a:xfrm>
        </p:grpSpPr>
        <p:sp>
          <p:nvSpPr>
            <p:cNvPr name="Freeform 35" id="35"/>
            <p:cNvSpPr/>
            <p:nvPr/>
          </p:nvSpPr>
          <p:spPr>
            <a:xfrm flipH="false" flipV="false" rot="0">
              <a:off x="0" y="0"/>
              <a:ext cx="3920109" cy="2761869"/>
            </a:xfrm>
            <a:custGeom>
              <a:avLst/>
              <a:gdLst/>
              <a:ahLst/>
              <a:cxnLst/>
              <a:rect r="r" b="b" t="t" l="l"/>
              <a:pathLst>
                <a:path h="2761869" w="3920109">
                  <a:moveTo>
                    <a:pt x="0" y="460375"/>
                  </a:moveTo>
                  <a:cubicBezTo>
                    <a:pt x="0" y="206121"/>
                    <a:pt x="206121" y="0"/>
                    <a:pt x="460375" y="0"/>
                  </a:cubicBezTo>
                  <a:lnTo>
                    <a:pt x="3459734" y="0"/>
                  </a:lnTo>
                  <a:cubicBezTo>
                    <a:pt x="3713988" y="0"/>
                    <a:pt x="3920109" y="206121"/>
                    <a:pt x="3920109" y="460375"/>
                  </a:cubicBezTo>
                  <a:lnTo>
                    <a:pt x="3920109" y="2301494"/>
                  </a:lnTo>
                  <a:cubicBezTo>
                    <a:pt x="3920109" y="2555748"/>
                    <a:pt x="3713988" y="2761869"/>
                    <a:pt x="3459734" y="2761869"/>
                  </a:cubicBezTo>
                  <a:lnTo>
                    <a:pt x="460375" y="2761869"/>
                  </a:lnTo>
                  <a:cubicBezTo>
                    <a:pt x="206121" y="2761869"/>
                    <a:pt x="0" y="2555748"/>
                    <a:pt x="0" y="2301494"/>
                  </a:cubicBezTo>
                  <a:close/>
                </a:path>
              </a:pathLst>
            </a:custGeom>
            <a:solidFill>
              <a:srgbClr val="FFFFFF"/>
            </a:solidFill>
            <a:ln w="13970" cap="sq">
              <a:solidFill>
                <a:srgbClr val="D7DFEC"/>
              </a:solidFill>
              <a:prstDash val="solid"/>
              <a:miter/>
            </a:ln>
          </p:spPr>
        </p:sp>
      </p:grpSp>
      <p:sp>
        <p:nvSpPr>
          <p:cNvPr name="TextBox 36" id="36"/>
          <p:cNvSpPr txBox="true"/>
          <p:nvPr/>
        </p:nvSpPr>
        <p:spPr>
          <a:xfrm rot="0">
            <a:off x="11055096" y="3419475"/>
            <a:ext cx="2542032" cy="2381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00"/>
              </a:lnSpc>
            </a:pPr>
            <a:r>
              <a:rPr lang="en-US" sz="1500">
                <a:solidFill>
                  <a:srgbClr val="090E14"/>
                </a:solidFill>
                <a:latin typeface="Archivo Black"/>
                <a:ea typeface="Archivo Black"/>
                <a:cs typeface="Archivo Black"/>
                <a:sym typeface="Archivo Black"/>
              </a:rPr>
              <a:t>PROCESSING</a:t>
            </a:r>
          </a:p>
        </p:txBody>
      </p:sp>
      <p:sp>
        <p:nvSpPr>
          <p:cNvPr name="TextBox 37" id="37"/>
          <p:cNvSpPr txBox="true"/>
          <p:nvPr/>
        </p:nvSpPr>
        <p:spPr>
          <a:xfrm rot="0">
            <a:off x="11055096" y="3849243"/>
            <a:ext cx="2523744" cy="4286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80"/>
              </a:lnSpc>
            </a:pPr>
            <a:r>
              <a:rPr lang="en-US" sz="1400">
                <a:solidFill>
                  <a:srgbClr val="585F6A"/>
                </a:solidFill>
                <a:latin typeface="Archivo Black"/>
                <a:ea typeface="Archivo Black"/>
                <a:cs typeface="Archivo Black"/>
                <a:sym typeface="Archivo Black"/>
              </a:rPr>
              <a:t>Total + Average</a:t>
            </a:r>
          </a:p>
          <a:p>
            <a:pPr algn="l">
              <a:lnSpc>
                <a:spcPts val="1680"/>
              </a:lnSpc>
            </a:pPr>
            <a:r>
              <a:rPr lang="en-US" sz="1400">
                <a:solidFill>
                  <a:srgbClr val="585F6A"/>
                </a:solidFill>
                <a:latin typeface="Archivo Black"/>
                <a:ea typeface="Archivo Black"/>
                <a:cs typeface="Archivo Black"/>
                <a:sym typeface="Archivo Black"/>
              </a:rPr>
              <a:t>Grade classification</a:t>
            </a:r>
          </a:p>
        </p:txBody>
      </p:sp>
      <p:grpSp>
        <p:nvGrpSpPr>
          <p:cNvPr name="Group 38" id="38"/>
          <p:cNvGrpSpPr/>
          <p:nvPr/>
        </p:nvGrpSpPr>
        <p:grpSpPr>
          <a:xfrm rot="0">
            <a:off x="14211938" y="3239138"/>
            <a:ext cx="2345693" cy="2071373"/>
            <a:chOff x="0" y="0"/>
            <a:chExt cx="3127591" cy="2761831"/>
          </a:xfrm>
        </p:grpSpPr>
        <p:sp>
          <p:nvSpPr>
            <p:cNvPr name="Freeform 39" id="39"/>
            <p:cNvSpPr/>
            <p:nvPr/>
          </p:nvSpPr>
          <p:spPr>
            <a:xfrm flipH="false" flipV="false" rot="0">
              <a:off x="0" y="0"/>
              <a:ext cx="3127629" cy="2761869"/>
            </a:xfrm>
            <a:custGeom>
              <a:avLst/>
              <a:gdLst/>
              <a:ahLst/>
              <a:cxnLst/>
              <a:rect r="r" b="b" t="t" l="l"/>
              <a:pathLst>
                <a:path h="2761869" w="3127629">
                  <a:moveTo>
                    <a:pt x="0" y="460375"/>
                  </a:moveTo>
                  <a:cubicBezTo>
                    <a:pt x="0" y="206121"/>
                    <a:pt x="206121" y="0"/>
                    <a:pt x="460375" y="0"/>
                  </a:cubicBezTo>
                  <a:lnTo>
                    <a:pt x="2667254" y="0"/>
                  </a:lnTo>
                  <a:cubicBezTo>
                    <a:pt x="2921508" y="0"/>
                    <a:pt x="3127629" y="206121"/>
                    <a:pt x="3127629" y="460375"/>
                  </a:cubicBezTo>
                  <a:lnTo>
                    <a:pt x="3127629" y="2301494"/>
                  </a:lnTo>
                  <a:cubicBezTo>
                    <a:pt x="3127629" y="2555748"/>
                    <a:pt x="2921508" y="2761869"/>
                    <a:pt x="2667254" y="2761869"/>
                  </a:cubicBezTo>
                  <a:lnTo>
                    <a:pt x="460375" y="2761869"/>
                  </a:lnTo>
                  <a:cubicBezTo>
                    <a:pt x="206121" y="2761869"/>
                    <a:pt x="0" y="2555748"/>
                    <a:pt x="0" y="2301494"/>
                  </a:cubicBezTo>
                  <a:close/>
                </a:path>
              </a:pathLst>
            </a:custGeom>
            <a:solidFill>
              <a:srgbClr val="FFFFFF"/>
            </a:solidFill>
            <a:ln w="13970" cap="sq">
              <a:solidFill>
                <a:srgbClr val="D7DFEC"/>
              </a:solidFill>
              <a:prstDash val="solid"/>
              <a:miter/>
            </a:ln>
          </p:spPr>
        </p:sp>
      </p:grpSp>
      <p:sp>
        <p:nvSpPr>
          <p:cNvPr name="TextBox 40" id="40"/>
          <p:cNvSpPr txBox="true"/>
          <p:nvPr/>
        </p:nvSpPr>
        <p:spPr>
          <a:xfrm rot="0">
            <a:off x="14438376" y="3419475"/>
            <a:ext cx="1947672" cy="2381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00"/>
              </a:lnSpc>
            </a:pPr>
            <a:r>
              <a:rPr lang="en-US" sz="1500">
                <a:solidFill>
                  <a:srgbClr val="090E14"/>
                </a:solidFill>
                <a:latin typeface="Archivo Black"/>
                <a:ea typeface="Archivo Black"/>
                <a:cs typeface="Archivo Black"/>
                <a:sym typeface="Archivo Black"/>
              </a:rPr>
              <a:t>DECISION</a:t>
            </a:r>
          </a:p>
        </p:txBody>
      </p:sp>
      <p:sp>
        <p:nvSpPr>
          <p:cNvPr name="TextBox 41" id="41"/>
          <p:cNvSpPr txBox="true"/>
          <p:nvPr/>
        </p:nvSpPr>
        <p:spPr>
          <a:xfrm rot="0">
            <a:off x="14438376" y="3849243"/>
            <a:ext cx="1929384" cy="2190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80"/>
              </a:lnSpc>
            </a:pPr>
            <a:r>
              <a:rPr lang="en-US" sz="1400">
                <a:solidFill>
                  <a:srgbClr val="585F6A"/>
                </a:solidFill>
                <a:latin typeface="Archivo Black"/>
                <a:ea typeface="Archivo Black"/>
                <a:cs typeface="Archivo Black"/>
                <a:sym typeface="Archivo Black"/>
              </a:rPr>
              <a:t>Attendance ≥ 75%?</a:t>
            </a:r>
          </a:p>
        </p:txBody>
      </p:sp>
      <p:grpSp>
        <p:nvGrpSpPr>
          <p:cNvPr name="Group 42" id="42"/>
          <p:cNvGrpSpPr/>
          <p:nvPr/>
        </p:nvGrpSpPr>
        <p:grpSpPr>
          <a:xfrm rot="0">
            <a:off x="8222618" y="6622418"/>
            <a:ext cx="3305813" cy="1248413"/>
            <a:chOff x="0" y="0"/>
            <a:chExt cx="4407751" cy="1664551"/>
          </a:xfrm>
        </p:grpSpPr>
        <p:sp>
          <p:nvSpPr>
            <p:cNvPr name="Freeform 43" id="43"/>
            <p:cNvSpPr/>
            <p:nvPr/>
          </p:nvSpPr>
          <p:spPr>
            <a:xfrm flipH="false" flipV="false" rot="0">
              <a:off x="0" y="0"/>
              <a:ext cx="4407662" cy="1664462"/>
            </a:xfrm>
            <a:custGeom>
              <a:avLst/>
              <a:gdLst/>
              <a:ahLst/>
              <a:cxnLst/>
              <a:rect r="r" b="b" t="t" l="l"/>
              <a:pathLst>
                <a:path h="1664462" w="4407662">
                  <a:moveTo>
                    <a:pt x="0" y="277368"/>
                  </a:moveTo>
                  <a:cubicBezTo>
                    <a:pt x="0" y="124206"/>
                    <a:pt x="124206" y="0"/>
                    <a:pt x="277368" y="0"/>
                  </a:cubicBezTo>
                  <a:lnTo>
                    <a:pt x="4130294" y="0"/>
                  </a:lnTo>
                  <a:cubicBezTo>
                    <a:pt x="4283456" y="0"/>
                    <a:pt x="4407662" y="124206"/>
                    <a:pt x="4407662" y="277368"/>
                  </a:cubicBezTo>
                  <a:lnTo>
                    <a:pt x="4407662" y="1387094"/>
                  </a:lnTo>
                  <a:cubicBezTo>
                    <a:pt x="4407662" y="1540256"/>
                    <a:pt x="4283456" y="1664462"/>
                    <a:pt x="4130294" y="1664462"/>
                  </a:cubicBezTo>
                  <a:lnTo>
                    <a:pt x="277368" y="1664462"/>
                  </a:lnTo>
                  <a:cubicBezTo>
                    <a:pt x="124206" y="1664589"/>
                    <a:pt x="0" y="1540383"/>
                    <a:pt x="0" y="1387094"/>
                  </a:cubicBezTo>
                  <a:close/>
                </a:path>
              </a:pathLst>
            </a:custGeom>
            <a:solidFill>
              <a:srgbClr val="FFFFFF"/>
            </a:solidFill>
            <a:ln w="13970" cap="sq">
              <a:solidFill>
                <a:srgbClr val="D7DFEC"/>
              </a:solidFill>
              <a:prstDash val="solid"/>
              <a:miter/>
            </a:ln>
          </p:spPr>
        </p:sp>
      </p:grpSp>
      <p:sp>
        <p:nvSpPr>
          <p:cNvPr name="TextBox 44" id="44"/>
          <p:cNvSpPr txBox="true"/>
          <p:nvPr/>
        </p:nvSpPr>
        <p:spPr>
          <a:xfrm rot="0">
            <a:off x="8449056" y="6802755"/>
            <a:ext cx="2907792" cy="2381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00"/>
              </a:lnSpc>
            </a:pPr>
            <a:r>
              <a:rPr lang="en-US" sz="1500">
                <a:solidFill>
                  <a:srgbClr val="090E14"/>
                </a:solidFill>
                <a:latin typeface="Archivo Black"/>
                <a:ea typeface="Archivo Black"/>
                <a:cs typeface="Archivo Black"/>
                <a:sym typeface="Archivo Black"/>
              </a:rPr>
              <a:t>REPORT</a:t>
            </a:r>
          </a:p>
        </p:txBody>
      </p:sp>
      <p:sp>
        <p:nvSpPr>
          <p:cNvPr name="TextBox 45" id="45"/>
          <p:cNvSpPr txBox="true"/>
          <p:nvPr/>
        </p:nvSpPr>
        <p:spPr>
          <a:xfrm rot="0">
            <a:off x="8449056" y="7232523"/>
            <a:ext cx="2889504" cy="4286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80"/>
              </a:lnSpc>
            </a:pPr>
            <a:r>
              <a:rPr lang="en-US" sz="1400">
                <a:solidFill>
                  <a:srgbClr val="585F6A"/>
                </a:solidFill>
                <a:latin typeface="Archivo Black"/>
                <a:ea typeface="Archivo Black"/>
                <a:cs typeface="Archivo Black"/>
                <a:sym typeface="Archivo Black"/>
              </a:rPr>
              <a:t>Final</a:t>
            </a:r>
          </a:p>
          <a:p>
            <a:pPr algn="l">
              <a:lnSpc>
                <a:spcPts val="1680"/>
              </a:lnSpc>
            </a:pPr>
            <a:r>
              <a:rPr lang="en-US" sz="1400">
                <a:solidFill>
                  <a:srgbClr val="585F6A"/>
                </a:solidFill>
                <a:latin typeface="Archivo Black"/>
                <a:ea typeface="Archivo Black"/>
                <a:cs typeface="Archivo Black"/>
                <a:sym typeface="Archivo Black"/>
              </a:rPr>
              <a:t>Student Report</a:t>
            </a:r>
          </a:p>
        </p:txBody>
      </p:sp>
      <p:sp>
        <p:nvSpPr>
          <p:cNvPr name="TextBox 46" id="46"/>
          <p:cNvSpPr txBox="true"/>
          <p:nvPr/>
        </p:nvSpPr>
        <p:spPr>
          <a:xfrm rot="0">
            <a:off x="3332401" y="3885438"/>
            <a:ext cx="330359" cy="4095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120"/>
              </a:lnSpc>
            </a:pPr>
            <a:r>
              <a:rPr lang="en-US" sz="2600">
                <a:solidFill>
                  <a:srgbClr val="265BCD"/>
                </a:solidFill>
                <a:latin typeface="Archivo Black"/>
                <a:ea typeface="Archivo Black"/>
                <a:cs typeface="Archivo Black"/>
                <a:sym typeface="Archivo Black"/>
              </a:rPr>
              <a:t>→</a:t>
            </a:r>
          </a:p>
        </p:txBody>
      </p:sp>
      <p:sp>
        <p:nvSpPr>
          <p:cNvPr name="TextBox 47" id="47"/>
          <p:cNvSpPr txBox="true"/>
          <p:nvPr/>
        </p:nvSpPr>
        <p:spPr>
          <a:xfrm rot="0">
            <a:off x="7081441" y="3885438"/>
            <a:ext cx="330359" cy="4095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120"/>
              </a:lnSpc>
            </a:pPr>
            <a:r>
              <a:rPr lang="en-US" sz="2600">
                <a:solidFill>
                  <a:srgbClr val="265BCD"/>
                </a:solidFill>
                <a:latin typeface="Archivo Black"/>
                <a:ea typeface="Archivo Black"/>
                <a:cs typeface="Archivo Black"/>
                <a:sym typeface="Archivo Black"/>
              </a:rPr>
              <a:t>→</a:t>
            </a:r>
          </a:p>
        </p:txBody>
      </p:sp>
      <p:sp>
        <p:nvSpPr>
          <p:cNvPr name="TextBox 48" id="48"/>
          <p:cNvSpPr txBox="true"/>
          <p:nvPr/>
        </p:nvSpPr>
        <p:spPr>
          <a:xfrm rot="0">
            <a:off x="10464721" y="3885438"/>
            <a:ext cx="330359" cy="4095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120"/>
              </a:lnSpc>
            </a:pPr>
            <a:r>
              <a:rPr lang="en-US" sz="2600">
                <a:solidFill>
                  <a:srgbClr val="265BCD"/>
                </a:solidFill>
                <a:latin typeface="Archivo Black"/>
                <a:ea typeface="Archivo Black"/>
                <a:cs typeface="Archivo Black"/>
                <a:sym typeface="Archivo Black"/>
              </a:rPr>
              <a:t>→</a:t>
            </a:r>
          </a:p>
        </p:txBody>
      </p:sp>
      <p:sp>
        <p:nvSpPr>
          <p:cNvPr name="TextBox 49" id="49"/>
          <p:cNvSpPr txBox="true"/>
          <p:nvPr/>
        </p:nvSpPr>
        <p:spPr>
          <a:xfrm rot="0">
            <a:off x="13848001" y="3885438"/>
            <a:ext cx="330359" cy="4095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120"/>
              </a:lnSpc>
            </a:pPr>
            <a:r>
              <a:rPr lang="en-US" sz="2600">
                <a:solidFill>
                  <a:srgbClr val="265BCD"/>
                </a:solidFill>
                <a:latin typeface="Archivo Black"/>
                <a:ea typeface="Archivo Black"/>
                <a:cs typeface="Archivo Black"/>
                <a:sym typeface="Archivo Black"/>
              </a:rPr>
              <a:t>→</a:t>
            </a:r>
          </a:p>
        </p:txBody>
      </p:sp>
      <p:sp>
        <p:nvSpPr>
          <p:cNvPr name="TextBox 50" id="50"/>
          <p:cNvSpPr txBox="true"/>
          <p:nvPr/>
        </p:nvSpPr>
        <p:spPr>
          <a:xfrm rot="0">
            <a:off x="6236208" y="8183118"/>
            <a:ext cx="5998464" cy="5334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040"/>
              </a:lnSpc>
            </a:pPr>
            <a:r>
              <a:rPr lang="en-US" sz="1700">
                <a:solidFill>
                  <a:srgbClr val="585F6A"/>
                </a:solidFill>
                <a:latin typeface="Archivo Black"/>
                <a:ea typeface="Archivo Black"/>
                <a:cs typeface="Archivo Black"/>
                <a:sym typeface="Archivo Black"/>
              </a:rPr>
              <a:t>Grade + eligibility are combined in the final output.</a:t>
            </a:r>
          </a:p>
        </p:txBody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3" id="3" descr="bg.jpeg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-3364" r="0" b="-3364"/>
              </a:stretch>
            </a:blipFill>
          </p:spPr>
        </p:sp>
      </p:grpSp>
      <p:grpSp>
        <p:nvGrpSpPr>
          <p:cNvPr name="Group 4" id="4"/>
          <p:cNvGrpSpPr/>
          <p:nvPr/>
        </p:nvGrpSpPr>
        <p:grpSpPr>
          <a:xfrm rot="0">
            <a:off x="22355" y="22355"/>
            <a:ext cx="18243299" cy="10242299"/>
            <a:chOff x="0" y="0"/>
            <a:chExt cx="24324399" cy="13656399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4324438" cy="13656438"/>
            </a:xfrm>
            <a:custGeom>
              <a:avLst/>
              <a:gdLst/>
              <a:ahLst/>
              <a:cxnLst/>
              <a:rect r="r" b="b" t="t" l="l"/>
              <a:pathLst>
                <a:path h="13656438" w="24324438">
                  <a:moveTo>
                    <a:pt x="0" y="0"/>
                  </a:moveTo>
                  <a:lnTo>
                    <a:pt x="24324438" y="0"/>
                  </a:lnTo>
                  <a:lnTo>
                    <a:pt x="24324438" y="13656438"/>
                  </a:lnTo>
                  <a:lnTo>
                    <a:pt x="0" y="1365643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22033" t="0" r="-22033" b="0"/>
              </a:stretch>
            </a:blipFill>
            <a:ln w="10160" cap="sq">
              <a:solidFill>
                <a:srgbClr val="090E14"/>
              </a:solidFill>
              <a:prstDash val="solid"/>
              <a:miter/>
            </a:ln>
          </p:spPr>
        </p:sp>
      </p:grpSp>
      <p:grpSp>
        <p:nvGrpSpPr>
          <p:cNvPr name="Group 6" id="6"/>
          <p:cNvGrpSpPr/>
          <p:nvPr/>
        </p:nvGrpSpPr>
        <p:grpSpPr>
          <a:xfrm rot="2700000">
            <a:off x="16504920" y="73152"/>
            <a:ext cx="54864" cy="530352"/>
            <a:chOff x="0" y="0"/>
            <a:chExt cx="73152" cy="707136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73152" cy="707136"/>
            </a:xfrm>
            <a:custGeom>
              <a:avLst/>
              <a:gdLst/>
              <a:ahLst/>
              <a:cxnLst/>
              <a:rect r="r" b="b" t="t" l="l"/>
              <a:pathLst>
                <a:path h="707136" w="73152">
                  <a:moveTo>
                    <a:pt x="0" y="0"/>
                  </a:moveTo>
                  <a:lnTo>
                    <a:pt x="73152" y="0"/>
                  </a:lnTo>
                  <a:lnTo>
                    <a:pt x="73152" y="707136"/>
                  </a:lnTo>
                  <a:lnTo>
                    <a:pt x="0" y="707136"/>
                  </a:lnTo>
                  <a:close/>
                </a:path>
              </a:pathLst>
            </a:custGeom>
            <a:solidFill>
              <a:srgbClr val="090E14"/>
            </a:solidFill>
          </p:spPr>
        </p:sp>
      </p:grpSp>
      <p:grpSp>
        <p:nvGrpSpPr>
          <p:cNvPr name="Group 8" id="8"/>
          <p:cNvGrpSpPr/>
          <p:nvPr/>
        </p:nvGrpSpPr>
        <p:grpSpPr>
          <a:xfrm rot="2700000">
            <a:off x="16934688" y="420624"/>
            <a:ext cx="54864" cy="530352"/>
            <a:chOff x="0" y="0"/>
            <a:chExt cx="73152" cy="707136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73152" cy="707136"/>
            </a:xfrm>
            <a:custGeom>
              <a:avLst/>
              <a:gdLst/>
              <a:ahLst/>
              <a:cxnLst/>
              <a:rect r="r" b="b" t="t" l="l"/>
              <a:pathLst>
                <a:path h="707136" w="73152">
                  <a:moveTo>
                    <a:pt x="0" y="0"/>
                  </a:moveTo>
                  <a:lnTo>
                    <a:pt x="73152" y="0"/>
                  </a:lnTo>
                  <a:lnTo>
                    <a:pt x="73152" y="707136"/>
                  </a:lnTo>
                  <a:lnTo>
                    <a:pt x="0" y="707136"/>
                  </a:lnTo>
                  <a:close/>
                </a:path>
              </a:pathLst>
            </a:custGeom>
            <a:solidFill>
              <a:srgbClr val="090E14"/>
            </a:solidFill>
          </p:spPr>
        </p:sp>
      </p:grpSp>
      <p:grpSp>
        <p:nvGrpSpPr>
          <p:cNvPr name="Group 10" id="10"/>
          <p:cNvGrpSpPr/>
          <p:nvPr/>
        </p:nvGrpSpPr>
        <p:grpSpPr>
          <a:xfrm rot="2700000">
            <a:off x="17364456" y="768096"/>
            <a:ext cx="54864" cy="530352"/>
            <a:chOff x="0" y="0"/>
            <a:chExt cx="73152" cy="707136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73152" cy="707136"/>
            </a:xfrm>
            <a:custGeom>
              <a:avLst/>
              <a:gdLst/>
              <a:ahLst/>
              <a:cxnLst/>
              <a:rect r="r" b="b" t="t" l="l"/>
              <a:pathLst>
                <a:path h="707136" w="73152">
                  <a:moveTo>
                    <a:pt x="0" y="0"/>
                  </a:moveTo>
                  <a:lnTo>
                    <a:pt x="73152" y="0"/>
                  </a:lnTo>
                  <a:lnTo>
                    <a:pt x="73152" y="707136"/>
                  </a:lnTo>
                  <a:lnTo>
                    <a:pt x="0" y="707136"/>
                  </a:lnTo>
                  <a:close/>
                </a:path>
              </a:pathLst>
            </a:custGeom>
            <a:solidFill>
              <a:srgbClr val="090E14"/>
            </a:solidFill>
          </p:spPr>
        </p:sp>
      </p:grpSp>
      <p:grpSp>
        <p:nvGrpSpPr>
          <p:cNvPr name="Group 12" id="12"/>
          <p:cNvGrpSpPr/>
          <p:nvPr/>
        </p:nvGrpSpPr>
        <p:grpSpPr>
          <a:xfrm rot="2700000">
            <a:off x="17794224" y="1115568"/>
            <a:ext cx="54864" cy="530352"/>
            <a:chOff x="0" y="0"/>
            <a:chExt cx="73152" cy="707136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73152" cy="707136"/>
            </a:xfrm>
            <a:custGeom>
              <a:avLst/>
              <a:gdLst/>
              <a:ahLst/>
              <a:cxnLst/>
              <a:rect r="r" b="b" t="t" l="l"/>
              <a:pathLst>
                <a:path h="707136" w="73152">
                  <a:moveTo>
                    <a:pt x="0" y="0"/>
                  </a:moveTo>
                  <a:lnTo>
                    <a:pt x="73152" y="0"/>
                  </a:lnTo>
                  <a:lnTo>
                    <a:pt x="73152" y="707136"/>
                  </a:lnTo>
                  <a:lnTo>
                    <a:pt x="0" y="707136"/>
                  </a:lnTo>
                  <a:close/>
                </a:path>
              </a:pathLst>
            </a:custGeom>
            <a:solidFill>
              <a:srgbClr val="090E14"/>
            </a:solidFill>
          </p:spPr>
        </p:sp>
      </p:grpSp>
      <p:grpSp>
        <p:nvGrpSpPr>
          <p:cNvPr name="Group 14" id="14"/>
          <p:cNvGrpSpPr/>
          <p:nvPr/>
        </p:nvGrpSpPr>
        <p:grpSpPr>
          <a:xfrm rot="2700000">
            <a:off x="18223992" y="1463040"/>
            <a:ext cx="54864" cy="530352"/>
            <a:chOff x="0" y="0"/>
            <a:chExt cx="73152" cy="707136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73152" cy="707136"/>
            </a:xfrm>
            <a:custGeom>
              <a:avLst/>
              <a:gdLst/>
              <a:ahLst/>
              <a:cxnLst/>
              <a:rect r="r" b="b" t="t" l="l"/>
              <a:pathLst>
                <a:path h="707136" w="73152">
                  <a:moveTo>
                    <a:pt x="0" y="0"/>
                  </a:moveTo>
                  <a:lnTo>
                    <a:pt x="73152" y="0"/>
                  </a:lnTo>
                  <a:lnTo>
                    <a:pt x="73152" y="707136"/>
                  </a:lnTo>
                  <a:lnTo>
                    <a:pt x="0" y="707136"/>
                  </a:lnTo>
                  <a:close/>
                </a:path>
              </a:pathLst>
            </a:custGeom>
            <a:solidFill>
              <a:srgbClr val="090E14"/>
            </a:solidFill>
          </p:spPr>
        </p:sp>
      </p:grpSp>
      <p:grpSp>
        <p:nvGrpSpPr>
          <p:cNvPr name="Group 16" id="16"/>
          <p:cNvGrpSpPr/>
          <p:nvPr/>
        </p:nvGrpSpPr>
        <p:grpSpPr>
          <a:xfrm rot="2700000">
            <a:off x="18653760" y="1810512"/>
            <a:ext cx="54864" cy="530352"/>
            <a:chOff x="0" y="0"/>
            <a:chExt cx="73152" cy="707136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73152" cy="707136"/>
            </a:xfrm>
            <a:custGeom>
              <a:avLst/>
              <a:gdLst/>
              <a:ahLst/>
              <a:cxnLst/>
              <a:rect r="r" b="b" t="t" l="l"/>
              <a:pathLst>
                <a:path h="707136" w="73152">
                  <a:moveTo>
                    <a:pt x="0" y="0"/>
                  </a:moveTo>
                  <a:lnTo>
                    <a:pt x="73152" y="0"/>
                  </a:lnTo>
                  <a:lnTo>
                    <a:pt x="73152" y="707136"/>
                  </a:lnTo>
                  <a:lnTo>
                    <a:pt x="0" y="707136"/>
                  </a:lnTo>
                  <a:close/>
                </a:path>
              </a:pathLst>
            </a:custGeom>
            <a:solidFill>
              <a:srgbClr val="090E14"/>
            </a:solidFill>
          </p:spPr>
        </p:sp>
      </p:grpSp>
      <p:grpSp>
        <p:nvGrpSpPr>
          <p:cNvPr name="Group 18" id="18"/>
          <p:cNvGrpSpPr/>
          <p:nvPr/>
        </p:nvGrpSpPr>
        <p:grpSpPr>
          <a:xfrm rot="2700000">
            <a:off x="19083528" y="2157984"/>
            <a:ext cx="54864" cy="530352"/>
            <a:chOff x="0" y="0"/>
            <a:chExt cx="73152" cy="707136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73152" cy="707136"/>
            </a:xfrm>
            <a:custGeom>
              <a:avLst/>
              <a:gdLst/>
              <a:ahLst/>
              <a:cxnLst/>
              <a:rect r="r" b="b" t="t" l="l"/>
              <a:pathLst>
                <a:path h="707136" w="73152">
                  <a:moveTo>
                    <a:pt x="0" y="0"/>
                  </a:moveTo>
                  <a:lnTo>
                    <a:pt x="73152" y="0"/>
                  </a:lnTo>
                  <a:lnTo>
                    <a:pt x="73152" y="707136"/>
                  </a:lnTo>
                  <a:lnTo>
                    <a:pt x="0" y="707136"/>
                  </a:lnTo>
                  <a:close/>
                </a:path>
              </a:pathLst>
            </a:custGeom>
            <a:solidFill>
              <a:srgbClr val="090E14"/>
            </a:solidFill>
          </p:spPr>
        </p:sp>
      </p:grpSp>
      <p:sp>
        <p:nvSpPr>
          <p:cNvPr name="TextBox 20" id="20"/>
          <p:cNvSpPr txBox="true"/>
          <p:nvPr/>
        </p:nvSpPr>
        <p:spPr>
          <a:xfrm rot="0">
            <a:off x="978408" y="575691"/>
            <a:ext cx="12673584" cy="5524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320"/>
              </a:lnSpc>
            </a:pPr>
            <a:r>
              <a:rPr lang="en-US" sz="3600">
                <a:solidFill>
                  <a:srgbClr val="090E14"/>
                </a:solidFill>
                <a:latin typeface="Archivo Black"/>
                <a:ea typeface="Archivo Black"/>
                <a:cs typeface="Archivo Black"/>
                <a:sym typeface="Archivo Black"/>
              </a:rPr>
              <a:t>7. Functionalities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1005840" y="1343406"/>
            <a:ext cx="14228064" cy="2762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040"/>
              </a:lnSpc>
            </a:pPr>
            <a:r>
              <a:rPr lang="en-US" sz="1700">
                <a:solidFill>
                  <a:srgbClr val="585F6A"/>
                </a:solidFill>
                <a:latin typeface="Archivo Black"/>
                <a:ea typeface="Archivo Black"/>
                <a:cs typeface="Archivo Black"/>
                <a:sym typeface="Archivo Black"/>
              </a:rPr>
              <a:t>Core features implemented in the Java source</a:t>
            </a:r>
          </a:p>
        </p:txBody>
      </p:sp>
      <p:grpSp>
        <p:nvGrpSpPr>
          <p:cNvPr name="Group 22" id="22"/>
          <p:cNvGrpSpPr/>
          <p:nvPr/>
        </p:nvGrpSpPr>
        <p:grpSpPr>
          <a:xfrm rot="0">
            <a:off x="987552" y="1755648"/>
            <a:ext cx="1051560" cy="50292"/>
            <a:chOff x="0" y="0"/>
            <a:chExt cx="1402080" cy="67056"/>
          </a:xfrm>
        </p:grpSpPr>
        <p:sp>
          <p:nvSpPr>
            <p:cNvPr name="Freeform 23" id="23"/>
            <p:cNvSpPr/>
            <p:nvPr/>
          </p:nvSpPr>
          <p:spPr>
            <a:xfrm flipH="false" flipV="false" rot="0">
              <a:off x="0" y="0"/>
              <a:ext cx="1402080" cy="67056"/>
            </a:xfrm>
            <a:custGeom>
              <a:avLst/>
              <a:gdLst/>
              <a:ahLst/>
              <a:cxnLst/>
              <a:rect r="r" b="b" t="t" l="l"/>
              <a:pathLst>
                <a:path h="67056" w="1402080">
                  <a:moveTo>
                    <a:pt x="0" y="0"/>
                  </a:moveTo>
                  <a:lnTo>
                    <a:pt x="1402080" y="0"/>
                  </a:lnTo>
                  <a:lnTo>
                    <a:pt x="1402080" y="67056"/>
                  </a:lnTo>
                  <a:lnTo>
                    <a:pt x="0" y="67056"/>
                  </a:lnTo>
                  <a:close/>
                </a:path>
              </a:pathLst>
            </a:custGeom>
            <a:solidFill>
              <a:srgbClr val="265BCD"/>
            </a:solidFill>
          </p:spPr>
        </p:sp>
      </p:grpSp>
      <p:grpSp>
        <p:nvGrpSpPr>
          <p:cNvPr name="Group 24" id="24"/>
          <p:cNvGrpSpPr/>
          <p:nvPr/>
        </p:nvGrpSpPr>
        <p:grpSpPr>
          <a:xfrm rot="0">
            <a:off x="980570" y="2050418"/>
            <a:ext cx="7694933" cy="1431293"/>
            <a:chOff x="0" y="0"/>
            <a:chExt cx="10259911" cy="1908391"/>
          </a:xfrm>
        </p:grpSpPr>
        <p:sp>
          <p:nvSpPr>
            <p:cNvPr name="Freeform 25" id="25"/>
            <p:cNvSpPr/>
            <p:nvPr/>
          </p:nvSpPr>
          <p:spPr>
            <a:xfrm flipH="false" flipV="false" rot="0">
              <a:off x="0" y="0"/>
              <a:ext cx="10259822" cy="1908302"/>
            </a:xfrm>
            <a:custGeom>
              <a:avLst/>
              <a:gdLst/>
              <a:ahLst/>
              <a:cxnLst/>
              <a:rect r="r" b="b" t="t" l="l"/>
              <a:pathLst>
                <a:path h="1908302" w="10259822">
                  <a:moveTo>
                    <a:pt x="0" y="318008"/>
                  </a:moveTo>
                  <a:cubicBezTo>
                    <a:pt x="0" y="142367"/>
                    <a:pt x="142367" y="0"/>
                    <a:pt x="318008" y="0"/>
                  </a:cubicBezTo>
                  <a:lnTo>
                    <a:pt x="9941814" y="0"/>
                  </a:lnTo>
                  <a:cubicBezTo>
                    <a:pt x="10117455" y="0"/>
                    <a:pt x="10259822" y="142367"/>
                    <a:pt x="10259822" y="318008"/>
                  </a:cubicBezTo>
                  <a:lnTo>
                    <a:pt x="10259822" y="1590294"/>
                  </a:lnTo>
                  <a:cubicBezTo>
                    <a:pt x="10259822" y="1765935"/>
                    <a:pt x="10117455" y="1908302"/>
                    <a:pt x="9941814" y="1908302"/>
                  </a:cubicBezTo>
                  <a:lnTo>
                    <a:pt x="318008" y="1908302"/>
                  </a:lnTo>
                  <a:cubicBezTo>
                    <a:pt x="142367" y="1908429"/>
                    <a:pt x="0" y="1765935"/>
                    <a:pt x="0" y="1590294"/>
                  </a:cubicBezTo>
                  <a:close/>
                </a:path>
              </a:pathLst>
            </a:custGeom>
            <a:solidFill>
              <a:srgbClr val="FFFFFF"/>
            </a:solidFill>
            <a:ln w="13970" cap="sq">
              <a:solidFill>
                <a:srgbClr val="D7DFEC"/>
              </a:solidFill>
              <a:prstDash val="solid"/>
              <a:miter/>
            </a:ln>
          </p:spPr>
        </p:sp>
      </p:grpSp>
      <p:sp>
        <p:nvSpPr>
          <p:cNvPr name="TextBox 26" id="26"/>
          <p:cNvSpPr txBox="true"/>
          <p:nvPr/>
        </p:nvSpPr>
        <p:spPr>
          <a:xfrm rot="0">
            <a:off x="1207008" y="2221230"/>
            <a:ext cx="7296912" cy="2762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040"/>
              </a:lnSpc>
            </a:pPr>
            <a:r>
              <a:rPr lang="en-US" sz="1700">
                <a:solidFill>
                  <a:srgbClr val="090E14"/>
                </a:solidFill>
                <a:latin typeface="Archivo Black"/>
                <a:ea typeface="Archivo Black"/>
                <a:cs typeface="Archivo Black"/>
                <a:sym typeface="Archivo Black"/>
              </a:rPr>
              <a:t>Input collection</a:t>
            </a:r>
          </a:p>
        </p:txBody>
      </p:sp>
      <p:sp>
        <p:nvSpPr>
          <p:cNvPr name="TextBox 27" id="27"/>
          <p:cNvSpPr txBox="true"/>
          <p:nvPr/>
        </p:nvSpPr>
        <p:spPr>
          <a:xfrm rot="0">
            <a:off x="1207008" y="2660523"/>
            <a:ext cx="7278624" cy="2190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80"/>
              </a:lnSpc>
            </a:pPr>
            <a:r>
              <a:rPr lang="en-US" sz="1400">
                <a:solidFill>
                  <a:srgbClr val="585F6A"/>
                </a:solidFill>
                <a:latin typeface="Archivo Black"/>
                <a:ea typeface="Archivo Black"/>
                <a:cs typeface="Archivo Black"/>
                <a:sym typeface="Archivo Black"/>
              </a:rPr>
              <a:t>Reads name, number of subjects, marks, and attendance.</a:t>
            </a:r>
          </a:p>
        </p:txBody>
      </p:sp>
      <p:grpSp>
        <p:nvGrpSpPr>
          <p:cNvPr name="Group 28" id="28"/>
          <p:cNvGrpSpPr/>
          <p:nvPr/>
        </p:nvGrpSpPr>
        <p:grpSpPr>
          <a:xfrm rot="0">
            <a:off x="9255890" y="2050418"/>
            <a:ext cx="7694933" cy="1431293"/>
            <a:chOff x="0" y="0"/>
            <a:chExt cx="10259911" cy="1908391"/>
          </a:xfrm>
        </p:grpSpPr>
        <p:sp>
          <p:nvSpPr>
            <p:cNvPr name="Freeform 29" id="29"/>
            <p:cNvSpPr/>
            <p:nvPr/>
          </p:nvSpPr>
          <p:spPr>
            <a:xfrm flipH="false" flipV="false" rot="0">
              <a:off x="0" y="0"/>
              <a:ext cx="10259822" cy="1908302"/>
            </a:xfrm>
            <a:custGeom>
              <a:avLst/>
              <a:gdLst/>
              <a:ahLst/>
              <a:cxnLst/>
              <a:rect r="r" b="b" t="t" l="l"/>
              <a:pathLst>
                <a:path h="1908302" w="10259822">
                  <a:moveTo>
                    <a:pt x="0" y="318008"/>
                  </a:moveTo>
                  <a:cubicBezTo>
                    <a:pt x="0" y="142367"/>
                    <a:pt x="142367" y="0"/>
                    <a:pt x="318008" y="0"/>
                  </a:cubicBezTo>
                  <a:lnTo>
                    <a:pt x="9941814" y="0"/>
                  </a:lnTo>
                  <a:cubicBezTo>
                    <a:pt x="10117455" y="0"/>
                    <a:pt x="10259822" y="142367"/>
                    <a:pt x="10259822" y="318008"/>
                  </a:cubicBezTo>
                  <a:lnTo>
                    <a:pt x="10259822" y="1590294"/>
                  </a:lnTo>
                  <a:cubicBezTo>
                    <a:pt x="10259822" y="1765935"/>
                    <a:pt x="10117455" y="1908302"/>
                    <a:pt x="9941814" y="1908302"/>
                  </a:cubicBezTo>
                  <a:lnTo>
                    <a:pt x="318008" y="1908302"/>
                  </a:lnTo>
                  <a:cubicBezTo>
                    <a:pt x="142367" y="1908429"/>
                    <a:pt x="0" y="1765935"/>
                    <a:pt x="0" y="1590294"/>
                  </a:cubicBezTo>
                  <a:close/>
                </a:path>
              </a:pathLst>
            </a:custGeom>
            <a:solidFill>
              <a:srgbClr val="FFFFFF"/>
            </a:solidFill>
            <a:ln w="13970" cap="sq">
              <a:solidFill>
                <a:srgbClr val="D7DFEC"/>
              </a:solidFill>
              <a:prstDash val="solid"/>
              <a:miter/>
            </a:ln>
          </p:spPr>
        </p:sp>
      </p:grpSp>
      <p:sp>
        <p:nvSpPr>
          <p:cNvPr name="TextBox 30" id="30"/>
          <p:cNvSpPr txBox="true"/>
          <p:nvPr/>
        </p:nvSpPr>
        <p:spPr>
          <a:xfrm rot="0">
            <a:off x="9482328" y="2221230"/>
            <a:ext cx="7296912" cy="2762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040"/>
              </a:lnSpc>
            </a:pPr>
            <a:r>
              <a:rPr lang="en-US" sz="1700">
                <a:solidFill>
                  <a:srgbClr val="090E14"/>
                </a:solidFill>
                <a:latin typeface="Archivo Black"/>
                <a:ea typeface="Archivo Black"/>
                <a:cs typeface="Archivo Black"/>
                <a:sym typeface="Archivo Black"/>
              </a:rPr>
              <a:t>Subject loop</a:t>
            </a:r>
          </a:p>
        </p:txBody>
      </p:sp>
      <p:sp>
        <p:nvSpPr>
          <p:cNvPr name="TextBox 31" id="31"/>
          <p:cNvSpPr txBox="true"/>
          <p:nvPr/>
        </p:nvSpPr>
        <p:spPr>
          <a:xfrm rot="0">
            <a:off x="9482328" y="2660523"/>
            <a:ext cx="7278624" cy="2190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80"/>
              </a:lnSpc>
            </a:pPr>
            <a:r>
              <a:rPr lang="en-US" sz="1400">
                <a:solidFill>
                  <a:srgbClr val="585F6A"/>
                </a:solidFill>
                <a:latin typeface="Archivo Black"/>
                <a:ea typeface="Archivo Black"/>
                <a:cs typeface="Archivo Black"/>
                <a:sym typeface="Archivo Black"/>
              </a:rPr>
              <a:t>Processes each subject using a for loop.</a:t>
            </a:r>
          </a:p>
        </p:txBody>
      </p:sp>
      <p:grpSp>
        <p:nvGrpSpPr>
          <p:cNvPr name="Group 32" id="32"/>
          <p:cNvGrpSpPr/>
          <p:nvPr/>
        </p:nvGrpSpPr>
        <p:grpSpPr>
          <a:xfrm rot="0">
            <a:off x="980570" y="3879218"/>
            <a:ext cx="7694933" cy="1431293"/>
            <a:chOff x="0" y="0"/>
            <a:chExt cx="10259911" cy="1908391"/>
          </a:xfrm>
        </p:grpSpPr>
        <p:sp>
          <p:nvSpPr>
            <p:cNvPr name="Freeform 33" id="33"/>
            <p:cNvSpPr/>
            <p:nvPr/>
          </p:nvSpPr>
          <p:spPr>
            <a:xfrm flipH="false" flipV="false" rot="0">
              <a:off x="0" y="0"/>
              <a:ext cx="10259822" cy="1908302"/>
            </a:xfrm>
            <a:custGeom>
              <a:avLst/>
              <a:gdLst/>
              <a:ahLst/>
              <a:cxnLst/>
              <a:rect r="r" b="b" t="t" l="l"/>
              <a:pathLst>
                <a:path h="1908302" w="10259822">
                  <a:moveTo>
                    <a:pt x="0" y="318008"/>
                  </a:moveTo>
                  <a:cubicBezTo>
                    <a:pt x="0" y="142367"/>
                    <a:pt x="142367" y="0"/>
                    <a:pt x="318008" y="0"/>
                  </a:cubicBezTo>
                  <a:lnTo>
                    <a:pt x="9941814" y="0"/>
                  </a:lnTo>
                  <a:cubicBezTo>
                    <a:pt x="10117455" y="0"/>
                    <a:pt x="10259822" y="142367"/>
                    <a:pt x="10259822" y="318008"/>
                  </a:cubicBezTo>
                  <a:lnTo>
                    <a:pt x="10259822" y="1590294"/>
                  </a:lnTo>
                  <a:cubicBezTo>
                    <a:pt x="10259822" y="1765935"/>
                    <a:pt x="10117455" y="1908302"/>
                    <a:pt x="9941814" y="1908302"/>
                  </a:cubicBezTo>
                  <a:lnTo>
                    <a:pt x="318008" y="1908302"/>
                  </a:lnTo>
                  <a:cubicBezTo>
                    <a:pt x="142367" y="1908429"/>
                    <a:pt x="0" y="1765935"/>
                    <a:pt x="0" y="1590294"/>
                  </a:cubicBezTo>
                  <a:close/>
                </a:path>
              </a:pathLst>
            </a:custGeom>
            <a:solidFill>
              <a:srgbClr val="FFFFFF"/>
            </a:solidFill>
            <a:ln w="13970" cap="sq">
              <a:solidFill>
                <a:srgbClr val="D7DFEC"/>
              </a:solidFill>
              <a:prstDash val="solid"/>
              <a:miter/>
            </a:ln>
          </p:spPr>
        </p:sp>
      </p:grpSp>
      <p:sp>
        <p:nvSpPr>
          <p:cNvPr name="TextBox 34" id="34"/>
          <p:cNvSpPr txBox="true"/>
          <p:nvPr/>
        </p:nvSpPr>
        <p:spPr>
          <a:xfrm rot="0">
            <a:off x="1207008" y="4050030"/>
            <a:ext cx="7296912" cy="2762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040"/>
              </a:lnSpc>
            </a:pPr>
            <a:r>
              <a:rPr lang="en-US" sz="1700">
                <a:solidFill>
                  <a:srgbClr val="090E14"/>
                </a:solidFill>
                <a:latin typeface="Archivo Black"/>
                <a:ea typeface="Archivo Black"/>
                <a:cs typeface="Archivo Black"/>
                <a:sym typeface="Archivo Black"/>
              </a:rPr>
              <a:t>Validation</a:t>
            </a:r>
          </a:p>
        </p:txBody>
      </p:sp>
      <p:sp>
        <p:nvSpPr>
          <p:cNvPr name="TextBox 35" id="35"/>
          <p:cNvSpPr txBox="true"/>
          <p:nvPr/>
        </p:nvSpPr>
        <p:spPr>
          <a:xfrm rot="0">
            <a:off x="1207008" y="4489323"/>
            <a:ext cx="7278624" cy="2190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80"/>
              </a:lnSpc>
            </a:pPr>
            <a:r>
              <a:rPr lang="en-US" sz="1400">
                <a:solidFill>
                  <a:srgbClr val="585F6A"/>
                </a:solidFill>
                <a:latin typeface="Archivo Black"/>
                <a:ea typeface="Archivo Black"/>
                <a:cs typeface="Archivo Black"/>
                <a:sym typeface="Archivo Black"/>
              </a:rPr>
              <a:t>Subjects must be positive; marks must be 0–100.</a:t>
            </a:r>
          </a:p>
        </p:txBody>
      </p:sp>
      <p:grpSp>
        <p:nvGrpSpPr>
          <p:cNvPr name="Group 36" id="36"/>
          <p:cNvGrpSpPr/>
          <p:nvPr/>
        </p:nvGrpSpPr>
        <p:grpSpPr>
          <a:xfrm rot="0">
            <a:off x="9255890" y="3879218"/>
            <a:ext cx="7694933" cy="1431293"/>
            <a:chOff x="0" y="0"/>
            <a:chExt cx="10259911" cy="1908391"/>
          </a:xfrm>
        </p:grpSpPr>
        <p:sp>
          <p:nvSpPr>
            <p:cNvPr name="Freeform 37" id="37"/>
            <p:cNvSpPr/>
            <p:nvPr/>
          </p:nvSpPr>
          <p:spPr>
            <a:xfrm flipH="false" flipV="false" rot="0">
              <a:off x="0" y="0"/>
              <a:ext cx="10259822" cy="1908302"/>
            </a:xfrm>
            <a:custGeom>
              <a:avLst/>
              <a:gdLst/>
              <a:ahLst/>
              <a:cxnLst/>
              <a:rect r="r" b="b" t="t" l="l"/>
              <a:pathLst>
                <a:path h="1908302" w="10259822">
                  <a:moveTo>
                    <a:pt x="0" y="318008"/>
                  </a:moveTo>
                  <a:cubicBezTo>
                    <a:pt x="0" y="142367"/>
                    <a:pt x="142367" y="0"/>
                    <a:pt x="318008" y="0"/>
                  </a:cubicBezTo>
                  <a:lnTo>
                    <a:pt x="9941814" y="0"/>
                  </a:lnTo>
                  <a:cubicBezTo>
                    <a:pt x="10117455" y="0"/>
                    <a:pt x="10259822" y="142367"/>
                    <a:pt x="10259822" y="318008"/>
                  </a:cubicBezTo>
                  <a:lnTo>
                    <a:pt x="10259822" y="1590294"/>
                  </a:lnTo>
                  <a:cubicBezTo>
                    <a:pt x="10259822" y="1765935"/>
                    <a:pt x="10117455" y="1908302"/>
                    <a:pt x="9941814" y="1908302"/>
                  </a:cubicBezTo>
                  <a:lnTo>
                    <a:pt x="318008" y="1908302"/>
                  </a:lnTo>
                  <a:cubicBezTo>
                    <a:pt x="142367" y="1908429"/>
                    <a:pt x="0" y="1765935"/>
                    <a:pt x="0" y="1590294"/>
                  </a:cubicBezTo>
                  <a:close/>
                </a:path>
              </a:pathLst>
            </a:custGeom>
            <a:solidFill>
              <a:srgbClr val="FFFFFF"/>
            </a:solidFill>
            <a:ln w="13970" cap="sq">
              <a:solidFill>
                <a:srgbClr val="D7DFEC"/>
              </a:solidFill>
              <a:prstDash val="solid"/>
              <a:miter/>
            </a:ln>
          </p:spPr>
        </p:sp>
      </p:grpSp>
      <p:sp>
        <p:nvSpPr>
          <p:cNvPr name="TextBox 38" id="38"/>
          <p:cNvSpPr txBox="true"/>
          <p:nvPr/>
        </p:nvSpPr>
        <p:spPr>
          <a:xfrm rot="0">
            <a:off x="9482328" y="4050030"/>
            <a:ext cx="7296912" cy="2762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040"/>
              </a:lnSpc>
            </a:pPr>
            <a:r>
              <a:rPr lang="en-US" sz="1700">
                <a:solidFill>
                  <a:srgbClr val="090E14"/>
                </a:solidFill>
                <a:latin typeface="Archivo Black"/>
                <a:ea typeface="Archivo Black"/>
                <a:cs typeface="Archivo Black"/>
                <a:sym typeface="Archivo Black"/>
              </a:rPr>
              <a:t>Performance calculation</a:t>
            </a:r>
          </a:p>
        </p:txBody>
      </p:sp>
      <p:sp>
        <p:nvSpPr>
          <p:cNvPr name="TextBox 39" id="39"/>
          <p:cNvSpPr txBox="true"/>
          <p:nvPr/>
        </p:nvSpPr>
        <p:spPr>
          <a:xfrm rot="0">
            <a:off x="9482328" y="4489323"/>
            <a:ext cx="7278624" cy="2190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80"/>
              </a:lnSpc>
            </a:pPr>
            <a:r>
              <a:rPr lang="en-US" sz="1400">
                <a:solidFill>
                  <a:srgbClr val="585F6A"/>
                </a:solidFill>
                <a:latin typeface="Archivo Black"/>
                <a:ea typeface="Archivo Black"/>
                <a:cs typeface="Archivo Black"/>
                <a:sym typeface="Archivo Black"/>
              </a:rPr>
              <a:t>Computes total and average marks.</a:t>
            </a:r>
          </a:p>
        </p:txBody>
      </p:sp>
      <p:grpSp>
        <p:nvGrpSpPr>
          <p:cNvPr name="Group 40" id="40"/>
          <p:cNvGrpSpPr/>
          <p:nvPr/>
        </p:nvGrpSpPr>
        <p:grpSpPr>
          <a:xfrm rot="0">
            <a:off x="980570" y="5708018"/>
            <a:ext cx="7694933" cy="1431293"/>
            <a:chOff x="0" y="0"/>
            <a:chExt cx="10259911" cy="1908391"/>
          </a:xfrm>
        </p:grpSpPr>
        <p:sp>
          <p:nvSpPr>
            <p:cNvPr name="Freeform 41" id="41"/>
            <p:cNvSpPr/>
            <p:nvPr/>
          </p:nvSpPr>
          <p:spPr>
            <a:xfrm flipH="false" flipV="false" rot="0">
              <a:off x="0" y="0"/>
              <a:ext cx="10259822" cy="1908302"/>
            </a:xfrm>
            <a:custGeom>
              <a:avLst/>
              <a:gdLst/>
              <a:ahLst/>
              <a:cxnLst/>
              <a:rect r="r" b="b" t="t" l="l"/>
              <a:pathLst>
                <a:path h="1908302" w="10259822">
                  <a:moveTo>
                    <a:pt x="0" y="318008"/>
                  </a:moveTo>
                  <a:cubicBezTo>
                    <a:pt x="0" y="142367"/>
                    <a:pt x="142367" y="0"/>
                    <a:pt x="318008" y="0"/>
                  </a:cubicBezTo>
                  <a:lnTo>
                    <a:pt x="9941814" y="0"/>
                  </a:lnTo>
                  <a:cubicBezTo>
                    <a:pt x="10117455" y="0"/>
                    <a:pt x="10259822" y="142367"/>
                    <a:pt x="10259822" y="318008"/>
                  </a:cubicBezTo>
                  <a:lnTo>
                    <a:pt x="10259822" y="1590294"/>
                  </a:lnTo>
                  <a:cubicBezTo>
                    <a:pt x="10259822" y="1765935"/>
                    <a:pt x="10117455" y="1908302"/>
                    <a:pt x="9941814" y="1908302"/>
                  </a:cubicBezTo>
                  <a:lnTo>
                    <a:pt x="318008" y="1908302"/>
                  </a:lnTo>
                  <a:cubicBezTo>
                    <a:pt x="142367" y="1908429"/>
                    <a:pt x="0" y="1765935"/>
                    <a:pt x="0" y="1590294"/>
                  </a:cubicBezTo>
                  <a:close/>
                </a:path>
              </a:pathLst>
            </a:custGeom>
            <a:solidFill>
              <a:srgbClr val="FFFFFF"/>
            </a:solidFill>
            <a:ln w="13970" cap="sq">
              <a:solidFill>
                <a:srgbClr val="D7DFEC"/>
              </a:solidFill>
              <a:prstDash val="solid"/>
              <a:miter/>
            </a:ln>
          </p:spPr>
        </p:sp>
      </p:grpSp>
      <p:sp>
        <p:nvSpPr>
          <p:cNvPr name="TextBox 42" id="42"/>
          <p:cNvSpPr txBox="true"/>
          <p:nvPr/>
        </p:nvSpPr>
        <p:spPr>
          <a:xfrm rot="0">
            <a:off x="1207008" y="5878830"/>
            <a:ext cx="7296912" cy="2762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040"/>
              </a:lnSpc>
            </a:pPr>
            <a:r>
              <a:rPr lang="en-US" sz="1700">
                <a:solidFill>
                  <a:srgbClr val="090E14"/>
                </a:solidFill>
                <a:latin typeface="Archivo Black"/>
                <a:ea typeface="Archivo Black"/>
                <a:cs typeface="Archivo Black"/>
                <a:sym typeface="Archivo Black"/>
              </a:rPr>
              <a:t>Grade classification</a:t>
            </a:r>
          </a:p>
        </p:txBody>
      </p:sp>
      <p:sp>
        <p:nvSpPr>
          <p:cNvPr name="TextBox 43" id="43"/>
          <p:cNvSpPr txBox="true"/>
          <p:nvPr/>
        </p:nvSpPr>
        <p:spPr>
          <a:xfrm rot="0">
            <a:off x="1207008" y="6318123"/>
            <a:ext cx="7278624" cy="2190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80"/>
              </a:lnSpc>
            </a:pPr>
            <a:r>
              <a:rPr lang="en-US" sz="1400">
                <a:solidFill>
                  <a:srgbClr val="585F6A"/>
                </a:solidFill>
                <a:latin typeface="Archivo Black"/>
                <a:ea typeface="Archivo Black"/>
                <a:cs typeface="Archivo Black"/>
                <a:sym typeface="Archivo Black"/>
              </a:rPr>
              <a:t>A ≥ 90; B ≥ 75; C ≥ 60; otherwise D.</a:t>
            </a:r>
          </a:p>
        </p:txBody>
      </p:sp>
      <p:grpSp>
        <p:nvGrpSpPr>
          <p:cNvPr name="Group 44" id="44"/>
          <p:cNvGrpSpPr/>
          <p:nvPr/>
        </p:nvGrpSpPr>
        <p:grpSpPr>
          <a:xfrm rot="0">
            <a:off x="9255890" y="5708018"/>
            <a:ext cx="7694933" cy="1431293"/>
            <a:chOff x="0" y="0"/>
            <a:chExt cx="10259911" cy="1908391"/>
          </a:xfrm>
        </p:grpSpPr>
        <p:sp>
          <p:nvSpPr>
            <p:cNvPr name="Freeform 45" id="45"/>
            <p:cNvSpPr/>
            <p:nvPr/>
          </p:nvSpPr>
          <p:spPr>
            <a:xfrm flipH="false" flipV="false" rot="0">
              <a:off x="0" y="0"/>
              <a:ext cx="10259822" cy="1908302"/>
            </a:xfrm>
            <a:custGeom>
              <a:avLst/>
              <a:gdLst/>
              <a:ahLst/>
              <a:cxnLst/>
              <a:rect r="r" b="b" t="t" l="l"/>
              <a:pathLst>
                <a:path h="1908302" w="10259822">
                  <a:moveTo>
                    <a:pt x="0" y="318008"/>
                  </a:moveTo>
                  <a:cubicBezTo>
                    <a:pt x="0" y="142367"/>
                    <a:pt x="142367" y="0"/>
                    <a:pt x="318008" y="0"/>
                  </a:cubicBezTo>
                  <a:lnTo>
                    <a:pt x="9941814" y="0"/>
                  </a:lnTo>
                  <a:cubicBezTo>
                    <a:pt x="10117455" y="0"/>
                    <a:pt x="10259822" y="142367"/>
                    <a:pt x="10259822" y="318008"/>
                  </a:cubicBezTo>
                  <a:lnTo>
                    <a:pt x="10259822" y="1590294"/>
                  </a:lnTo>
                  <a:cubicBezTo>
                    <a:pt x="10259822" y="1765935"/>
                    <a:pt x="10117455" y="1908302"/>
                    <a:pt x="9941814" y="1908302"/>
                  </a:cubicBezTo>
                  <a:lnTo>
                    <a:pt x="318008" y="1908302"/>
                  </a:lnTo>
                  <a:cubicBezTo>
                    <a:pt x="142367" y="1908429"/>
                    <a:pt x="0" y="1765935"/>
                    <a:pt x="0" y="1590294"/>
                  </a:cubicBezTo>
                  <a:close/>
                </a:path>
              </a:pathLst>
            </a:custGeom>
            <a:solidFill>
              <a:srgbClr val="FFFFFF"/>
            </a:solidFill>
            <a:ln w="13970" cap="sq">
              <a:solidFill>
                <a:srgbClr val="D7DFEC"/>
              </a:solidFill>
              <a:prstDash val="solid"/>
              <a:miter/>
            </a:ln>
          </p:spPr>
        </p:sp>
      </p:grpSp>
      <p:sp>
        <p:nvSpPr>
          <p:cNvPr name="TextBox 46" id="46"/>
          <p:cNvSpPr txBox="true"/>
          <p:nvPr/>
        </p:nvSpPr>
        <p:spPr>
          <a:xfrm rot="0">
            <a:off x="9482328" y="5878830"/>
            <a:ext cx="7296912" cy="2762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040"/>
              </a:lnSpc>
            </a:pPr>
            <a:r>
              <a:rPr lang="en-US" sz="1700">
                <a:solidFill>
                  <a:srgbClr val="090E14"/>
                </a:solidFill>
                <a:latin typeface="Archivo Black"/>
                <a:ea typeface="Archivo Black"/>
                <a:cs typeface="Archivo Black"/>
                <a:sym typeface="Archivo Black"/>
              </a:rPr>
              <a:t>Attendance eligibility</a:t>
            </a:r>
          </a:p>
        </p:txBody>
      </p:sp>
      <p:sp>
        <p:nvSpPr>
          <p:cNvPr name="TextBox 47" id="47"/>
          <p:cNvSpPr txBox="true"/>
          <p:nvPr/>
        </p:nvSpPr>
        <p:spPr>
          <a:xfrm rot="0">
            <a:off x="9482328" y="6318123"/>
            <a:ext cx="7278624" cy="2190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80"/>
              </a:lnSpc>
            </a:pPr>
            <a:r>
              <a:rPr lang="en-US" sz="1400">
                <a:solidFill>
                  <a:srgbClr val="585F6A"/>
                </a:solidFill>
                <a:latin typeface="Archivo Black"/>
                <a:ea typeface="Archivo Black"/>
                <a:cs typeface="Archivo Black"/>
                <a:sym typeface="Archivo Black"/>
              </a:rPr>
              <a:t>75% or above = Eligible; below 75% = Not Eligible.</a:t>
            </a:r>
          </a:p>
        </p:txBody>
      </p:sp>
      <p:grpSp>
        <p:nvGrpSpPr>
          <p:cNvPr name="Group 48" id="48"/>
          <p:cNvGrpSpPr/>
          <p:nvPr/>
        </p:nvGrpSpPr>
        <p:grpSpPr>
          <a:xfrm rot="0">
            <a:off x="5049650" y="7536818"/>
            <a:ext cx="7694933" cy="1431293"/>
            <a:chOff x="0" y="0"/>
            <a:chExt cx="10259911" cy="1908391"/>
          </a:xfrm>
        </p:grpSpPr>
        <p:sp>
          <p:nvSpPr>
            <p:cNvPr name="Freeform 49" id="49"/>
            <p:cNvSpPr/>
            <p:nvPr/>
          </p:nvSpPr>
          <p:spPr>
            <a:xfrm flipH="false" flipV="false" rot="0">
              <a:off x="0" y="0"/>
              <a:ext cx="10259822" cy="1908302"/>
            </a:xfrm>
            <a:custGeom>
              <a:avLst/>
              <a:gdLst/>
              <a:ahLst/>
              <a:cxnLst/>
              <a:rect r="r" b="b" t="t" l="l"/>
              <a:pathLst>
                <a:path h="1908302" w="10259822">
                  <a:moveTo>
                    <a:pt x="0" y="318008"/>
                  </a:moveTo>
                  <a:cubicBezTo>
                    <a:pt x="0" y="142367"/>
                    <a:pt x="142367" y="0"/>
                    <a:pt x="318008" y="0"/>
                  </a:cubicBezTo>
                  <a:lnTo>
                    <a:pt x="9941814" y="0"/>
                  </a:lnTo>
                  <a:cubicBezTo>
                    <a:pt x="10117455" y="0"/>
                    <a:pt x="10259822" y="142367"/>
                    <a:pt x="10259822" y="318008"/>
                  </a:cubicBezTo>
                  <a:lnTo>
                    <a:pt x="10259822" y="1590294"/>
                  </a:lnTo>
                  <a:cubicBezTo>
                    <a:pt x="10259822" y="1765935"/>
                    <a:pt x="10117455" y="1908302"/>
                    <a:pt x="9941814" y="1908302"/>
                  </a:cubicBezTo>
                  <a:lnTo>
                    <a:pt x="318008" y="1908302"/>
                  </a:lnTo>
                  <a:cubicBezTo>
                    <a:pt x="142367" y="1908429"/>
                    <a:pt x="0" y="1765935"/>
                    <a:pt x="0" y="1590294"/>
                  </a:cubicBezTo>
                  <a:close/>
                </a:path>
              </a:pathLst>
            </a:custGeom>
            <a:solidFill>
              <a:srgbClr val="FFFFFF"/>
            </a:solidFill>
            <a:ln w="13970" cap="sq">
              <a:solidFill>
                <a:srgbClr val="D7DFEC"/>
              </a:solidFill>
              <a:prstDash val="solid"/>
              <a:miter/>
            </a:ln>
          </p:spPr>
        </p:sp>
      </p:grpSp>
      <p:sp>
        <p:nvSpPr>
          <p:cNvPr name="TextBox 50" id="50"/>
          <p:cNvSpPr txBox="true"/>
          <p:nvPr/>
        </p:nvSpPr>
        <p:spPr>
          <a:xfrm rot="0">
            <a:off x="5276088" y="7707630"/>
            <a:ext cx="7296912" cy="2762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040"/>
              </a:lnSpc>
            </a:pPr>
            <a:r>
              <a:rPr lang="en-US" sz="1700">
                <a:solidFill>
                  <a:srgbClr val="090E14"/>
                </a:solidFill>
                <a:latin typeface="Archivo Black"/>
                <a:ea typeface="Archivo Black"/>
                <a:cs typeface="Archivo Black"/>
                <a:sym typeface="Archivo Black"/>
              </a:rPr>
              <a:t>Final report</a:t>
            </a:r>
          </a:p>
        </p:txBody>
      </p:sp>
      <p:sp>
        <p:nvSpPr>
          <p:cNvPr name="TextBox 51" id="51"/>
          <p:cNvSpPr txBox="true"/>
          <p:nvPr/>
        </p:nvSpPr>
        <p:spPr>
          <a:xfrm rot="0">
            <a:off x="5276088" y="8146923"/>
            <a:ext cx="7278624" cy="2190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80"/>
              </a:lnSpc>
            </a:pPr>
            <a:r>
              <a:rPr lang="en-US" sz="1400">
                <a:solidFill>
                  <a:srgbClr val="585F6A"/>
                </a:solidFill>
                <a:latin typeface="Archivo Black"/>
                <a:ea typeface="Archivo Black"/>
                <a:cs typeface="Archivo Black"/>
                <a:sym typeface="Archivo Black"/>
              </a:rPr>
              <a:t>Prints name, total, average, grade, and exam eligibility.</a:t>
            </a:r>
          </a:p>
        </p:txBody>
      </p: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22355" y="22355"/>
            <a:ext cx="18243299" cy="10242299"/>
            <a:chOff x="0" y="0"/>
            <a:chExt cx="24324399" cy="13656399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24438" cy="13656438"/>
            </a:xfrm>
            <a:custGeom>
              <a:avLst/>
              <a:gdLst/>
              <a:ahLst/>
              <a:cxnLst/>
              <a:rect r="r" b="b" t="t" l="l"/>
              <a:pathLst>
                <a:path h="13656438" w="24324438">
                  <a:moveTo>
                    <a:pt x="0" y="0"/>
                  </a:moveTo>
                  <a:lnTo>
                    <a:pt x="24324438" y="0"/>
                  </a:lnTo>
                  <a:lnTo>
                    <a:pt x="24324438" y="13656438"/>
                  </a:lnTo>
                  <a:lnTo>
                    <a:pt x="0" y="13656438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47866" r="0" b="-47866"/>
              </a:stretch>
            </a:blipFill>
            <a:ln w="10160" cap="sq">
              <a:solidFill>
                <a:srgbClr val="090E14"/>
              </a:solidFill>
              <a:prstDash val="solid"/>
              <a:miter/>
            </a:ln>
          </p:spPr>
        </p:sp>
      </p:grpSp>
      <p:grpSp>
        <p:nvGrpSpPr>
          <p:cNvPr name="Group 4" id="4"/>
          <p:cNvGrpSpPr/>
          <p:nvPr/>
        </p:nvGrpSpPr>
        <p:grpSpPr>
          <a:xfrm rot="2700000">
            <a:off x="16504920" y="73152"/>
            <a:ext cx="54864" cy="530352"/>
            <a:chOff x="0" y="0"/>
            <a:chExt cx="73152" cy="707136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73152" cy="707136"/>
            </a:xfrm>
            <a:custGeom>
              <a:avLst/>
              <a:gdLst/>
              <a:ahLst/>
              <a:cxnLst/>
              <a:rect r="r" b="b" t="t" l="l"/>
              <a:pathLst>
                <a:path h="707136" w="73152">
                  <a:moveTo>
                    <a:pt x="0" y="0"/>
                  </a:moveTo>
                  <a:lnTo>
                    <a:pt x="73152" y="0"/>
                  </a:lnTo>
                  <a:lnTo>
                    <a:pt x="73152" y="707136"/>
                  </a:lnTo>
                  <a:lnTo>
                    <a:pt x="0" y="707136"/>
                  </a:lnTo>
                  <a:close/>
                </a:path>
              </a:pathLst>
            </a:custGeom>
            <a:solidFill>
              <a:srgbClr val="090E14"/>
            </a:solidFill>
          </p:spPr>
        </p:sp>
      </p:grpSp>
      <p:grpSp>
        <p:nvGrpSpPr>
          <p:cNvPr name="Group 6" id="6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7" id="7" descr="bg.jpeg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-3364" r="0" b="-3364"/>
              </a:stretch>
            </a:blipFill>
          </p:spPr>
        </p:sp>
      </p:grpSp>
      <p:grpSp>
        <p:nvGrpSpPr>
          <p:cNvPr name="Group 8" id="8"/>
          <p:cNvGrpSpPr/>
          <p:nvPr/>
        </p:nvGrpSpPr>
        <p:grpSpPr>
          <a:xfrm rot="2700000">
            <a:off x="16934688" y="420624"/>
            <a:ext cx="54864" cy="530352"/>
            <a:chOff x="0" y="0"/>
            <a:chExt cx="73152" cy="707136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73152" cy="707136"/>
            </a:xfrm>
            <a:custGeom>
              <a:avLst/>
              <a:gdLst/>
              <a:ahLst/>
              <a:cxnLst/>
              <a:rect r="r" b="b" t="t" l="l"/>
              <a:pathLst>
                <a:path h="707136" w="73152">
                  <a:moveTo>
                    <a:pt x="0" y="0"/>
                  </a:moveTo>
                  <a:lnTo>
                    <a:pt x="73152" y="0"/>
                  </a:lnTo>
                  <a:lnTo>
                    <a:pt x="73152" y="707136"/>
                  </a:lnTo>
                  <a:lnTo>
                    <a:pt x="0" y="707136"/>
                  </a:lnTo>
                  <a:close/>
                </a:path>
              </a:pathLst>
            </a:custGeom>
            <a:solidFill>
              <a:srgbClr val="090E14"/>
            </a:solidFill>
          </p:spPr>
        </p:sp>
      </p:grpSp>
      <p:grpSp>
        <p:nvGrpSpPr>
          <p:cNvPr name="Group 10" id="10"/>
          <p:cNvGrpSpPr/>
          <p:nvPr/>
        </p:nvGrpSpPr>
        <p:grpSpPr>
          <a:xfrm rot="2700000">
            <a:off x="17364456" y="768096"/>
            <a:ext cx="54864" cy="530352"/>
            <a:chOff x="0" y="0"/>
            <a:chExt cx="73152" cy="707136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73152" cy="707136"/>
            </a:xfrm>
            <a:custGeom>
              <a:avLst/>
              <a:gdLst/>
              <a:ahLst/>
              <a:cxnLst/>
              <a:rect r="r" b="b" t="t" l="l"/>
              <a:pathLst>
                <a:path h="707136" w="73152">
                  <a:moveTo>
                    <a:pt x="0" y="0"/>
                  </a:moveTo>
                  <a:lnTo>
                    <a:pt x="73152" y="0"/>
                  </a:lnTo>
                  <a:lnTo>
                    <a:pt x="73152" y="707136"/>
                  </a:lnTo>
                  <a:lnTo>
                    <a:pt x="0" y="707136"/>
                  </a:lnTo>
                  <a:close/>
                </a:path>
              </a:pathLst>
            </a:custGeom>
            <a:solidFill>
              <a:srgbClr val="090E14"/>
            </a:solidFill>
          </p:spPr>
        </p:sp>
      </p:grpSp>
      <p:grpSp>
        <p:nvGrpSpPr>
          <p:cNvPr name="Group 12" id="12"/>
          <p:cNvGrpSpPr/>
          <p:nvPr/>
        </p:nvGrpSpPr>
        <p:grpSpPr>
          <a:xfrm rot="2700000">
            <a:off x="17794224" y="1115568"/>
            <a:ext cx="54864" cy="530352"/>
            <a:chOff x="0" y="0"/>
            <a:chExt cx="73152" cy="707136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73152" cy="707136"/>
            </a:xfrm>
            <a:custGeom>
              <a:avLst/>
              <a:gdLst/>
              <a:ahLst/>
              <a:cxnLst/>
              <a:rect r="r" b="b" t="t" l="l"/>
              <a:pathLst>
                <a:path h="707136" w="73152">
                  <a:moveTo>
                    <a:pt x="0" y="0"/>
                  </a:moveTo>
                  <a:lnTo>
                    <a:pt x="73152" y="0"/>
                  </a:lnTo>
                  <a:lnTo>
                    <a:pt x="73152" y="707136"/>
                  </a:lnTo>
                  <a:lnTo>
                    <a:pt x="0" y="707136"/>
                  </a:lnTo>
                  <a:close/>
                </a:path>
              </a:pathLst>
            </a:custGeom>
            <a:solidFill>
              <a:srgbClr val="090E14"/>
            </a:solidFill>
          </p:spPr>
        </p:sp>
      </p:grpSp>
      <p:grpSp>
        <p:nvGrpSpPr>
          <p:cNvPr name="Group 14" id="14"/>
          <p:cNvGrpSpPr/>
          <p:nvPr/>
        </p:nvGrpSpPr>
        <p:grpSpPr>
          <a:xfrm rot="2700000">
            <a:off x="18223992" y="1463040"/>
            <a:ext cx="54864" cy="530352"/>
            <a:chOff x="0" y="0"/>
            <a:chExt cx="73152" cy="707136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73152" cy="707136"/>
            </a:xfrm>
            <a:custGeom>
              <a:avLst/>
              <a:gdLst/>
              <a:ahLst/>
              <a:cxnLst/>
              <a:rect r="r" b="b" t="t" l="l"/>
              <a:pathLst>
                <a:path h="707136" w="73152">
                  <a:moveTo>
                    <a:pt x="0" y="0"/>
                  </a:moveTo>
                  <a:lnTo>
                    <a:pt x="73152" y="0"/>
                  </a:lnTo>
                  <a:lnTo>
                    <a:pt x="73152" y="707136"/>
                  </a:lnTo>
                  <a:lnTo>
                    <a:pt x="0" y="707136"/>
                  </a:lnTo>
                  <a:close/>
                </a:path>
              </a:pathLst>
            </a:custGeom>
            <a:solidFill>
              <a:srgbClr val="090E14"/>
            </a:solidFill>
          </p:spPr>
        </p:sp>
      </p:grpSp>
      <p:grpSp>
        <p:nvGrpSpPr>
          <p:cNvPr name="Group 16" id="16"/>
          <p:cNvGrpSpPr/>
          <p:nvPr/>
        </p:nvGrpSpPr>
        <p:grpSpPr>
          <a:xfrm rot="2700000">
            <a:off x="18653760" y="1810512"/>
            <a:ext cx="54864" cy="530352"/>
            <a:chOff x="0" y="0"/>
            <a:chExt cx="73152" cy="707136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73152" cy="707136"/>
            </a:xfrm>
            <a:custGeom>
              <a:avLst/>
              <a:gdLst/>
              <a:ahLst/>
              <a:cxnLst/>
              <a:rect r="r" b="b" t="t" l="l"/>
              <a:pathLst>
                <a:path h="707136" w="73152">
                  <a:moveTo>
                    <a:pt x="0" y="0"/>
                  </a:moveTo>
                  <a:lnTo>
                    <a:pt x="73152" y="0"/>
                  </a:lnTo>
                  <a:lnTo>
                    <a:pt x="73152" y="707136"/>
                  </a:lnTo>
                  <a:lnTo>
                    <a:pt x="0" y="707136"/>
                  </a:lnTo>
                  <a:close/>
                </a:path>
              </a:pathLst>
            </a:custGeom>
            <a:solidFill>
              <a:srgbClr val="090E14"/>
            </a:solidFill>
          </p:spPr>
        </p:sp>
      </p:grpSp>
      <p:grpSp>
        <p:nvGrpSpPr>
          <p:cNvPr name="Group 18" id="18"/>
          <p:cNvGrpSpPr/>
          <p:nvPr/>
        </p:nvGrpSpPr>
        <p:grpSpPr>
          <a:xfrm rot="2700000">
            <a:off x="19083528" y="2157984"/>
            <a:ext cx="54864" cy="530352"/>
            <a:chOff x="0" y="0"/>
            <a:chExt cx="73152" cy="707136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73152" cy="707136"/>
            </a:xfrm>
            <a:custGeom>
              <a:avLst/>
              <a:gdLst/>
              <a:ahLst/>
              <a:cxnLst/>
              <a:rect r="r" b="b" t="t" l="l"/>
              <a:pathLst>
                <a:path h="707136" w="73152">
                  <a:moveTo>
                    <a:pt x="0" y="0"/>
                  </a:moveTo>
                  <a:lnTo>
                    <a:pt x="73152" y="0"/>
                  </a:lnTo>
                  <a:lnTo>
                    <a:pt x="73152" y="707136"/>
                  </a:lnTo>
                  <a:lnTo>
                    <a:pt x="0" y="707136"/>
                  </a:lnTo>
                  <a:close/>
                </a:path>
              </a:pathLst>
            </a:custGeom>
            <a:solidFill>
              <a:srgbClr val="090E14"/>
            </a:solidFill>
          </p:spPr>
        </p:sp>
      </p:grpSp>
      <p:grpSp>
        <p:nvGrpSpPr>
          <p:cNvPr name="Group 20" id="20"/>
          <p:cNvGrpSpPr/>
          <p:nvPr/>
        </p:nvGrpSpPr>
        <p:grpSpPr>
          <a:xfrm rot="0">
            <a:off x="987552" y="1755648"/>
            <a:ext cx="1051560" cy="50292"/>
            <a:chOff x="0" y="0"/>
            <a:chExt cx="1402080" cy="67056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1402080" cy="67056"/>
            </a:xfrm>
            <a:custGeom>
              <a:avLst/>
              <a:gdLst/>
              <a:ahLst/>
              <a:cxnLst/>
              <a:rect r="r" b="b" t="t" l="l"/>
              <a:pathLst>
                <a:path h="67056" w="1402080">
                  <a:moveTo>
                    <a:pt x="0" y="0"/>
                  </a:moveTo>
                  <a:lnTo>
                    <a:pt x="1402080" y="0"/>
                  </a:lnTo>
                  <a:lnTo>
                    <a:pt x="1402080" y="67056"/>
                  </a:lnTo>
                  <a:lnTo>
                    <a:pt x="0" y="67056"/>
                  </a:lnTo>
                  <a:close/>
                </a:path>
              </a:pathLst>
            </a:custGeom>
            <a:solidFill>
              <a:srgbClr val="265BCD"/>
            </a:solidFill>
          </p:spPr>
        </p:sp>
      </p:grpSp>
      <p:sp>
        <p:nvSpPr>
          <p:cNvPr name="TextBox 22" id="22"/>
          <p:cNvSpPr txBox="true"/>
          <p:nvPr/>
        </p:nvSpPr>
        <p:spPr>
          <a:xfrm rot="0">
            <a:off x="1005840" y="9756648"/>
            <a:ext cx="10936224" cy="1428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199"/>
              </a:lnSpc>
            </a:pPr>
            <a:r>
              <a:rPr lang="en-US" sz="999">
                <a:solidFill>
                  <a:srgbClr val="585F6A"/>
                </a:solidFill>
                <a:latin typeface="Archivo Black"/>
                <a:ea typeface="Archivo Black"/>
                <a:cs typeface="Archivo Black"/>
                <a:sym typeface="Archivo Black"/>
              </a:rPr>
              <a:t>JAVA SOURCE: StudentGrade.java</a:t>
            </a:r>
          </a:p>
        </p:txBody>
      </p:sp>
      <p:sp>
        <p:nvSpPr>
          <p:cNvPr name="Freeform 23" id="23"/>
          <p:cNvSpPr/>
          <p:nvPr/>
        </p:nvSpPr>
        <p:spPr>
          <a:xfrm flipH="false" flipV="false" rot="0">
            <a:off x="978408" y="1863445"/>
            <a:ext cx="7224547" cy="8036078"/>
          </a:xfrm>
          <a:custGeom>
            <a:avLst/>
            <a:gdLst/>
            <a:ahLst/>
            <a:cxnLst/>
            <a:rect r="r" b="b" t="t" l="l"/>
            <a:pathLst>
              <a:path h="8036078" w="7224547">
                <a:moveTo>
                  <a:pt x="0" y="0"/>
                </a:moveTo>
                <a:lnTo>
                  <a:pt x="7224547" y="0"/>
                </a:lnTo>
                <a:lnTo>
                  <a:pt x="7224547" y="8036078"/>
                </a:lnTo>
                <a:lnTo>
                  <a:pt x="0" y="8036078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-1450" b="0"/>
            </a:stretch>
          </a:blipFill>
        </p:spPr>
      </p:sp>
      <p:sp>
        <p:nvSpPr>
          <p:cNvPr name="Freeform 24" id="24"/>
          <p:cNvSpPr/>
          <p:nvPr/>
        </p:nvSpPr>
        <p:spPr>
          <a:xfrm flipH="false" flipV="false" rot="0">
            <a:off x="8845665" y="1848231"/>
            <a:ext cx="6726198" cy="6115554"/>
          </a:xfrm>
          <a:custGeom>
            <a:avLst/>
            <a:gdLst/>
            <a:ahLst/>
            <a:cxnLst/>
            <a:rect r="r" b="b" t="t" l="l"/>
            <a:pathLst>
              <a:path h="6115554" w="6726198">
                <a:moveTo>
                  <a:pt x="0" y="0"/>
                </a:moveTo>
                <a:lnTo>
                  <a:pt x="6726198" y="0"/>
                </a:lnTo>
                <a:lnTo>
                  <a:pt x="6726198" y="6115554"/>
                </a:lnTo>
                <a:lnTo>
                  <a:pt x="0" y="6115554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TextBox 25" id="25"/>
          <p:cNvSpPr txBox="true"/>
          <p:nvPr/>
        </p:nvSpPr>
        <p:spPr>
          <a:xfrm rot="0">
            <a:off x="978408" y="575691"/>
            <a:ext cx="12673584" cy="5524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320"/>
              </a:lnSpc>
            </a:pPr>
            <a:r>
              <a:rPr lang="en-US" sz="3600">
                <a:solidFill>
                  <a:srgbClr val="090E14"/>
                </a:solidFill>
                <a:latin typeface="Archivo Black"/>
                <a:ea typeface="Archivo Black"/>
                <a:cs typeface="Archivo Black"/>
                <a:sym typeface="Archivo Black"/>
              </a:rPr>
              <a:t>8. Implementation – Java Code Screenshots</a:t>
            </a:r>
          </a:p>
        </p:txBody>
      </p:sp>
      <p:sp>
        <p:nvSpPr>
          <p:cNvPr name="TextBox 26" id="26"/>
          <p:cNvSpPr txBox="true"/>
          <p:nvPr/>
        </p:nvSpPr>
        <p:spPr>
          <a:xfrm rot="0">
            <a:off x="1005840" y="1343406"/>
            <a:ext cx="14228064" cy="2762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040"/>
              </a:lnSpc>
            </a:pPr>
            <a:r>
              <a:rPr lang="en-US" sz="1700">
                <a:solidFill>
                  <a:srgbClr val="585F6A"/>
                </a:solidFill>
                <a:latin typeface="Archivo Black"/>
                <a:ea typeface="Archivo Black"/>
                <a:cs typeface="Archivo Black"/>
                <a:sym typeface="Archivo Black"/>
              </a:rPr>
              <a:t>Key sections of StudentGrade.java</a:t>
            </a:r>
          </a:p>
        </p:txBody>
      </p:sp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3" id="3" descr="bg.jpeg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-3364" r="0" b="-3364"/>
              </a:stretch>
            </a:blipFill>
          </p:spPr>
        </p:sp>
      </p:grpSp>
      <p:grpSp>
        <p:nvGrpSpPr>
          <p:cNvPr name="Group 4" id="4"/>
          <p:cNvGrpSpPr/>
          <p:nvPr/>
        </p:nvGrpSpPr>
        <p:grpSpPr>
          <a:xfrm rot="0">
            <a:off x="22355" y="22355"/>
            <a:ext cx="18243299" cy="10242299"/>
            <a:chOff x="0" y="0"/>
            <a:chExt cx="24324399" cy="13656399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4324438" cy="13656438"/>
            </a:xfrm>
            <a:custGeom>
              <a:avLst/>
              <a:gdLst/>
              <a:ahLst/>
              <a:cxnLst/>
              <a:rect r="r" b="b" t="t" l="l"/>
              <a:pathLst>
                <a:path h="13656438" w="24324438">
                  <a:moveTo>
                    <a:pt x="0" y="0"/>
                  </a:moveTo>
                  <a:lnTo>
                    <a:pt x="24324438" y="0"/>
                  </a:lnTo>
                  <a:lnTo>
                    <a:pt x="24324438" y="13656438"/>
                  </a:lnTo>
                  <a:lnTo>
                    <a:pt x="0" y="1365643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22033" t="0" r="-22033" b="0"/>
              </a:stretch>
            </a:blipFill>
            <a:ln w="10160" cap="sq">
              <a:solidFill>
                <a:srgbClr val="090E14"/>
              </a:solidFill>
              <a:prstDash val="solid"/>
              <a:miter/>
            </a:ln>
          </p:spPr>
        </p:sp>
      </p:grpSp>
      <p:grpSp>
        <p:nvGrpSpPr>
          <p:cNvPr name="Group 6" id="6"/>
          <p:cNvGrpSpPr/>
          <p:nvPr/>
        </p:nvGrpSpPr>
        <p:grpSpPr>
          <a:xfrm rot="2700000">
            <a:off x="16504920" y="73152"/>
            <a:ext cx="54864" cy="530352"/>
            <a:chOff x="0" y="0"/>
            <a:chExt cx="73152" cy="707136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73152" cy="707136"/>
            </a:xfrm>
            <a:custGeom>
              <a:avLst/>
              <a:gdLst/>
              <a:ahLst/>
              <a:cxnLst/>
              <a:rect r="r" b="b" t="t" l="l"/>
              <a:pathLst>
                <a:path h="707136" w="73152">
                  <a:moveTo>
                    <a:pt x="0" y="0"/>
                  </a:moveTo>
                  <a:lnTo>
                    <a:pt x="73152" y="0"/>
                  </a:lnTo>
                  <a:lnTo>
                    <a:pt x="73152" y="707136"/>
                  </a:lnTo>
                  <a:lnTo>
                    <a:pt x="0" y="707136"/>
                  </a:lnTo>
                  <a:close/>
                </a:path>
              </a:pathLst>
            </a:custGeom>
            <a:solidFill>
              <a:srgbClr val="090E14"/>
            </a:solidFill>
          </p:spPr>
        </p:sp>
      </p:grpSp>
      <p:grpSp>
        <p:nvGrpSpPr>
          <p:cNvPr name="Group 8" id="8"/>
          <p:cNvGrpSpPr/>
          <p:nvPr/>
        </p:nvGrpSpPr>
        <p:grpSpPr>
          <a:xfrm rot="2700000">
            <a:off x="16934688" y="420624"/>
            <a:ext cx="54864" cy="530352"/>
            <a:chOff x="0" y="0"/>
            <a:chExt cx="73152" cy="707136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73152" cy="707136"/>
            </a:xfrm>
            <a:custGeom>
              <a:avLst/>
              <a:gdLst/>
              <a:ahLst/>
              <a:cxnLst/>
              <a:rect r="r" b="b" t="t" l="l"/>
              <a:pathLst>
                <a:path h="707136" w="73152">
                  <a:moveTo>
                    <a:pt x="0" y="0"/>
                  </a:moveTo>
                  <a:lnTo>
                    <a:pt x="73152" y="0"/>
                  </a:lnTo>
                  <a:lnTo>
                    <a:pt x="73152" y="707136"/>
                  </a:lnTo>
                  <a:lnTo>
                    <a:pt x="0" y="707136"/>
                  </a:lnTo>
                  <a:close/>
                </a:path>
              </a:pathLst>
            </a:custGeom>
            <a:solidFill>
              <a:srgbClr val="090E14"/>
            </a:solidFill>
          </p:spPr>
        </p:sp>
      </p:grpSp>
      <p:grpSp>
        <p:nvGrpSpPr>
          <p:cNvPr name="Group 10" id="10"/>
          <p:cNvGrpSpPr/>
          <p:nvPr/>
        </p:nvGrpSpPr>
        <p:grpSpPr>
          <a:xfrm rot="2700000">
            <a:off x="17364456" y="768096"/>
            <a:ext cx="54864" cy="530352"/>
            <a:chOff x="0" y="0"/>
            <a:chExt cx="73152" cy="707136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73152" cy="707136"/>
            </a:xfrm>
            <a:custGeom>
              <a:avLst/>
              <a:gdLst/>
              <a:ahLst/>
              <a:cxnLst/>
              <a:rect r="r" b="b" t="t" l="l"/>
              <a:pathLst>
                <a:path h="707136" w="73152">
                  <a:moveTo>
                    <a:pt x="0" y="0"/>
                  </a:moveTo>
                  <a:lnTo>
                    <a:pt x="73152" y="0"/>
                  </a:lnTo>
                  <a:lnTo>
                    <a:pt x="73152" y="707136"/>
                  </a:lnTo>
                  <a:lnTo>
                    <a:pt x="0" y="707136"/>
                  </a:lnTo>
                  <a:close/>
                </a:path>
              </a:pathLst>
            </a:custGeom>
            <a:solidFill>
              <a:srgbClr val="090E14"/>
            </a:solidFill>
          </p:spPr>
        </p:sp>
      </p:grpSp>
      <p:grpSp>
        <p:nvGrpSpPr>
          <p:cNvPr name="Group 12" id="12"/>
          <p:cNvGrpSpPr/>
          <p:nvPr/>
        </p:nvGrpSpPr>
        <p:grpSpPr>
          <a:xfrm rot="2700000">
            <a:off x="17794224" y="1115568"/>
            <a:ext cx="54864" cy="530352"/>
            <a:chOff x="0" y="0"/>
            <a:chExt cx="73152" cy="707136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73152" cy="707136"/>
            </a:xfrm>
            <a:custGeom>
              <a:avLst/>
              <a:gdLst/>
              <a:ahLst/>
              <a:cxnLst/>
              <a:rect r="r" b="b" t="t" l="l"/>
              <a:pathLst>
                <a:path h="707136" w="73152">
                  <a:moveTo>
                    <a:pt x="0" y="0"/>
                  </a:moveTo>
                  <a:lnTo>
                    <a:pt x="73152" y="0"/>
                  </a:lnTo>
                  <a:lnTo>
                    <a:pt x="73152" y="707136"/>
                  </a:lnTo>
                  <a:lnTo>
                    <a:pt x="0" y="707136"/>
                  </a:lnTo>
                  <a:close/>
                </a:path>
              </a:pathLst>
            </a:custGeom>
            <a:solidFill>
              <a:srgbClr val="090E14"/>
            </a:solidFill>
          </p:spPr>
        </p:sp>
      </p:grpSp>
      <p:grpSp>
        <p:nvGrpSpPr>
          <p:cNvPr name="Group 14" id="14"/>
          <p:cNvGrpSpPr/>
          <p:nvPr/>
        </p:nvGrpSpPr>
        <p:grpSpPr>
          <a:xfrm rot="2700000">
            <a:off x="18223992" y="1463040"/>
            <a:ext cx="54864" cy="530352"/>
            <a:chOff x="0" y="0"/>
            <a:chExt cx="73152" cy="707136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73152" cy="707136"/>
            </a:xfrm>
            <a:custGeom>
              <a:avLst/>
              <a:gdLst/>
              <a:ahLst/>
              <a:cxnLst/>
              <a:rect r="r" b="b" t="t" l="l"/>
              <a:pathLst>
                <a:path h="707136" w="73152">
                  <a:moveTo>
                    <a:pt x="0" y="0"/>
                  </a:moveTo>
                  <a:lnTo>
                    <a:pt x="73152" y="0"/>
                  </a:lnTo>
                  <a:lnTo>
                    <a:pt x="73152" y="707136"/>
                  </a:lnTo>
                  <a:lnTo>
                    <a:pt x="0" y="707136"/>
                  </a:lnTo>
                  <a:close/>
                </a:path>
              </a:pathLst>
            </a:custGeom>
            <a:solidFill>
              <a:srgbClr val="090E14"/>
            </a:solidFill>
          </p:spPr>
        </p:sp>
      </p:grpSp>
      <p:grpSp>
        <p:nvGrpSpPr>
          <p:cNvPr name="Group 16" id="16"/>
          <p:cNvGrpSpPr/>
          <p:nvPr/>
        </p:nvGrpSpPr>
        <p:grpSpPr>
          <a:xfrm rot="2700000">
            <a:off x="18653760" y="1810512"/>
            <a:ext cx="54864" cy="530352"/>
            <a:chOff x="0" y="0"/>
            <a:chExt cx="73152" cy="707136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73152" cy="707136"/>
            </a:xfrm>
            <a:custGeom>
              <a:avLst/>
              <a:gdLst/>
              <a:ahLst/>
              <a:cxnLst/>
              <a:rect r="r" b="b" t="t" l="l"/>
              <a:pathLst>
                <a:path h="707136" w="73152">
                  <a:moveTo>
                    <a:pt x="0" y="0"/>
                  </a:moveTo>
                  <a:lnTo>
                    <a:pt x="73152" y="0"/>
                  </a:lnTo>
                  <a:lnTo>
                    <a:pt x="73152" y="707136"/>
                  </a:lnTo>
                  <a:lnTo>
                    <a:pt x="0" y="707136"/>
                  </a:lnTo>
                  <a:close/>
                </a:path>
              </a:pathLst>
            </a:custGeom>
            <a:solidFill>
              <a:srgbClr val="090E14"/>
            </a:solidFill>
          </p:spPr>
        </p:sp>
      </p:grpSp>
      <p:grpSp>
        <p:nvGrpSpPr>
          <p:cNvPr name="Group 18" id="18"/>
          <p:cNvGrpSpPr/>
          <p:nvPr/>
        </p:nvGrpSpPr>
        <p:grpSpPr>
          <a:xfrm rot="2700000">
            <a:off x="19083528" y="2157984"/>
            <a:ext cx="54864" cy="530352"/>
            <a:chOff x="0" y="0"/>
            <a:chExt cx="73152" cy="707136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73152" cy="707136"/>
            </a:xfrm>
            <a:custGeom>
              <a:avLst/>
              <a:gdLst/>
              <a:ahLst/>
              <a:cxnLst/>
              <a:rect r="r" b="b" t="t" l="l"/>
              <a:pathLst>
                <a:path h="707136" w="73152">
                  <a:moveTo>
                    <a:pt x="0" y="0"/>
                  </a:moveTo>
                  <a:lnTo>
                    <a:pt x="73152" y="0"/>
                  </a:lnTo>
                  <a:lnTo>
                    <a:pt x="73152" y="707136"/>
                  </a:lnTo>
                  <a:lnTo>
                    <a:pt x="0" y="707136"/>
                  </a:lnTo>
                  <a:close/>
                </a:path>
              </a:pathLst>
            </a:custGeom>
            <a:solidFill>
              <a:srgbClr val="090E14"/>
            </a:solidFill>
          </p:spPr>
        </p:sp>
      </p:grpSp>
      <p:grpSp>
        <p:nvGrpSpPr>
          <p:cNvPr name="Group 20" id="20"/>
          <p:cNvGrpSpPr/>
          <p:nvPr/>
        </p:nvGrpSpPr>
        <p:grpSpPr>
          <a:xfrm rot="0">
            <a:off x="987552" y="1755648"/>
            <a:ext cx="1051560" cy="50292"/>
            <a:chOff x="0" y="0"/>
            <a:chExt cx="1402080" cy="67056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1402080" cy="67056"/>
            </a:xfrm>
            <a:custGeom>
              <a:avLst/>
              <a:gdLst/>
              <a:ahLst/>
              <a:cxnLst/>
              <a:rect r="r" b="b" t="t" l="l"/>
              <a:pathLst>
                <a:path h="67056" w="1402080">
                  <a:moveTo>
                    <a:pt x="0" y="0"/>
                  </a:moveTo>
                  <a:lnTo>
                    <a:pt x="1402080" y="0"/>
                  </a:lnTo>
                  <a:lnTo>
                    <a:pt x="1402080" y="67056"/>
                  </a:lnTo>
                  <a:lnTo>
                    <a:pt x="0" y="67056"/>
                  </a:lnTo>
                  <a:close/>
                </a:path>
              </a:pathLst>
            </a:custGeom>
            <a:solidFill>
              <a:srgbClr val="265BCD"/>
            </a:solidFill>
          </p:spPr>
        </p:sp>
      </p:grpSp>
      <p:sp>
        <p:nvSpPr>
          <p:cNvPr name="Freeform 22" id="22"/>
          <p:cNvSpPr/>
          <p:nvPr/>
        </p:nvSpPr>
        <p:spPr>
          <a:xfrm flipH="false" flipV="false" rot="0">
            <a:off x="4708286" y="2581751"/>
            <a:ext cx="8871427" cy="5123499"/>
          </a:xfrm>
          <a:custGeom>
            <a:avLst/>
            <a:gdLst/>
            <a:ahLst/>
            <a:cxnLst/>
            <a:rect r="r" b="b" t="t" l="l"/>
            <a:pathLst>
              <a:path h="5123499" w="8871427">
                <a:moveTo>
                  <a:pt x="0" y="0"/>
                </a:moveTo>
                <a:lnTo>
                  <a:pt x="8871428" y="0"/>
                </a:lnTo>
                <a:lnTo>
                  <a:pt x="8871428" y="5123498"/>
                </a:lnTo>
                <a:lnTo>
                  <a:pt x="0" y="5123498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TextBox 23" id="23"/>
          <p:cNvSpPr txBox="true"/>
          <p:nvPr/>
        </p:nvSpPr>
        <p:spPr>
          <a:xfrm rot="0">
            <a:off x="978408" y="575691"/>
            <a:ext cx="12673584" cy="5524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320"/>
              </a:lnSpc>
            </a:pPr>
            <a:r>
              <a:rPr lang="en-US" sz="3600">
                <a:solidFill>
                  <a:srgbClr val="090E14"/>
                </a:solidFill>
                <a:latin typeface="Archivo Black"/>
                <a:ea typeface="Archivo Black"/>
                <a:cs typeface="Archivo Black"/>
                <a:sym typeface="Archivo Black"/>
              </a:rPr>
              <a:t>9. Output Screenshots</a:t>
            </a:r>
          </a:p>
        </p:txBody>
      </p:sp>
      <p:sp>
        <p:nvSpPr>
          <p:cNvPr name="TextBox 24" id="24"/>
          <p:cNvSpPr txBox="true"/>
          <p:nvPr/>
        </p:nvSpPr>
        <p:spPr>
          <a:xfrm rot="0">
            <a:off x="1005840" y="1343406"/>
            <a:ext cx="14228064" cy="2762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040"/>
              </a:lnSpc>
            </a:pPr>
            <a:r>
              <a:rPr lang="en-US" sz="1700">
                <a:solidFill>
                  <a:srgbClr val="585F6A"/>
                </a:solidFill>
                <a:latin typeface="Archivo Black"/>
                <a:ea typeface="Archivo Black"/>
                <a:cs typeface="Archivo Black"/>
                <a:sym typeface="Archivo Black"/>
              </a:rPr>
              <a:t>Sample console result based on the project report format</a:t>
            </a:r>
          </a:p>
        </p:txBody>
      </p:sp>
      <p:sp>
        <p:nvSpPr>
          <p:cNvPr name="TextBox 25" id="25"/>
          <p:cNvSpPr txBox="true"/>
          <p:nvPr/>
        </p:nvSpPr>
        <p:spPr>
          <a:xfrm rot="0">
            <a:off x="2029968" y="8832723"/>
            <a:ext cx="14228064" cy="2000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559"/>
              </a:lnSpc>
            </a:pPr>
            <a:r>
              <a:rPr lang="en-US" sz="1299">
                <a:solidFill>
                  <a:srgbClr val="585F6A"/>
                </a:solidFill>
                <a:latin typeface="Archivo Black"/>
                <a:ea typeface="Archivo Black"/>
                <a:cs typeface="Archivo Black"/>
                <a:sym typeface="Archivo Black"/>
              </a:rPr>
              <a:t>Sample run shown from the project’s documented output format.</a:t>
            </a:r>
          </a:p>
        </p:txBody>
      </p:sp>
    </p:spTree>
  </p:cSld>
  <p:clrMapOvr>
    <a:masterClrMapping/>
  </p:clrMapOvr>
</p:sld>
</file>

<file path=ppt/slides/slide1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3" id="3" descr="bg.jpeg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-3364" r="0" b="-3364"/>
              </a:stretch>
            </a:blipFill>
          </p:spPr>
        </p:sp>
      </p:grpSp>
      <p:grpSp>
        <p:nvGrpSpPr>
          <p:cNvPr name="Group 4" id="4"/>
          <p:cNvGrpSpPr/>
          <p:nvPr/>
        </p:nvGrpSpPr>
        <p:grpSpPr>
          <a:xfrm rot="0">
            <a:off x="22355" y="22355"/>
            <a:ext cx="18243299" cy="10242299"/>
            <a:chOff x="0" y="0"/>
            <a:chExt cx="24324399" cy="13656399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4324438" cy="13656438"/>
            </a:xfrm>
            <a:custGeom>
              <a:avLst/>
              <a:gdLst/>
              <a:ahLst/>
              <a:cxnLst/>
              <a:rect r="r" b="b" t="t" l="l"/>
              <a:pathLst>
                <a:path h="13656438" w="24324438">
                  <a:moveTo>
                    <a:pt x="0" y="0"/>
                  </a:moveTo>
                  <a:lnTo>
                    <a:pt x="24324438" y="0"/>
                  </a:lnTo>
                  <a:lnTo>
                    <a:pt x="24324438" y="13656438"/>
                  </a:lnTo>
                  <a:lnTo>
                    <a:pt x="0" y="1365643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22033" t="0" r="-22033" b="0"/>
              </a:stretch>
            </a:blipFill>
            <a:ln w="10160" cap="sq">
              <a:solidFill>
                <a:srgbClr val="090E14"/>
              </a:solidFill>
              <a:prstDash val="solid"/>
              <a:miter/>
            </a:ln>
          </p:spPr>
        </p:sp>
      </p:grpSp>
      <p:grpSp>
        <p:nvGrpSpPr>
          <p:cNvPr name="Group 6" id="6"/>
          <p:cNvGrpSpPr/>
          <p:nvPr/>
        </p:nvGrpSpPr>
        <p:grpSpPr>
          <a:xfrm rot="2700000">
            <a:off x="16504920" y="73152"/>
            <a:ext cx="54864" cy="530352"/>
            <a:chOff x="0" y="0"/>
            <a:chExt cx="73152" cy="707136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73152" cy="707136"/>
            </a:xfrm>
            <a:custGeom>
              <a:avLst/>
              <a:gdLst/>
              <a:ahLst/>
              <a:cxnLst/>
              <a:rect r="r" b="b" t="t" l="l"/>
              <a:pathLst>
                <a:path h="707136" w="73152">
                  <a:moveTo>
                    <a:pt x="0" y="0"/>
                  </a:moveTo>
                  <a:lnTo>
                    <a:pt x="73152" y="0"/>
                  </a:lnTo>
                  <a:lnTo>
                    <a:pt x="73152" y="707136"/>
                  </a:lnTo>
                  <a:lnTo>
                    <a:pt x="0" y="707136"/>
                  </a:lnTo>
                  <a:close/>
                </a:path>
              </a:pathLst>
            </a:custGeom>
            <a:solidFill>
              <a:srgbClr val="090E14"/>
            </a:solidFill>
          </p:spPr>
        </p:sp>
      </p:grpSp>
      <p:grpSp>
        <p:nvGrpSpPr>
          <p:cNvPr name="Group 8" id="8"/>
          <p:cNvGrpSpPr/>
          <p:nvPr/>
        </p:nvGrpSpPr>
        <p:grpSpPr>
          <a:xfrm rot="2700000">
            <a:off x="16934688" y="420624"/>
            <a:ext cx="54864" cy="530352"/>
            <a:chOff x="0" y="0"/>
            <a:chExt cx="73152" cy="707136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73152" cy="707136"/>
            </a:xfrm>
            <a:custGeom>
              <a:avLst/>
              <a:gdLst/>
              <a:ahLst/>
              <a:cxnLst/>
              <a:rect r="r" b="b" t="t" l="l"/>
              <a:pathLst>
                <a:path h="707136" w="73152">
                  <a:moveTo>
                    <a:pt x="0" y="0"/>
                  </a:moveTo>
                  <a:lnTo>
                    <a:pt x="73152" y="0"/>
                  </a:lnTo>
                  <a:lnTo>
                    <a:pt x="73152" y="707136"/>
                  </a:lnTo>
                  <a:lnTo>
                    <a:pt x="0" y="707136"/>
                  </a:lnTo>
                  <a:close/>
                </a:path>
              </a:pathLst>
            </a:custGeom>
            <a:solidFill>
              <a:srgbClr val="090E14"/>
            </a:solidFill>
          </p:spPr>
        </p:sp>
      </p:grpSp>
      <p:grpSp>
        <p:nvGrpSpPr>
          <p:cNvPr name="Group 10" id="10"/>
          <p:cNvGrpSpPr/>
          <p:nvPr/>
        </p:nvGrpSpPr>
        <p:grpSpPr>
          <a:xfrm rot="2700000">
            <a:off x="17364456" y="768096"/>
            <a:ext cx="54864" cy="530352"/>
            <a:chOff x="0" y="0"/>
            <a:chExt cx="73152" cy="707136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73152" cy="707136"/>
            </a:xfrm>
            <a:custGeom>
              <a:avLst/>
              <a:gdLst/>
              <a:ahLst/>
              <a:cxnLst/>
              <a:rect r="r" b="b" t="t" l="l"/>
              <a:pathLst>
                <a:path h="707136" w="73152">
                  <a:moveTo>
                    <a:pt x="0" y="0"/>
                  </a:moveTo>
                  <a:lnTo>
                    <a:pt x="73152" y="0"/>
                  </a:lnTo>
                  <a:lnTo>
                    <a:pt x="73152" y="707136"/>
                  </a:lnTo>
                  <a:lnTo>
                    <a:pt x="0" y="707136"/>
                  </a:lnTo>
                  <a:close/>
                </a:path>
              </a:pathLst>
            </a:custGeom>
            <a:solidFill>
              <a:srgbClr val="090E14"/>
            </a:solidFill>
          </p:spPr>
        </p:sp>
      </p:grpSp>
      <p:grpSp>
        <p:nvGrpSpPr>
          <p:cNvPr name="Group 12" id="12"/>
          <p:cNvGrpSpPr/>
          <p:nvPr/>
        </p:nvGrpSpPr>
        <p:grpSpPr>
          <a:xfrm rot="2700000">
            <a:off x="17794224" y="1115568"/>
            <a:ext cx="54864" cy="530352"/>
            <a:chOff x="0" y="0"/>
            <a:chExt cx="73152" cy="707136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73152" cy="707136"/>
            </a:xfrm>
            <a:custGeom>
              <a:avLst/>
              <a:gdLst/>
              <a:ahLst/>
              <a:cxnLst/>
              <a:rect r="r" b="b" t="t" l="l"/>
              <a:pathLst>
                <a:path h="707136" w="73152">
                  <a:moveTo>
                    <a:pt x="0" y="0"/>
                  </a:moveTo>
                  <a:lnTo>
                    <a:pt x="73152" y="0"/>
                  </a:lnTo>
                  <a:lnTo>
                    <a:pt x="73152" y="707136"/>
                  </a:lnTo>
                  <a:lnTo>
                    <a:pt x="0" y="707136"/>
                  </a:lnTo>
                  <a:close/>
                </a:path>
              </a:pathLst>
            </a:custGeom>
            <a:solidFill>
              <a:srgbClr val="090E14"/>
            </a:solidFill>
          </p:spPr>
        </p:sp>
      </p:grpSp>
      <p:grpSp>
        <p:nvGrpSpPr>
          <p:cNvPr name="Group 14" id="14"/>
          <p:cNvGrpSpPr/>
          <p:nvPr/>
        </p:nvGrpSpPr>
        <p:grpSpPr>
          <a:xfrm rot="2700000">
            <a:off x="18223992" y="1463040"/>
            <a:ext cx="54864" cy="530352"/>
            <a:chOff x="0" y="0"/>
            <a:chExt cx="73152" cy="707136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73152" cy="707136"/>
            </a:xfrm>
            <a:custGeom>
              <a:avLst/>
              <a:gdLst/>
              <a:ahLst/>
              <a:cxnLst/>
              <a:rect r="r" b="b" t="t" l="l"/>
              <a:pathLst>
                <a:path h="707136" w="73152">
                  <a:moveTo>
                    <a:pt x="0" y="0"/>
                  </a:moveTo>
                  <a:lnTo>
                    <a:pt x="73152" y="0"/>
                  </a:lnTo>
                  <a:lnTo>
                    <a:pt x="73152" y="707136"/>
                  </a:lnTo>
                  <a:lnTo>
                    <a:pt x="0" y="707136"/>
                  </a:lnTo>
                  <a:close/>
                </a:path>
              </a:pathLst>
            </a:custGeom>
            <a:solidFill>
              <a:srgbClr val="090E14"/>
            </a:solidFill>
          </p:spPr>
        </p:sp>
      </p:grpSp>
      <p:grpSp>
        <p:nvGrpSpPr>
          <p:cNvPr name="Group 16" id="16"/>
          <p:cNvGrpSpPr/>
          <p:nvPr/>
        </p:nvGrpSpPr>
        <p:grpSpPr>
          <a:xfrm rot="2700000">
            <a:off x="18653760" y="1810512"/>
            <a:ext cx="54864" cy="530352"/>
            <a:chOff x="0" y="0"/>
            <a:chExt cx="73152" cy="707136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73152" cy="707136"/>
            </a:xfrm>
            <a:custGeom>
              <a:avLst/>
              <a:gdLst/>
              <a:ahLst/>
              <a:cxnLst/>
              <a:rect r="r" b="b" t="t" l="l"/>
              <a:pathLst>
                <a:path h="707136" w="73152">
                  <a:moveTo>
                    <a:pt x="0" y="0"/>
                  </a:moveTo>
                  <a:lnTo>
                    <a:pt x="73152" y="0"/>
                  </a:lnTo>
                  <a:lnTo>
                    <a:pt x="73152" y="707136"/>
                  </a:lnTo>
                  <a:lnTo>
                    <a:pt x="0" y="707136"/>
                  </a:lnTo>
                  <a:close/>
                </a:path>
              </a:pathLst>
            </a:custGeom>
            <a:solidFill>
              <a:srgbClr val="090E14"/>
            </a:solidFill>
          </p:spPr>
        </p:sp>
      </p:grpSp>
      <p:grpSp>
        <p:nvGrpSpPr>
          <p:cNvPr name="Group 18" id="18"/>
          <p:cNvGrpSpPr/>
          <p:nvPr/>
        </p:nvGrpSpPr>
        <p:grpSpPr>
          <a:xfrm rot="2700000">
            <a:off x="19083528" y="2157984"/>
            <a:ext cx="54864" cy="530352"/>
            <a:chOff x="0" y="0"/>
            <a:chExt cx="73152" cy="707136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73152" cy="707136"/>
            </a:xfrm>
            <a:custGeom>
              <a:avLst/>
              <a:gdLst/>
              <a:ahLst/>
              <a:cxnLst/>
              <a:rect r="r" b="b" t="t" l="l"/>
              <a:pathLst>
                <a:path h="707136" w="73152">
                  <a:moveTo>
                    <a:pt x="0" y="0"/>
                  </a:moveTo>
                  <a:lnTo>
                    <a:pt x="73152" y="0"/>
                  </a:lnTo>
                  <a:lnTo>
                    <a:pt x="73152" y="707136"/>
                  </a:lnTo>
                  <a:lnTo>
                    <a:pt x="0" y="707136"/>
                  </a:lnTo>
                  <a:close/>
                </a:path>
              </a:pathLst>
            </a:custGeom>
            <a:solidFill>
              <a:srgbClr val="090E14"/>
            </a:solidFill>
          </p:spPr>
        </p:sp>
      </p:grpSp>
      <p:sp>
        <p:nvSpPr>
          <p:cNvPr name="TextBox 20" id="20"/>
          <p:cNvSpPr txBox="true"/>
          <p:nvPr/>
        </p:nvSpPr>
        <p:spPr>
          <a:xfrm rot="0">
            <a:off x="978408" y="575691"/>
            <a:ext cx="12673584" cy="5524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320"/>
              </a:lnSpc>
            </a:pPr>
            <a:r>
              <a:rPr lang="en-US" sz="3600">
                <a:solidFill>
                  <a:srgbClr val="090E14"/>
                </a:solidFill>
                <a:latin typeface="Archivo Black"/>
                <a:ea typeface="Archivo Black"/>
                <a:cs typeface="Archivo Black"/>
                <a:sym typeface="Archivo Black"/>
              </a:rPr>
              <a:t>10. Future Scope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14008608" y="685419"/>
            <a:ext cx="3118104" cy="2190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1680"/>
              </a:lnSpc>
            </a:pPr>
            <a:r>
              <a:rPr lang="en-US" sz="1400">
                <a:solidFill>
                  <a:srgbClr val="585F6A"/>
                </a:solidFill>
                <a:latin typeface="Archivo Black"/>
                <a:ea typeface="Archivo Black"/>
                <a:cs typeface="Archivo Black"/>
                <a:sym typeface="Archivo Black"/>
              </a:rPr>
              <a:t>10/13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1005840" y="1343406"/>
            <a:ext cx="14228064" cy="2762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040"/>
              </a:lnSpc>
            </a:pPr>
            <a:r>
              <a:rPr lang="en-US" sz="1700">
                <a:solidFill>
                  <a:srgbClr val="585F6A"/>
                </a:solidFill>
                <a:latin typeface="Archivo Black"/>
                <a:ea typeface="Archivo Black"/>
                <a:cs typeface="Archivo Black"/>
                <a:sym typeface="Archivo Black"/>
              </a:rPr>
              <a:t>Ways the current console tracker could be extended</a:t>
            </a:r>
          </a:p>
        </p:txBody>
      </p:sp>
      <p:grpSp>
        <p:nvGrpSpPr>
          <p:cNvPr name="Group 23" id="23"/>
          <p:cNvGrpSpPr/>
          <p:nvPr/>
        </p:nvGrpSpPr>
        <p:grpSpPr>
          <a:xfrm rot="0">
            <a:off x="987552" y="1755648"/>
            <a:ext cx="1051560" cy="50292"/>
            <a:chOff x="0" y="0"/>
            <a:chExt cx="1402080" cy="67056"/>
          </a:xfrm>
        </p:grpSpPr>
        <p:sp>
          <p:nvSpPr>
            <p:cNvPr name="Freeform 24" id="24"/>
            <p:cNvSpPr/>
            <p:nvPr/>
          </p:nvSpPr>
          <p:spPr>
            <a:xfrm flipH="false" flipV="false" rot="0">
              <a:off x="0" y="0"/>
              <a:ext cx="1402080" cy="67056"/>
            </a:xfrm>
            <a:custGeom>
              <a:avLst/>
              <a:gdLst/>
              <a:ahLst/>
              <a:cxnLst/>
              <a:rect r="r" b="b" t="t" l="l"/>
              <a:pathLst>
                <a:path h="67056" w="1402080">
                  <a:moveTo>
                    <a:pt x="0" y="0"/>
                  </a:moveTo>
                  <a:lnTo>
                    <a:pt x="1402080" y="0"/>
                  </a:lnTo>
                  <a:lnTo>
                    <a:pt x="1402080" y="67056"/>
                  </a:lnTo>
                  <a:lnTo>
                    <a:pt x="0" y="67056"/>
                  </a:lnTo>
                  <a:close/>
                </a:path>
              </a:pathLst>
            </a:custGeom>
            <a:solidFill>
              <a:srgbClr val="265BCD"/>
            </a:solidFill>
          </p:spPr>
        </p:sp>
      </p:grpSp>
      <p:grpSp>
        <p:nvGrpSpPr>
          <p:cNvPr name="Group 25" id="25"/>
          <p:cNvGrpSpPr/>
          <p:nvPr/>
        </p:nvGrpSpPr>
        <p:grpSpPr>
          <a:xfrm rot="0">
            <a:off x="980570" y="2141858"/>
            <a:ext cx="7694933" cy="1751333"/>
            <a:chOff x="0" y="0"/>
            <a:chExt cx="10259911" cy="2335111"/>
          </a:xfrm>
        </p:grpSpPr>
        <p:sp>
          <p:nvSpPr>
            <p:cNvPr name="Freeform 26" id="26"/>
            <p:cNvSpPr/>
            <p:nvPr/>
          </p:nvSpPr>
          <p:spPr>
            <a:xfrm flipH="false" flipV="false" rot="0">
              <a:off x="0" y="0"/>
              <a:ext cx="10259949" cy="2335149"/>
            </a:xfrm>
            <a:custGeom>
              <a:avLst/>
              <a:gdLst/>
              <a:ahLst/>
              <a:cxnLst/>
              <a:rect r="r" b="b" t="t" l="l"/>
              <a:pathLst>
                <a:path h="2335149" w="10259949">
                  <a:moveTo>
                    <a:pt x="0" y="389255"/>
                  </a:moveTo>
                  <a:cubicBezTo>
                    <a:pt x="0" y="174244"/>
                    <a:pt x="174244" y="0"/>
                    <a:pt x="389255" y="0"/>
                  </a:cubicBezTo>
                  <a:lnTo>
                    <a:pt x="9870694" y="0"/>
                  </a:lnTo>
                  <a:cubicBezTo>
                    <a:pt x="10085577" y="0"/>
                    <a:pt x="10259949" y="174244"/>
                    <a:pt x="10259949" y="389255"/>
                  </a:cubicBezTo>
                  <a:lnTo>
                    <a:pt x="10259949" y="1945894"/>
                  </a:lnTo>
                  <a:cubicBezTo>
                    <a:pt x="10259949" y="2160778"/>
                    <a:pt x="10085705" y="2335149"/>
                    <a:pt x="9870694" y="2335149"/>
                  </a:cubicBezTo>
                  <a:lnTo>
                    <a:pt x="389255" y="2335149"/>
                  </a:lnTo>
                  <a:cubicBezTo>
                    <a:pt x="174244" y="2335149"/>
                    <a:pt x="0" y="2160905"/>
                    <a:pt x="0" y="1945894"/>
                  </a:cubicBezTo>
                  <a:close/>
                </a:path>
              </a:pathLst>
            </a:custGeom>
            <a:solidFill>
              <a:srgbClr val="FFFFFF"/>
            </a:solidFill>
            <a:ln w="13970" cap="sq">
              <a:solidFill>
                <a:srgbClr val="D7DFEC"/>
              </a:solidFill>
              <a:prstDash val="solid"/>
              <a:miter/>
            </a:ln>
          </p:spPr>
        </p:sp>
      </p:grpSp>
      <p:sp>
        <p:nvSpPr>
          <p:cNvPr name="TextBox 27" id="27"/>
          <p:cNvSpPr txBox="true"/>
          <p:nvPr/>
        </p:nvSpPr>
        <p:spPr>
          <a:xfrm rot="0">
            <a:off x="1207008" y="2322195"/>
            <a:ext cx="7296912" cy="2762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60"/>
              </a:lnSpc>
            </a:pPr>
            <a:r>
              <a:rPr lang="en-US" sz="1800">
                <a:solidFill>
                  <a:srgbClr val="090E14"/>
                </a:solidFill>
                <a:latin typeface="Archivo Black"/>
                <a:ea typeface="Archivo Black"/>
                <a:cs typeface="Archivo Black"/>
                <a:sym typeface="Archivo Black"/>
              </a:rPr>
              <a:t>Persistent records</a:t>
            </a:r>
          </a:p>
        </p:txBody>
      </p:sp>
      <p:sp>
        <p:nvSpPr>
          <p:cNvPr name="TextBox 28" id="28"/>
          <p:cNvSpPr txBox="true"/>
          <p:nvPr/>
        </p:nvSpPr>
        <p:spPr>
          <a:xfrm rot="0">
            <a:off x="1207008" y="2751963"/>
            <a:ext cx="7278624" cy="4667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00"/>
              </a:lnSpc>
            </a:pPr>
            <a:r>
              <a:rPr lang="en-US" sz="1500">
                <a:solidFill>
                  <a:srgbClr val="585F6A"/>
                </a:solidFill>
                <a:latin typeface="Archivo Black"/>
                <a:ea typeface="Archivo Black"/>
                <a:cs typeface="Archivo Black"/>
                <a:sym typeface="Archivo Black"/>
              </a:rPr>
              <a:t>Store multiple students and retain their results using files or a database.</a:t>
            </a:r>
          </a:p>
        </p:txBody>
      </p:sp>
      <p:grpSp>
        <p:nvGrpSpPr>
          <p:cNvPr name="Group 29" id="29"/>
          <p:cNvGrpSpPr/>
          <p:nvPr/>
        </p:nvGrpSpPr>
        <p:grpSpPr>
          <a:xfrm rot="0">
            <a:off x="9255890" y="2141858"/>
            <a:ext cx="7694933" cy="1751333"/>
            <a:chOff x="0" y="0"/>
            <a:chExt cx="10259911" cy="2335111"/>
          </a:xfrm>
        </p:grpSpPr>
        <p:sp>
          <p:nvSpPr>
            <p:cNvPr name="Freeform 30" id="30"/>
            <p:cNvSpPr/>
            <p:nvPr/>
          </p:nvSpPr>
          <p:spPr>
            <a:xfrm flipH="false" flipV="false" rot="0">
              <a:off x="0" y="0"/>
              <a:ext cx="10259949" cy="2335149"/>
            </a:xfrm>
            <a:custGeom>
              <a:avLst/>
              <a:gdLst/>
              <a:ahLst/>
              <a:cxnLst/>
              <a:rect r="r" b="b" t="t" l="l"/>
              <a:pathLst>
                <a:path h="2335149" w="10259949">
                  <a:moveTo>
                    <a:pt x="0" y="389255"/>
                  </a:moveTo>
                  <a:cubicBezTo>
                    <a:pt x="0" y="174244"/>
                    <a:pt x="174244" y="0"/>
                    <a:pt x="389255" y="0"/>
                  </a:cubicBezTo>
                  <a:lnTo>
                    <a:pt x="9870694" y="0"/>
                  </a:lnTo>
                  <a:cubicBezTo>
                    <a:pt x="10085577" y="0"/>
                    <a:pt x="10259949" y="174244"/>
                    <a:pt x="10259949" y="389255"/>
                  </a:cubicBezTo>
                  <a:lnTo>
                    <a:pt x="10259949" y="1945894"/>
                  </a:lnTo>
                  <a:cubicBezTo>
                    <a:pt x="10259949" y="2160778"/>
                    <a:pt x="10085705" y="2335149"/>
                    <a:pt x="9870694" y="2335149"/>
                  </a:cubicBezTo>
                  <a:lnTo>
                    <a:pt x="389255" y="2335149"/>
                  </a:lnTo>
                  <a:cubicBezTo>
                    <a:pt x="174244" y="2335149"/>
                    <a:pt x="0" y="2160905"/>
                    <a:pt x="0" y="1945894"/>
                  </a:cubicBezTo>
                  <a:close/>
                </a:path>
              </a:pathLst>
            </a:custGeom>
            <a:solidFill>
              <a:srgbClr val="FFFFFF"/>
            </a:solidFill>
            <a:ln w="13970" cap="sq">
              <a:solidFill>
                <a:srgbClr val="D7DFEC"/>
              </a:solidFill>
              <a:prstDash val="solid"/>
              <a:miter/>
            </a:ln>
          </p:spPr>
        </p:sp>
      </p:grpSp>
      <p:sp>
        <p:nvSpPr>
          <p:cNvPr name="TextBox 31" id="31"/>
          <p:cNvSpPr txBox="true"/>
          <p:nvPr/>
        </p:nvSpPr>
        <p:spPr>
          <a:xfrm rot="0">
            <a:off x="9482328" y="2322195"/>
            <a:ext cx="7296912" cy="2762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60"/>
              </a:lnSpc>
            </a:pPr>
            <a:r>
              <a:rPr lang="en-US" sz="1800">
                <a:solidFill>
                  <a:srgbClr val="090E14"/>
                </a:solidFill>
                <a:latin typeface="Archivo Black"/>
                <a:ea typeface="Archivo Black"/>
                <a:cs typeface="Archivo Black"/>
                <a:sym typeface="Archivo Black"/>
              </a:rPr>
              <a:t>Course-wise tracking</a:t>
            </a:r>
          </a:p>
        </p:txBody>
      </p:sp>
      <p:sp>
        <p:nvSpPr>
          <p:cNvPr name="TextBox 32" id="32"/>
          <p:cNvSpPr txBox="true"/>
          <p:nvPr/>
        </p:nvSpPr>
        <p:spPr>
          <a:xfrm rot="0">
            <a:off x="9482328" y="2751963"/>
            <a:ext cx="7278624" cy="2381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00"/>
              </a:lnSpc>
            </a:pPr>
            <a:r>
              <a:rPr lang="en-US" sz="1500">
                <a:solidFill>
                  <a:srgbClr val="585F6A"/>
                </a:solidFill>
                <a:latin typeface="Archivo Black"/>
                <a:ea typeface="Archivo Black"/>
                <a:cs typeface="Archivo Black"/>
                <a:sym typeface="Archivo Black"/>
              </a:rPr>
              <a:t>Track marks and attendance separately for each course or semester.</a:t>
            </a:r>
          </a:p>
        </p:txBody>
      </p:sp>
      <p:grpSp>
        <p:nvGrpSpPr>
          <p:cNvPr name="Group 33" id="33"/>
          <p:cNvGrpSpPr/>
          <p:nvPr/>
        </p:nvGrpSpPr>
        <p:grpSpPr>
          <a:xfrm rot="0">
            <a:off x="980570" y="4290698"/>
            <a:ext cx="7694933" cy="1751333"/>
            <a:chOff x="0" y="0"/>
            <a:chExt cx="10259911" cy="2335111"/>
          </a:xfrm>
        </p:grpSpPr>
        <p:sp>
          <p:nvSpPr>
            <p:cNvPr name="Freeform 34" id="34"/>
            <p:cNvSpPr/>
            <p:nvPr/>
          </p:nvSpPr>
          <p:spPr>
            <a:xfrm flipH="false" flipV="false" rot="0">
              <a:off x="0" y="0"/>
              <a:ext cx="10259949" cy="2335149"/>
            </a:xfrm>
            <a:custGeom>
              <a:avLst/>
              <a:gdLst/>
              <a:ahLst/>
              <a:cxnLst/>
              <a:rect r="r" b="b" t="t" l="l"/>
              <a:pathLst>
                <a:path h="2335149" w="10259949">
                  <a:moveTo>
                    <a:pt x="0" y="389255"/>
                  </a:moveTo>
                  <a:cubicBezTo>
                    <a:pt x="0" y="174244"/>
                    <a:pt x="174244" y="0"/>
                    <a:pt x="389255" y="0"/>
                  </a:cubicBezTo>
                  <a:lnTo>
                    <a:pt x="9870694" y="0"/>
                  </a:lnTo>
                  <a:cubicBezTo>
                    <a:pt x="10085577" y="0"/>
                    <a:pt x="10259949" y="174244"/>
                    <a:pt x="10259949" y="389255"/>
                  </a:cubicBezTo>
                  <a:lnTo>
                    <a:pt x="10259949" y="1945894"/>
                  </a:lnTo>
                  <a:cubicBezTo>
                    <a:pt x="10259949" y="2160778"/>
                    <a:pt x="10085705" y="2335149"/>
                    <a:pt x="9870694" y="2335149"/>
                  </a:cubicBezTo>
                  <a:lnTo>
                    <a:pt x="389255" y="2335149"/>
                  </a:lnTo>
                  <a:cubicBezTo>
                    <a:pt x="174244" y="2335149"/>
                    <a:pt x="0" y="2160905"/>
                    <a:pt x="0" y="1945894"/>
                  </a:cubicBezTo>
                  <a:close/>
                </a:path>
              </a:pathLst>
            </a:custGeom>
            <a:solidFill>
              <a:srgbClr val="FFFFFF"/>
            </a:solidFill>
            <a:ln w="13970" cap="sq">
              <a:solidFill>
                <a:srgbClr val="D7DFEC"/>
              </a:solidFill>
              <a:prstDash val="solid"/>
              <a:miter/>
            </a:ln>
          </p:spPr>
        </p:sp>
      </p:grpSp>
      <p:sp>
        <p:nvSpPr>
          <p:cNvPr name="TextBox 35" id="35"/>
          <p:cNvSpPr txBox="true"/>
          <p:nvPr/>
        </p:nvSpPr>
        <p:spPr>
          <a:xfrm rot="0">
            <a:off x="1207008" y="4471035"/>
            <a:ext cx="7296912" cy="2762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60"/>
              </a:lnSpc>
            </a:pPr>
            <a:r>
              <a:rPr lang="en-US" sz="1800">
                <a:solidFill>
                  <a:srgbClr val="090E14"/>
                </a:solidFill>
                <a:latin typeface="Archivo Black"/>
                <a:ea typeface="Archivo Black"/>
                <a:cs typeface="Archivo Black"/>
                <a:sym typeface="Archivo Black"/>
              </a:rPr>
              <a:t>Weighted grading</a:t>
            </a:r>
          </a:p>
        </p:txBody>
      </p:sp>
      <p:sp>
        <p:nvSpPr>
          <p:cNvPr name="TextBox 36" id="36"/>
          <p:cNvSpPr txBox="true"/>
          <p:nvPr/>
        </p:nvSpPr>
        <p:spPr>
          <a:xfrm rot="0">
            <a:off x="1207008" y="4900803"/>
            <a:ext cx="7278624" cy="2381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00"/>
              </a:lnSpc>
            </a:pPr>
            <a:r>
              <a:rPr lang="en-US" sz="1500">
                <a:solidFill>
                  <a:srgbClr val="585F6A"/>
                </a:solidFill>
                <a:latin typeface="Archivo Black"/>
                <a:ea typeface="Archivo Black"/>
                <a:cs typeface="Archivo Black"/>
                <a:sym typeface="Archivo Black"/>
              </a:rPr>
              <a:t>Support assignments, labs, internals, and end-semester components.</a:t>
            </a:r>
          </a:p>
        </p:txBody>
      </p:sp>
      <p:grpSp>
        <p:nvGrpSpPr>
          <p:cNvPr name="Group 37" id="37"/>
          <p:cNvGrpSpPr/>
          <p:nvPr/>
        </p:nvGrpSpPr>
        <p:grpSpPr>
          <a:xfrm rot="0">
            <a:off x="9255890" y="4290698"/>
            <a:ext cx="7694933" cy="1751333"/>
            <a:chOff x="0" y="0"/>
            <a:chExt cx="10259911" cy="2335111"/>
          </a:xfrm>
        </p:grpSpPr>
        <p:sp>
          <p:nvSpPr>
            <p:cNvPr name="Freeform 38" id="38"/>
            <p:cNvSpPr/>
            <p:nvPr/>
          </p:nvSpPr>
          <p:spPr>
            <a:xfrm flipH="false" flipV="false" rot="0">
              <a:off x="0" y="0"/>
              <a:ext cx="10259949" cy="2335149"/>
            </a:xfrm>
            <a:custGeom>
              <a:avLst/>
              <a:gdLst/>
              <a:ahLst/>
              <a:cxnLst/>
              <a:rect r="r" b="b" t="t" l="l"/>
              <a:pathLst>
                <a:path h="2335149" w="10259949">
                  <a:moveTo>
                    <a:pt x="0" y="389255"/>
                  </a:moveTo>
                  <a:cubicBezTo>
                    <a:pt x="0" y="174244"/>
                    <a:pt x="174244" y="0"/>
                    <a:pt x="389255" y="0"/>
                  </a:cubicBezTo>
                  <a:lnTo>
                    <a:pt x="9870694" y="0"/>
                  </a:lnTo>
                  <a:cubicBezTo>
                    <a:pt x="10085577" y="0"/>
                    <a:pt x="10259949" y="174244"/>
                    <a:pt x="10259949" y="389255"/>
                  </a:cubicBezTo>
                  <a:lnTo>
                    <a:pt x="10259949" y="1945894"/>
                  </a:lnTo>
                  <a:cubicBezTo>
                    <a:pt x="10259949" y="2160778"/>
                    <a:pt x="10085705" y="2335149"/>
                    <a:pt x="9870694" y="2335149"/>
                  </a:cubicBezTo>
                  <a:lnTo>
                    <a:pt x="389255" y="2335149"/>
                  </a:lnTo>
                  <a:cubicBezTo>
                    <a:pt x="174244" y="2335149"/>
                    <a:pt x="0" y="2160905"/>
                    <a:pt x="0" y="1945894"/>
                  </a:cubicBezTo>
                  <a:close/>
                </a:path>
              </a:pathLst>
            </a:custGeom>
            <a:solidFill>
              <a:srgbClr val="FFFFFF"/>
            </a:solidFill>
            <a:ln w="13970" cap="sq">
              <a:solidFill>
                <a:srgbClr val="D7DFEC"/>
              </a:solidFill>
              <a:prstDash val="solid"/>
              <a:miter/>
            </a:ln>
          </p:spPr>
        </p:sp>
      </p:grpSp>
      <p:sp>
        <p:nvSpPr>
          <p:cNvPr name="TextBox 39" id="39"/>
          <p:cNvSpPr txBox="true"/>
          <p:nvPr/>
        </p:nvSpPr>
        <p:spPr>
          <a:xfrm rot="0">
            <a:off x="9482328" y="4471035"/>
            <a:ext cx="7296912" cy="2762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60"/>
              </a:lnSpc>
            </a:pPr>
            <a:r>
              <a:rPr lang="en-US" sz="1800">
                <a:solidFill>
                  <a:srgbClr val="090E14"/>
                </a:solidFill>
                <a:latin typeface="Archivo Black"/>
                <a:ea typeface="Archivo Black"/>
                <a:cs typeface="Archivo Black"/>
                <a:sym typeface="Archivo Black"/>
              </a:rPr>
              <a:t>User interface</a:t>
            </a:r>
          </a:p>
        </p:txBody>
      </p:sp>
      <p:sp>
        <p:nvSpPr>
          <p:cNvPr name="TextBox 40" id="40"/>
          <p:cNvSpPr txBox="true"/>
          <p:nvPr/>
        </p:nvSpPr>
        <p:spPr>
          <a:xfrm rot="0">
            <a:off x="9482328" y="4900803"/>
            <a:ext cx="7278624" cy="4667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00"/>
              </a:lnSpc>
            </a:pPr>
            <a:r>
              <a:rPr lang="en-US" sz="1500">
                <a:solidFill>
                  <a:srgbClr val="585F6A"/>
                </a:solidFill>
                <a:latin typeface="Archivo Black"/>
                <a:ea typeface="Archivo Black"/>
                <a:cs typeface="Archivo Black"/>
                <a:sym typeface="Archivo Black"/>
              </a:rPr>
              <a:t>Add a graphical interface or web interface instead of console-only input.</a:t>
            </a:r>
          </a:p>
        </p:txBody>
      </p:sp>
      <p:grpSp>
        <p:nvGrpSpPr>
          <p:cNvPr name="Group 41" id="41"/>
          <p:cNvGrpSpPr/>
          <p:nvPr/>
        </p:nvGrpSpPr>
        <p:grpSpPr>
          <a:xfrm rot="0">
            <a:off x="980570" y="6439538"/>
            <a:ext cx="7694933" cy="1751333"/>
            <a:chOff x="0" y="0"/>
            <a:chExt cx="10259911" cy="2335111"/>
          </a:xfrm>
        </p:grpSpPr>
        <p:sp>
          <p:nvSpPr>
            <p:cNvPr name="Freeform 42" id="42"/>
            <p:cNvSpPr/>
            <p:nvPr/>
          </p:nvSpPr>
          <p:spPr>
            <a:xfrm flipH="false" flipV="false" rot="0">
              <a:off x="0" y="0"/>
              <a:ext cx="10259949" cy="2335149"/>
            </a:xfrm>
            <a:custGeom>
              <a:avLst/>
              <a:gdLst/>
              <a:ahLst/>
              <a:cxnLst/>
              <a:rect r="r" b="b" t="t" l="l"/>
              <a:pathLst>
                <a:path h="2335149" w="10259949">
                  <a:moveTo>
                    <a:pt x="0" y="389255"/>
                  </a:moveTo>
                  <a:cubicBezTo>
                    <a:pt x="0" y="174244"/>
                    <a:pt x="174244" y="0"/>
                    <a:pt x="389255" y="0"/>
                  </a:cubicBezTo>
                  <a:lnTo>
                    <a:pt x="9870694" y="0"/>
                  </a:lnTo>
                  <a:cubicBezTo>
                    <a:pt x="10085577" y="0"/>
                    <a:pt x="10259949" y="174244"/>
                    <a:pt x="10259949" y="389255"/>
                  </a:cubicBezTo>
                  <a:lnTo>
                    <a:pt x="10259949" y="1945894"/>
                  </a:lnTo>
                  <a:cubicBezTo>
                    <a:pt x="10259949" y="2160778"/>
                    <a:pt x="10085705" y="2335149"/>
                    <a:pt x="9870694" y="2335149"/>
                  </a:cubicBezTo>
                  <a:lnTo>
                    <a:pt x="389255" y="2335149"/>
                  </a:lnTo>
                  <a:cubicBezTo>
                    <a:pt x="174244" y="2335149"/>
                    <a:pt x="0" y="2160905"/>
                    <a:pt x="0" y="1945894"/>
                  </a:cubicBezTo>
                  <a:close/>
                </a:path>
              </a:pathLst>
            </a:custGeom>
            <a:solidFill>
              <a:srgbClr val="FFFFFF"/>
            </a:solidFill>
            <a:ln w="13970" cap="sq">
              <a:solidFill>
                <a:srgbClr val="D7DFEC"/>
              </a:solidFill>
              <a:prstDash val="solid"/>
              <a:miter/>
            </a:ln>
          </p:spPr>
        </p:sp>
      </p:grpSp>
      <p:sp>
        <p:nvSpPr>
          <p:cNvPr name="TextBox 43" id="43"/>
          <p:cNvSpPr txBox="true"/>
          <p:nvPr/>
        </p:nvSpPr>
        <p:spPr>
          <a:xfrm rot="0">
            <a:off x="1207008" y="6619875"/>
            <a:ext cx="7296912" cy="2762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60"/>
              </a:lnSpc>
            </a:pPr>
            <a:r>
              <a:rPr lang="en-US" sz="1800">
                <a:solidFill>
                  <a:srgbClr val="090E14"/>
                </a:solidFill>
                <a:latin typeface="Archivo Black"/>
                <a:ea typeface="Archivo Black"/>
                <a:cs typeface="Archivo Black"/>
                <a:sym typeface="Archivo Black"/>
              </a:rPr>
              <a:t>Analytics</a:t>
            </a:r>
          </a:p>
        </p:txBody>
      </p:sp>
      <p:sp>
        <p:nvSpPr>
          <p:cNvPr name="TextBox 44" id="44"/>
          <p:cNvSpPr txBox="true"/>
          <p:nvPr/>
        </p:nvSpPr>
        <p:spPr>
          <a:xfrm rot="0">
            <a:off x="1207008" y="7049643"/>
            <a:ext cx="7278624" cy="4667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00"/>
              </a:lnSpc>
            </a:pPr>
            <a:r>
              <a:rPr lang="en-US" sz="1500">
                <a:solidFill>
                  <a:srgbClr val="585F6A"/>
                </a:solidFill>
                <a:latin typeface="Archivo Black"/>
                <a:ea typeface="Archivo Black"/>
                <a:cs typeface="Archivo Black"/>
                <a:sym typeface="Archivo Black"/>
              </a:rPr>
              <a:t>Provide class averages, attendance summaries, and performance trends.</a:t>
            </a:r>
          </a:p>
        </p:txBody>
      </p:sp>
      <p:grpSp>
        <p:nvGrpSpPr>
          <p:cNvPr name="Group 45" id="45"/>
          <p:cNvGrpSpPr/>
          <p:nvPr/>
        </p:nvGrpSpPr>
        <p:grpSpPr>
          <a:xfrm rot="0">
            <a:off x="9255890" y="6439538"/>
            <a:ext cx="7694933" cy="1751333"/>
            <a:chOff x="0" y="0"/>
            <a:chExt cx="10259911" cy="2335111"/>
          </a:xfrm>
        </p:grpSpPr>
        <p:sp>
          <p:nvSpPr>
            <p:cNvPr name="Freeform 46" id="46"/>
            <p:cNvSpPr/>
            <p:nvPr/>
          </p:nvSpPr>
          <p:spPr>
            <a:xfrm flipH="false" flipV="false" rot="0">
              <a:off x="0" y="0"/>
              <a:ext cx="10259949" cy="2335149"/>
            </a:xfrm>
            <a:custGeom>
              <a:avLst/>
              <a:gdLst/>
              <a:ahLst/>
              <a:cxnLst/>
              <a:rect r="r" b="b" t="t" l="l"/>
              <a:pathLst>
                <a:path h="2335149" w="10259949">
                  <a:moveTo>
                    <a:pt x="0" y="389255"/>
                  </a:moveTo>
                  <a:cubicBezTo>
                    <a:pt x="0" y="174244"/>
                    <a:pt x="174244" y="0"/>
                    <a:pt x="389255" y="0"/>
                  </a:cubicBezTo>
                  <a:lnTo>
                    <a:pt x="9870694" y="0"/>
                  </a:lnTo>
                  <a:cubicBezTo>
                    <a:pt x="10085577" y="0"/>
                    <a:pt x="10259949" y="174244"/>
                    <a:pt x="10259949" y="389255"/>
                  </a:cubicBezTo>
                  <a:lnTo>
                    <a:pt x="10259949" y="1945894"/>
                  </a:lnTo>
                  <a:cubicBezTo>
                    <a:pt x="10259949" y="2160778"/>
                    <a:pt x="10085705" y="2335149"/>
                    <a:pt x="9870694" y="2335149"/>
                  </a:cubicBezTo>
                  <a:lnTo>
                    <a:pt x="389255" y="2335149"/>
                  </a:lnTo>
                  <a:cubicBezTo>
                    <a:pt x="174244" y="2335149"/>
                    <a:pt x="0" y="2160905"/>
                    <a:pt x="0" y="1945894"/>
                  </a:cubicBezTo>
                  <a:close/>
                </a:path>
              </a:pathLst>
            </a:custGeom>
            <a:solidFill>
              <a:srgbClr val="FFFFFF"/>
            </a:solidFill>
            <a:ln w="13970" cap="sq">
              <a:solidFill>
                <a:srgbClr val="D7DFEC"/>
              </a:solidFill>
              <a:prstDash val="solid"/>
              <a:miter/>
            </a:ln>
          </p:spPr>
        </p:sp>
      </p:grpSp>
      <p:sp>
        <p:nvSpPr>
          <p:cNvPr name="TextBox 47" id="47"/>
          <p:cNvSpPr txBox="true"/>
          <p:nvPr/>
        </p:nvSpPr>
        <p:spPr>
          <a:xfrm rot="0">
            <a:off x="9482328" y="6619875"/>
            <a:ext cx="7296912" cy="2762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60"/>
              </a:lnSpc>
            </a:pPr>
            <a:r>
              <a:rPr lang="en-US" sz="1800">
                <a:solidFill>
                  <a:srgbClr val="090E14"/>
                </a:solidFill>
                <a:latin typeface="Archivo Black"/>
                <a:ea typeface="Archivo Black"/>
                <a:cs typeface="Archivo Black"/>
                <a:sym typeface="Archivo Black"/>
              </a:rPr>
              <a:t>Automated reporting</a:t>
            </a:r>
          </a:p>
        </p:txBody>
      </p:sp>
      <p:sp>
        <p:nvSpPr>
          <p:cNvPr name="TextBox 48" id="48"/>
          <p:cNvSpPr txBox="true"/>
          <p:nvPr/>
        </p:nvSpPr>
        <p:spPr>
          <a:xfrm rot="0">
            <a:off x="9482328" y="7049643"/>
            <a:ext cx="7278624" cy="2381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00"/>
              </a:lnSpc>
            </a:pPr>
            <a:r>
              <a:rPr lang="en-US" sz="1500">
                <a:solidFill>
                  <a:srgbClr val="585F6A"/>
                </a:solidFill>
                <a:latin typeface="Archivo Black"/>
                <a:ea typeface="Archivo Black"/>
                <a:cs typeface="Archivo Black"/>
                <a:sym typeface="Archivo Black"/>
              </a:rPr>
              <a:t>Generate downloadable student report cards or summary files.</a:t>
            </a:r>
          </a:p>
        </p:txBody>
      </p:sp>
    </p:spTree>
  </p:cSld>
  <p:clrMapOvr>
    <a:masterClrMapping/>
  </p:clrMapOvr>
</p:sld>
</file>

<file path=ppt/slides/slide1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3" id="3" descr="bg.jpeg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-3364" r="0" b="-3364"/>
              </a:stretch>
            </a:blipFill>
          </p:spPr>
        </p:sp>
      </p:grpSp>
      <p:grpSp>
        <p:nvGrpSpPr>
          <p:cNvPr name="Group 4" id="4"/>
          <p:cNvGrpSpPr/>
          <p:nvPr/>
        </p:nvGrpSpPr>
        <p:grpSpPr>
          <a:xfrm rot="2700000">
            <a:off x="16504920" y="73152"/>
            <a:ext cx="54864" cy="530352"/>
            <a:chOff x="0" y="0"/>
            <a:chExt cx="73152" cy="707136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73152" cy="707136"/>
            </a:xfrm>
            <a:custGeom>
              <a:avLst/>
              <a:gdLst/>
              <a:ahLst/>
              <a:cxnLst/>
              <a:rect r="r" b="b" t="t" l="l"/>
              <a:pathLst>
                <a:path h="707136" w="73152">
                  <a:moveTo>
                    <a:pt x="0" y="0"/>
                  </a:moveTo>
                  <a:lnTo>
                    <a:pt x="73152" y="0"/>
                  </a:lnTo>
                  <a:lnTo>
                    <a:pt x="73152" y="707136"/>
                  </a:lnTo>
                  <a:lnTo>
                    <a:pt x="0" y="707136"/>
                  </a:lnTo>
                  <a:close/>
                </a:path>
              </a:pathLst>
            </a:custGeom>
            <a:solidFill>
              <a:srgbClr val="090E14"/>
            </a:solidFill>
          </p:spPr>
        </p:sp>
      </p:grpSp>
      <p:grpSp>
        <p:nvGrpSpPr>
          <p:cNvPr name="Group 6" id="6"/>
          <p:cNvGrpSpPr/>
          <p:nvPr/>
        </p:nvGrpSpPr>
        <p:grpSpPr>
          <a:xfrm rot="2700000">
            <a:off x="16934688" y="420624"/>
            <a:ext cx="54864" cy="530352"/>
            <a:chOff x="0" y="0"/>
            <a:chExt cx="73152" cy="707136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73152" cy="707136"/>
            </a:xfrm>
            <a:custGeom>
              <a:avLst/>
              <a:gdLst/>
              <a:ahLst/>
              <a:cxnLst/>
              <a:rect r="r" b="b" t="t" l="l"/>
              <a:pathLst>
                <a:path h="707136" w="73152">
                  <a:moveTo>
                    <a:pt x="0" y="0"/>
                  </a:moveTo>
                  <a:lnTo>
                    <a:pt x="73152" y="0"/>
                  </a:lnTo>
                  <a:lnTo>
                    <a:pt x="73152" y="707136"/>
                  </a:lnTo>
                  <a:lnTo>
                    <a:pt x="0" y="707136"/>
                  </a:lnTo>
                  <a:close/>
                </a:path>
              </a:pathLst>
            </a:custGeom>
            <a:solidFill>
              <a:srgbClr val="090E14"/>
            </a:solidFill>
          </p:spPr>
        </p:sp>
      </p:grpSp>
      <p:grpSp>
        <p:nvGrpSpPr>
          <p:cNvPr name="Group 8" id="8"/>
          <p:cNvGrpSpPr/>
          <p:nvPr/>
        </p:nvGrpSpPr>
        <p:grpSpPr>
          <a:xfrm rot="2700000">
            <a:off x="17364456" y="768096"/>
            <a:ext cx="54864" cy="530352"/>
            <a:chOff x="0" y="0"/>
            <a:chExt cx="73152" cy="707136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73152" cy="707136"/>
            </a:xfrm>
            <a:custGeom>
              <a:avLst/>
              <a:gdLst/>
              <a:ahLst/>
              <a:cxnLst/>
              <a:rect r="r" b="b" t="t" l="l"/>
              <a:pathLst>
                <a:path h="707136" w="73152">
                  <a:moveTo>
                    <a:pt x="0" y="0"/>
                  </a:moveTo>
                  <a:lnTo>
                    <a:pt x="73152" y="0"/>
                  </a:lnTo>
                  <a:lnTo>
                    <a:pt x="73152" y="707136"/>
                  </a:lnTo>
                  <a:lnTo>
                    <a:pt x="0" y="707136"/>
                  </a:lnTo>
                  <a:close/>
                </a:path>
              </a:pathLst>
            </a:custGeom>
            <a:solidFill>
              <a:srgbClr val="090E14"/>
            </a:solidFill>
          </p:spPr>
        </p:sp>
      </p:grpSp>
      <p:grpSp>
        <p:nvGrpSpPr>
          <p:cNvPr name="Group 10" id="10"/>
          <p:cNvGrpSpPr/>
          <p:nvPr/>
        </p:nvGrpSpPr>
        <p:grpSpPr>
          <a:xfrm rot="2700000">
            <a:off x="17794224" y="1115568"/>
            <a:ext cx="54864" cy="530352"/>
            <a:chOff x="0" y="0"/>
            <a:chExt cx="73152" cy="707136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73152" cy="707136"/>
            </a:xfrm>
            <a:custGeom>
              <a:avLst/>
              <a:gdLst/>
              <a:ahLst/>
              <a:cxnLst/>
              <a:rect r="r" b="b" t="t" l="l"/>
              <a:pathLst>
                <a:path h="707136" w="73152">
                  <a:moveTo>
                    <a:pt x="0" y="0"/>
                  </a:moveTo>
                  <a:lnTo>
                    <a:pt x="73152" y="0"/>
                  </a:lnTo>
                  <a:lnTo>
                    <a:pt x="73152" y="707136"/>
                  </a:lnTo>
                  <a:lnTo>
                    <a:pt x="0" y="707136"/>
                  </a:lnTo>
                  <a:close/>
                </a:path>
              </a:pathLst>
            </a:custGeom>
            <a:solidFill>
              <a:srgbClr val="090E14"/>
            </a:solidFill>
          </p:spPr>
        </p:sp>
      </p:grpSp>
      <p:grpSp>
        <p:nvGrpSpPr>
          <p:cNvPr name="Group 12" id="12"/>
          <p:cNvGrpSpPr/>
          <p:nvPr/>
        </p:nvGrpSpPr>
        <p:grpSpPr>
          <a:xfrm rot="2700000">
            <a:off x="18223992" y="1463040"/>
            <a:ext cx="54864" cy="530352"/>
            <a:chOff x="0" y="0"/>
            <a:chExt cx="73152" cy="707136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73152" cy="707136"/>
            </a:xfrm>
            <a:custGeom>
              <a:avLst/>
              <a:gdLst/>
              <a:ahLst/>
              <a:cxnLst/>
              <a:rect r="r" b="b" t="t" l="l"/>
              <a:pathLst>
                <a:path h="707136" w="73152">
                  <a:moveTo>
                    <a:pt x="0" y="0"/>
                  </a:moveTo>
                  <a:lnTo>
                    <a:pt x="73152" y="0"/>
                  </a:lnTo>
                  <a:lnTo>
                    <a:pt x="73152" y="707136"/>
                  </a:lnTo>
                  <a:lnTo>
                    <a:pt x="0" y="707136"/>
                  </a:lnTo>
                  <a:close/>
                </a:path>
              </a:pathLst>
            </a:custGeom>
            <a:solidFill>
              <a:srgbClr val="090E14"/>
            </a:solidFill>
          </p:spPr>
        </p:sp>
      </p:grpSp>
      <p:grpSp>
        <p:nvGrpSpPr>
          <p:cNvPr name="Group 14" id="14"/>
          <p:cNvGrpSpPr/>
          <p:nvPr/>
        </p:nvGrpSpPr>
        <p:grpSpPr>
          <a:xfrm rot="2700000">
            <a:off x="18653760" y="1810512"/>
            <a:ext cx="54864" cy="530352"/>
            <a:chOff x="0" y="0"/>
            <a:chExt cx="73152" cy="707136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73152" cy="707136"/>
            </a:xfrm>
            <a:custGeom>
              <a:avLst/>
              <a:gdLst/>
              <a:ahLst/>
              <a:cxnLst/>
              <a:rect r="r" b="b" t="t" l="l"/>
              <a:pathLst>
                <a:path h="707136" w="73152">
                  <a:moveTo>
                    <a:pt x="0" y="0"/>
                  </a:moveTo>
                  <a:lnTo>
                    <a:pt x="73152" y="0"/>
                  </a:lnTo>
                  <a:lnTo>
                    <a:pt x="73152" y="707136"/>
                  </a:lnTo>
                  <a:lnTo>
                    <a:pt x="0" y="707136"/>
                  </a:lnTo>
                  <a:close/>
                </a:path>
              </a:pathLst>
            </a:custGeom>
            <a:solidFill>
              <a:srgbClr val="090E14"/>
            </a:solidFill>
          </p:spPr>
        </p:sp>
      </p:grpSp>
      <p:grpSp>
        <p:nvGrpSpPr>
          <p:cNvPr name="Group 16" id="16"/>
          <p:cNvGrpSpPr/>
          <p:nvPr/>
        </p:nvGrpSpPr>
        <p:grpSpPr>
          <a:xfrm rot="2700000">
            <a:off x="19083528" y="2157984"/>
            <a:ext cx="54864" cy="530352"/>
            <a:chOff x="0" y="0"/>
            <a:chExt cx="73152" cy="707136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73152" cy="707136"/>
            </a:xfrm>
            <a:custGeom>
              <a:avLst/>
              <a:gdLst/>
              <a:ahLst/>
              <a:cxnLst/>
              <a:rect r="r" b="b" t="t" l="l"/>
              <a:pathLst>
                <a:path h="707136" w="73152">
                  <a:moveTo>
                    <a:pt x="0" y="0"/>
                  </a:moveTo>
                  <a:lnTo>
                    <a:pt x="73152" y="0"/>
                  </a:lnTo>
                  <a:lnTo>
                    <a:pt x="73152" y="707136"/>
                  </a:lnTo>
                  <a:lnTo>
                    <a:pt x="0" y="707136"/>
                  </a:lnTo>
                  <a:close/>
                </a:path>
              </a:pathLst>
            </a:custGeom>
            <a:solidFill>
              <a:srgbClr val="090E14"/>
            </a:solidFill>
          </p:spPr>
        </p:sp>
      </p:grpSp>
      <p:sp>
        <p:nvSpPr>
          <p:cNvPr name="TextBox 18" id="18"/>
          <p:cNvSpPr txBox="true"/>
          <p:nvPr/>
        </p:nvSpPr>
        <p:spPr>
          <a:xfrm rot="0">
            <a:off x="978408" y="575691"/>
            <a:ext cx="12673584" cy="5524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320"/>
              </a:lnSpc>
            </a:pPr>
            <a:r>
              <a:rPr lang="en-US" sz="3600">
                <a:solidFill>
                  <a:srgbClr val="090E14"/>
                </a:solidFill>
                <a:latin typeface="Archivo Black"/>
                <a:ea typeface="Archivo Black"/>
                <a:cs typeface="Archivo Black"/>
                <a:sym typeface="Archivo Black"/>
              </a:rPr>
              <a:t>11. Conclusion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1005840" y="1343406"/>
            <a:ext cx="14228064" cy="2762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040"/>
              </a:lnSpc>
            </a:pPr>
            <a:r>
              <a:rPr lang="en-US" sz="1700">
                <a:solidFill>
                  <a:srgbClr val="585F6A"/>
                </a:solidFill>
                <a:latin typeface="Archivo Black"/>
                <a:ea typeface="Archivo Black"/>
                <a:cs typeface="Archivo Black"/>
                <a:sym typeface="Archivo Black"/>
              </a:rPr>
              <a:t>What the completed project demonstrates</a:t>
            </a:r>
          </a:p>
        </p:txBody>
      </p:sp>
      <p:grpSp>
        <p:nvGrpSpPr>
          <p:cNvPr name="Group 20" id="20"/>
          <p:cNvGrpSpPr/>
          <p:nvPr/>
        </p:nvGrpSpPr>
        <p:grpSpPr>
          <a:xfrm rot="0">
            <a:off x="987552" y="1755648"/>
            <a:ext cx="1051560" cy="50292"/>
            <a:chOff x="0" y="0"/>
            <a:chExt cx="1402080" cy="67056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1402080" cy="67056"/>
            </a:xfrm>
            <a:custGeom>
              <a:avLst/>
              <a:gdLst/>
              <a:ahLst/>
              <a:cxnLst/>
              <a:rect r="r" b="b" t="t" l="l"/>
              <a:pathLst>
                <a:path h="67056" w="1402080">
                  <a:moveTo>
                    <a:pt x="0" y="0"/>
                  </a:moveTo>
                  <a:lnTo>
                    <a:pt x="1402080" y="0"/>
                  </a:lnTo>
                  <a:lnTo>
                    <a:pt x="1402080" y="67056"/>
                  </a:lnTo>
                  <a:lnTo>
                    <a:pt x="0" y="67056"/>
                  </a:lnTo>
                  <a:close/>
                </a:path>
              </a:pathLst>
            </a:custGeom>
            <a:solidFill>
              <a:srgbClr val="265BCD"/>
            </a:solidFill>
          </p:spPr>
        </p:sp>
      </p:grpSp>
      <p:sp>
        <p:nvSpPr>
          <p:cNvPr name="TextBox 22" id="22"/>
          <p:cNvSpPr txBox="true"/>
          <p:nvPr/>
        </p:nvSpPr>
        <p:spPr>
          <a:xfrm rot="0">
            <a:off x="4562443" y="2350008"/>
            <a:ext cx="8943658" cy="4381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480"/>
              </a:lnSpc>
            </a:pPr>
            <a:r>
              <a:rPr lang="en-US" sz="2900">
                <a:solidFill>
                  <a:srgbClr val="090E14"/>
                </a:solidFill>
                <a:latin typeface="Archivo Black"/>
                <a:ea typeface="Archivo Black"/>
                <a:cs typeface="Archivo Black"/>
                <a:sym typeface="Archivo Black"/>
              </a:rPr>
              <a:t>ONE COMPLETE STUDENT TRACKING FLOW</a:t>
            </a:r>
          </a:p>
        </p:txBody>
      </p:sp>
      <p:grpSp>
        <p:nvGrpSpPr>
          <p:cNvPr name="Group 23" id="23"/>
          <p:cNvGrpSpPr/>
          <p:nvPr/>
        </p:nvGrpSpPr>
        <p:grpSpPr>
          <a:xfrm rot="0">
            <a:off x="998858" y="3650618"/>
            <a:ext cx="3671573" cy="2208533"/>
            <a:chOff x="0" y="0"/>
            <a:chExt cx="4895431" cy="2944711"/>
          </a:xfrm>
        </p:grpSpPr>
        <p:sp>
          <p:nvSpPr>
            <p:cNvPr name="Freeform 24" id="24"/>
            <p:cNvSpPr/>
            <p:nvPr/>
          </p:nvSpPr>
          <p:spPr>
            <a:xfrm flipH="false" flipV="false" rot="0">
              <a:off x="0" y="0"/>
              <a:ext cx="4895469" cy="2944749"/>
            </a:xfrm>
            <a:custGeom>
              <a:avLst/>
              <a:gdLst/>
              <a:ahLst/>
              <a:cxnLst/>
              <a:rect r="r" b="b" t="t" l="l"/>
              <a:pathLst>
                <a:path h="2944749" w="4895469">
                  <a:moveTo>
                    <a:pt x="0" y="490855"/>
                  </a:moveTo>
                  <a:cubicBezTo>
                    <a:pt x="0" y="219710"/>
                    <a:pt x="219710" y="0"/>
                    <a:pt x="490855" y="0"/>
                  </a:cubicBezTo>
                  <a:lnTo>
                    <a:pt x="4404614" y="0"/>
                  </a:lnTo>
                  <a:cubicBezTo>
                    <a:pt x="4675632" y="0"/>
                    <a:pt x="4895469" y="219710"/>
                    <a:pt x="4895469" y="490855"/>
                  </a:cubicBezTo>
                  <a:lnTo>
                    <a:pt x="4895469" y="2453894"/>
                  </a:lnTo>
                  <a:cubicBezTo>
                    <a:pt x="4895469" y="2724912"/>
                    <a:pt x="4675759" y="2944749"/>
                    <a:pt x="4404614" y="2944749"/>
                  </a:cubicBezTo>
                  <a:lnTo>
                    <a:pt x="490855" y="2944749"/>
                  </a:lnTo>
                  <a:cubicBezTo>
                    <a:pt x="219710" y="2944749"/>
                    <a:pt x="0" y="2724912"/>
                    <a:pt x="0" y="2453894"/>
                  </a:cubicBezTo>
                  <a:close/>
                </a:path>
              </a:pathLst>
            </a:custGeom>
            <a:solidFill>
              <a:srgbClr val="FFFFFF"/>
            </a:solidFill>
            <a:ln w="13970" cap="sq">
              <a:solidFill>
                <a:srgbClr val="D7DFEC"/>
              </a:solidFill>
              <a:prstDash val="solid"/>
              <a:miter/>
            </a:ln>
          </p:spPr>
        </p:sp>
      </p:grpSp>
      <p:sp>
        <p:nvSpPr>
          <p:cNvPr name="TextBox 25" id="25"/>
          <p:cNvSpPr txBox="true"/>
          <p:nvPr/>
        </p:nvSpPr>
        <p:spPr>
          <a:xfrm rot="0">
            <a:off x="1225296" y="3830955"/>
            <a:ext cx="719614" cy="3143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00"/>
              </a:lnSpc>
            </a:pPr>
            <a:r>
              <a:rPr lang="en-US" sz="2000">
                <a:solidFill>
                  <a:srgbClr val="090E14"/>
                </a:solidFill>
                <a:latin typeface="Archivo Black"/>
                <a:ea typeface="Archivo Black"/>
                <a:cs typeface="Archivo Black"/>
                <a:sym typeface="Archivo Black"/>
              </a:rPr>
              <a:t>Input</a:t>
            </a:r>
          </a:p>
        </p:txBody>
      </p:sp>
      <p:sp>
        <p:nvSpPr>
          <p:cNvPr name="TextBox 26" id="26"/>
          <p:cNvSpPr txBox="true"/>
          <p:nvPr/>
        </p:nvSpPr>
        <p:spPr>
          <a:xfrm rot="0">
            <a:off x="1225296" y="4251198"/>
            <a:ext cx="3255264" cy="5334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040"/>
              </a:lnSpc>
            </a:pPr>
            <a:r>
              <a:rPr lang="en-US" sz="1700">
                <a:solidFill>
                  <a:srgbClr val="585F6A"/>
                </a:solidFill>
                <a:latin typeface="Archivo Black"/>
                <a:ea typeface="Archivo Black"/>
                <a:cs typeface="Archivo Black"/>
                <a:sym typeface="Archivo Black"/>
              </a:rPr>
              <a:t>Collects required student data.</a:t>
            </a:r>
          </a:p>
        </p:txBody>
      </p:sp>
      <p:grpSp>
        <p:nvGrpSpPr>
          <p:cNvPr name="Group 27" id="27"/>
          <p:cNvGrpSpPr/>
          <p:nvPr/>
        </p:nvGrpSpPr>
        <p:grpSpPr>
          <a:xfrm rot="0">
            <a:off x="5250818" y="3650618"/>
            <a:ext cx="3671573" cy="2208533"/>
            <a:chOff x="0" y="0"/>
            <a:chExt cx="4895431" cy="2944711"/>
          </a:xfrm>
        </p:grpSpPr>
        <p:sp>
          <p:nvSpPr>
            <p:cNvPr name="Freeform 28" id="28"/>
            <p:cNvSpPr/>
            <p:nvPr/>
          </p:nvSpPr>
          <p:spPr>
            <a:xfrm flipH="false" flipV="false" rot="0">
              <a:off x="0" y="0"/>
              <a:ext cx="4895469" cy="2944749"/>
            </a:xfrm>
            <a:custGeom>
              <a:avLst/>
              <a:gdLst/>
              <a:ahLst/>
              <a:cxnLst/>
              <a:rect r="r" b="b" t="t" l="l"/>
              <a:pathLst>
                <a:path h="2944749" w="4895469">
                  <a:moveTo>
                    <a:pt x="0" y="490855"/>
                  </a:moveTo>
                  <a:cubicBezTo>
                    <a:pt x="0" y="219710"/>
                    <a:pt x="219710" y="0"/>
                    <a:pt x="490855" y="0"/>
                  </a:cubicBezTo>
                  <a:lnTo>
                    <a:pt x="4404614" y="0"/>
                  </a:lnTo>
                  <a:cubicBezTo>
                    <a:pt x="4675632" y="0"/>
                    <a:pt x="4895469" y="219710"/>
                    <a:pt x="4895469" y="490855"/>
                  </a:cubicBezTo>
                  <a:lnTo>
                    <a:pt x="4895469" y="2453894"/>
                  </a:lnTo>
                  <a:cubicBezTo>
                    <a:pt x="4895469" y="2724912"/>
                    <a:pt x="4675759" y="2944749"/>
                    <a:pt x="4404614" y="2944749"/>
                  </a:cubicBezTo>
                  <a:lnTo>
                    <a:pt x="490855" y="2944749"/>
                  </a:lnTo>
                  <a:cubicBezTo>
                    <a:pt x="219710" y="2944749"/>
                    <a:pt x="0" y="2724912"/>
                    <a:pt x="0" y="2453894"/>
                  </a:cubicBezTo>
                  <a:close/>
                </a:path>
              </a:pathLst>
            </a:custGeom>
            <a:solidFill>
              <a:srgbClr val="FFFFFF"/>
            </a:solidFill>
            <a:ln w="13970" cap="sq">
              <a:solidFill>
                <a:srgbClr val="D7DFEC"/>
              </a:solidFill>
              <a:prstDash val="solid"/>
              <a:miter/>
            </a:ln>
          </p:spPr>
        </p:sp>
      </p:grpSp>
      <p:sp>
        <p:nvSpPr>
          <p:cNvPr name="TextBox 29" id="29"/>
          <p:cNvSpPr txBox="true"/>
          <p:nvPr/>
        </p:nvSpPr>
        <p:spPr>
          <a:xfrm rot="0">
            <a:off x="5477256" y="3830955"/>
            <a:ext cx="1114266" cy="3143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00"/>
              </a:lnSpc>
            </a:pPr>
            <a:r>
              <a:rPr lang="en-US" sz="2000">
                <a:solidFill>
                  <a:srgbClr val="090E14"/>
                </a:solidFill>
                <a:latin typeface="Archivo Black"/>
                <a:ea typeface="Archivo Black"/>
                <a:cs typeface="Archivo Black"/>
                <a:sym typeface="Archivo Black"/>
              </a:rPr>
              <a:t>Process</a:t>
            </a:r>
          </a:p>
        </p:txBody>
      </p:sp>
      <p:sp>
        <p:nvSpPr>
          <p:cNvPr name="TextBox 30" id="30"/>
          <p:cNvSpPr txBox="true"/>
          <p:nvPr/>
        </p:nvSpPr>
        <p:spPr>
          <a:xfrm rot="0">
            <a:off x="5477256" y="4251198"/>
            <a:ext cx="3255264" cy="5334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040"/>
              </a:lnSpc>
            </a:pPr>
            <a:r>
              <a:rPr lang="en-US" sz="1700">
                <a:solidFill>
                  <a:srgbClr val="585F6A"/>
                </a:solidFill>
                <a:latin typeface="Archivo Black"/>
                <a:ea typeface="Archivo Black"/>
                <a:cs typeface="Archivo Black"/>
                <a:sym typeface="Archivo Black"/>
              </a:rPr>
              <a:t>Calculates total and average.</a:t>
            </a:r>
          </a:p>
        </p:txBody>
      </p:sp>
      <p:grpSp>
        <p:nvGrpSpPr>
          <p:cNvPr name="Group 31" id="31"/>
          <p:cNvGrpSpPr/>
          <p:nvPr/>
        </p:nvGrpSpPr>
        <p:grpSpPr>
          <a:xfrm rot="0">
            <a:off x="9502778" y="3650618"/>
            <a:ext cx="3671573" cy="2208533"/>
            <a:chOff x="0" y="0"/>
            <a:chExt cx="4895431" cy="2944711"/>
          </a:xfrm>
        </p:grpSpPr>
        <p:sp>
          <p:nvSpPr>
            <p:cNvPr name="Freeform 32" id="32"/>
            <p:cNvSpPr/>
            <p:nvPr/>
          </p:nvSpPr>
          <p:spPr>
            <a:xfrm flipH="false" flipV="false" rot="0">
              <a:off x="0" y="0"/>
              <a:ext cx="4895469" cy="2944749"/>
            </a:xfrm>
            <a:custGeom>
              <a:avLst/>
              <a:gdLst/>
              <a:ahLst/>
              <a:cxnLst/>
              <a:rect r="r" b="b" t="t" l="l"/>
              <a:pathLst>
                <a:path h="2944749" w="4895469">
                  <a:moveTo>
                    <a:pt x="0" y="490855"/>
                  </a:moveTo>
                  <a:cubicBezTo>
                    <a:pt x="0" y="219710"/>
                    <a:pt x="219710" y="0"/>
                    <a:pt x="490855" y="0"/>
                  </a:cubicBezTo>
                  <a:lnTo>
                    <a:pt x="4404614" y="0"/>
                  </a:lnTo>
                  <a:cubicBezTo>
                    <a:pt x="4675632" y="0"/>
                    <a:pt x="4895469" y="219710"/>
                    <a:pt x="4895469" y="490855"/>
                  </a:cubicBezTo>
                  <a:lnTo>
                    <a:pt x="4895469" y="2453894"/>
                  </a:lnTo>
                  <a:cubicBezTo>
                    <a:pt x="4895469" y="2724912"/>
                    <a:pt x="4675759" y="2944749"/>
                    <a:pt x="4404614" y="2944749"/>
                  </a:cubicBezTo>
                  <a:lnTo>
                    <a:pt x="490855" y="2944749"/>
                  </a:lnTo>
                  <a:cubicBezTo>
                    <a:pt x="219710" y="2944749"/>
                    <a:pt x="0" y="2724912"/>
                    <a:pt x="0" y="2453894"/>
                  </a:cubicBezTo>
                  <a:close/>
                </a:path>
              </a:pathLst>
            </a:custGeom>
            <a:solidFill>
              <a:srgbClr val="FFFFFF"/>
            </a:solidFill>
            <a:ln w="13970" cap="sq">
              <a:solidFill>
                <a:srgbClr val="D7DFEC"/>
              </a:solidFill>
              <a:prstDash val="solid"/>
              <a:miter/>
            </a:ln>
          </p:spPr>
        </p:sp>
      </p:grpSp>
      <p:sp>
        <p:nvSpPr>
          <p:cNvPr name="TextBox 33" id="33"/>
          <p:cNvSpPr txBox="true"/>
          <p:nvPr/>
        </p:nvSpPr>
        <p:spPr>
          <a:xfrm rot="0">
            <a:off x="9729216" y="3830955"/>
            <a:ext cx="959485" cy="3143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00"/>
              </a:lnSpc>
            </a:pPr>
            <a:r>
              <a:rPr lang="en-US" sz="2000">
                <a:solidFill>
                  <a:srgbClr val="090E14"/>
                </a:solidFill>
                <a:latin typeface="Archivo Black"/>
                <a:ea typeface="Archivo Black"/>
                <a:cs typeface="Archivo Black"/>
                <a:sym typeface="Archivo Black"/>
              </a:rPr>
              <a:t>Decide</a:t>
            </a:r>
          </a:p>
        </p:txBody>
      </p:sp>
      <p:sp>
        <p:nvSpPr>
          <p:cNvPr name="TextBox 34" id="34"/>
          <p:cNvSpPr txBox="true"/>
          <p:nvPr/>
        </p:nvSpPr>
        <p:spPr>
          <a:xfrm rot="0">
            <a:off x="9729216" y="4251198"/>
            <a:ext cx="3255264" cy="5334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040"/>
              </a:lnSpc>
            </a:pPr>
            <a:r>
              <a:rPr lang="en-US" sz="1700">
                <a:solidFill>
                  <a:srgbClr val="585F6A"/>
                </a:solidFill>
                <a:latin typeface="Archivo Black"/>
                <a:ea typeface="Archivo Black"/>
                <a:cs typeface="Archivo Black"/>
                <a:sym typeface="Archivo Black"/>
              </a:rPr>
              <a:t>Assigns grade and checks attendance.</a:t>
            </a:r>
          </a:p>
        </p:txBody>
      </p:sp>
      <p:grpSp>
        <p:nvGrpSpPr>
          <p:cNvPr name="Group 35" id="35"/>
          <p:cNvGrpSpPr/>
          <p:nvPr/>
        </p:nvGrpSpPr>
        <p:grpSpPr>
          <a:xfrm rot="0">
            <a:off x="13754738" y="3650618"/>
            <a:ext cx="3671573" cy="2208533"/>
            <a:chOff x="0" y="0"/>
            <a:chExt cx="4895431" cy="2944711"/>
          </a:xfrm>
        </p:grpSpPr>
        <p:sp>
          <p:nvSpPr>
            <p:cNvPr name="Freeform 36" id="36"/>
            <p:cNvSpPr/>
            <p:nvPr/>
          </p:nvSpPr>
          <p:spPr>
            <a:xfrm flipH="false" flipV="false" rot="0">
              <a:off x="0" y="0"/>
              <a:ext cx="4895469" cy="2944749"/>
            </a:xfrm>
            <a:custGeom>
              <a:avLst/>
              <a:gdLst/>
              <a:ahLst/>
              <a:cxnLst/>
              <a:rect r="r" b="b" t="t" l="l"/>
              <a:pathLst>
                <a:path h="2944749" w="4895469">
                  <a:moveTo>
                    <a:pt x="0" y="490855"/>
                  </a:moveTo>
                  <a:cubicBezTo>
                    <a:pt x="0" y="219710"/>
                    <a:pt x="219710" y="0"/>
                    <a:pt x="490855" y="0"/>
                  </a:cubicBezTo>
                  <a:lnTo>
                    <a:pt x="4404614" y="0"/>
                  </a:lnTo>
                  <a:cubicBezTo>
                    <a:pt x="4675632" y="0"/>
                    <a:pt x="4895469" y="219710"/>
                    <a:pt x="4895469" y="490855"/>
                  </a:cubicBezTo>
                  <a:lnTo>
                    <a:pt x="4895469" y="2453894"/>
                  </a:lnTo>
                  <a:cubicBezTo>
                    <a:pt x="4895469" y="2724912"/>
                    <a:pt x="4675759" y="2944749"/>
                    <a:pt x="4404614" y="2944749"/>
                  </a:cubicBezTo>
                  <a:lnTo>
                    <a:pt x="490855" y="2944749"/>
                  </a:lnTo>
                  <a:cubicBezTo>
                    <a:pt x="219710" y="2944749"/>
                    <a:pt x="0" y="2724912"/>
                    <a:pt x="0" y="2453894"/>
                  </a:cubicBezTo>
                  <a:close/>
                </a:path>
              </a:pathLst>
            </a:custGeom>
            <a:solidFill>
              <a:srgbClr val="FFFFFF"/>
            </a:solidFill>
            <a:ln w="13970" cap="sq">
              <a:solidFill>
                <a:srgbClr val="D7DFEC"/>
              </a:solidFill>
              <a:prstDash val="solid"/>
              <a:miter/>
            </a:ln>
          </p:spPr>
        </p:sp>
      </p:grpSp>
      <p:sp>
        <p:nvSpPr>
          <p:cNvPr name="TextBox 37" id="37"/>
          <p:cNvSpPr txBox="true"/>
          <p:nvPr/>
        </p:nvSpPr>
        <p:spPr>
          <a:xfrm rot="0">
            <a:off x="13981176" y="3830955"/>
            <a:ext cx="931069" cy="3143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00"/>
              </a:lnSpc>
            </a:pPr>
            <a:r>
              <a:rPr lang="en-US" sz="2000">
                <a:solidFill>
                  <a:srgbClr val="090E14"/>
                </a:solidFill>
                <a:latin typeface="Archivo Black"/>
                <a:ea typeface="Archivo Black"/>
                <a:cs typeface="Archivo Black"/>
                <a:sym typeface="Archivo Black"/>
              </a:rPr>
              <a:t>Report</a:t>
            </a:r>
          </a:p>
        </p:txBody>
      </p:sp>
      <p:sp>
        <p:nvSpPr>
          <p:cNvPr name="TextBox 38" id="38"/>
          <p:cNvSpPr txBox="true"/>
          <p:nvPr/>
        </p:nvSpPr>
        <p:spPr>
          <a:xfrm rot="0">
            <a:off x="13981176" y="4251198"/>
            <a:ext cx="3255264" cy="5334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040"/>
              </a:lnSpc>
            </a:pPr>
            <a:r>
              <a:rPr lang="en-US" sz="1700">
                <a:solidFill>
                  <a:srgbClr val="585F6A"/>
                </a:solidFill>
                <a:latin typeface="Archivo Black"/>
                <a:ea typeface="Archivo Black"/>
                <a:cs typeface="Archivo Black"/>
                <a:sym typeface="Archivo Black"/>
              </a:rPr>
              <a:t>Displays the final student status.</a:t>
            </a:r>
          </a:p>
        </p:txBody>
      </p:sp>
      <p:sp>
        <p:nvSpPr>
          <p:cNvPr name="TextBox 39" id="39"/>
          <p:cNvSpPr txBox="true"/>
          <p:nvPr/>
        </p:nvSpPr>
        <p:spPr>
          <a:xfrm rot="0">
            <a:off x="1847088" y="6638163"/>
            <a:ext cx="14593824" cy="6762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639"/>
              </a:lnSpc>
            </a:pPr>
            <a:r>
              <a:rPr lang="en-US" sz="2199">
                <a:solidFill>
                  <a:srgbClr val="585F6A"/>
                </a:solidFill>
                <a:latin typeface="Archivo Black"/>
                <a:ea typeface="Archivo Black"/>
                <a:cs typeface="Archivo Black"/>
                <a:sym typeface="Archivo Black"/>
              </a:rPr>
              <a:t>The project applies basic Java control structures to automate academic calculations and attendance-based exam eligibility.</a:t>
            </a:r>
          </a:p>
        </p:txBody>
      </p:sp>
    </p:spTree>
  </p:cSld>
  <p:clrMapOvr>
    <a:masterClrMapping/>
  </p:clrMapOvr>
</p:sld>
</file>

<file path=ppt/slides/slide1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3" id="3" descr="bg.jpeg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-3364" r="0" b="-3364"/>
              </a:stretch>
            </a:blipFill>
          </p:spPr>
        </p:sp>
      </p:grpSp>
      <p:grpSp>
        <p:nvGrpSpPr>
          <p:cNvPr name="Group 4" id="4"/>
          <p:cNvGrpSpPr/>
          <p:nvPr/>
        </p:nvGrpSpPr>
        <p:grpSpPr>
          <a:xfrm rot="2700000">
            <a:off x="16504920" y="73152"/>
            <a:ext cx="54864" cy="530352"/>
            <a:chOff x="0" y="0"/>
            <a:chExt cx="73152" cy="707136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73152" cy="707136"/>
            </a:xfrm>
            <a:custGeom>
              <a:avLst/>
              <a:gdLst/>
              <a:ahLst/>
              <a:cxnLst/>
              <a:rect r="r" b="b" t="t" l="l"/>
              <a:pathLst>
                <a:path h="707136" w="73152">
                  <a:moveTo>
                    <a:pt x="0" y="0"/>
                  </a:moveTo>
                  <a:lnTo>
                    <a:pt x="73152" y="0"/>
                  </a:lnTo>
                  <a:lnTo>
                    <a:pt x="73152" y="707136"/>
                  </a:lnTo>
                  <a:lnTo>
                    <a:pt x="0" y="707136"/>
                  </a:lnTo>
                  <a:close/>
                </a:path>
              </a:pathLst>
            </a:custGeom>
            <a:solidFill>
              <a:srgbClr val="090E14"/>
            </a:solidFill>
          </p:spPr>
        </p:sp>
      </p:grpSp>
      <p:grpSp>
        <p:nvGrpSpPr>
          <p:cNvPr name="Group 6" id="6"/>
          <p:cNvGrpSpPr/>
          <p:nvPr/>
        </p:nvGrpSpPr>
        <p:grpSpPr>
          <a:xfrm rot="2700000">
            <a:off x="16934688" y="420624"/>
            <a:ext cx="54864" cy="530352"/>
            <a:chOff x="0" y="0"/>
            <a:chExt cx="73152" cy="707136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73152" cy="707136"/>
            </a:xfrm>
            <a:custGeom>
              <a:avLst/>
              <a:gdLst/>
              <a:ahLst/>
              <a:cxnLst/>
              <a:rect r="r" b="b" t="t" l="l"/>
              <a:pathLst>
                <a:path h="707136" w="73152">
                  <a:moveTo>
                    <a:pt x="0" y="0"/>
                  </a:moveTo>
                  <a:lnTo>
                    <a:pt x="73152" y="0"/>
                  </a:lnTo>
                  <a:lnTo>
                    <a:pt x="73152" y="707136"/>
                  </a:lnTo>
                  <a:lnTo>
                    <a:pt x="0" y="707136"/>
                  </a:lnTo>
                  <a:close/>
                </a:path>
              </a:pathLst>
            </a:custGeom>
            <a:solidFill>
              <a:srgbClr val="090E14"/>
            </a:solidFill>
          </p:spPr>
        </p:sp>
      </p:grpSp>
      <p:grpSp>
        <p:nvGrpSpPr>
          <p:cNvPr name="Group 8" id="8"/>
          <p:cNvGrpSpPr/>
          <p:nvPr/>
        </p:nvGrpSpPr>
        <p:grpSpPr>
          <a:xfrm rot="2700000">
            <a:off x="17364456" y="768096"/>
            <a:ext cx="54864" cy="530352"/>
            <a:chOff x="0" y="0"/>
            <a:chExt cx="73152" cy="707136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73152" cy="707136"/>
            </a:xfrm>
            <a:custGeom>
              <a:avLst/>
              <a:gdLst/>
              <a:ahLst/>
              <a:cxnLst/>
              <a:rect r="r" b="b" t="t" l="l"/>
              <a:pathLst>
                <a:path h="707136" w="73152">
                  <a:moveTo>
                    <a:pt x="0" y="0"/>
                  </a:moveTo>
                  <a:lnTo>
                    <a:pt x="73152" y="0"/>
                  </a:lnTo>
                  <a:lnTo>
                    <a:pt x="73152" y="707136"/>
                  </a:lnTo>
                  <a:lnTo>
                    <a:pt x="0" y="707136"/>
                  </a:lnTo>
                  <a:close/>
                </a:path>
              </a:pathLst>
            </a:custGeom>
            <a:solidFill>
              <a:srgbClr val="090E14"/>
            </a:solidFill>
          </p:spPr>
        </p:sp>
      </p:grpSp>
      <p:grpSp>
        <p:nvGrpSpPr>
          <p:cNvPr name="Group 10" id="10"/>
          <p:cNvGrpSpPr/>
          <p:nvPr/>
        </p:nvGrpSpPr>
        <p:grpSpPr>
          <a:xfrm rot="2700000">
            <a:off x="17794224" y="1115568"/>
            <a:ext cx="54864" cy="530352"/>
            <a:chOff x="0" y="0"/>
            <a:chExt cx="73152" cy="707136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73152" cy="707136"/>
            </a:xfrm>
            <a:custGeom>
              <a:avLst/>
              <a:gdLst/>
              <a:ahLst/>
              <a:cxnLst/>
              <a:rect r="r" b="b" t="t" l="l"/>
              <a:pathLst>
                <a:path h="707136" w="73152">
                  <a:moveTo>
                    <a:pt x="0" y="0"/>
                  </a:moveTo>
                  <a:lnTo>
                    <a:pt x="73152" y="0"/>
                  </a:lnTo>
                  <a:lnTo>
                    <a:pt x="73152" y="707136"/>
                  </a:lnTo>
                  <a:lnTo>
                    <a:pt x="0" y="707136"/>
                  </a:lnTo>
                  <a:close/>
                </a:path>
              </a:pathLst>
            </a:custGeom>
            <a:solidFill>
              <a:srgbClr val="090E14"/>
            </a:solidFill>
          </p:spPr>
        </p:sp>
      </p:grpSp>
      <p:grpSp>
        <p:nvGrpSpPr>
          <p:cNvPr name="Group 12" id="12"/>
          <p:cNvGrpSpPr/>
          <p:nvPr/>
        </p:nvGrpSpPr>
        <p:grpSpPr>
          <a:xfrm rot="2700000">
            <a:off x="18223992" y="1463040"/>
            <a:ext cx="54864" cy="530352"/>
            <a:chOff x="0" y="0"/>
            <a:chExt cx="73152" cy="707136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73152" cy="707136"/>
            </a:xfrm>
            <a:custGeom>
              <a:avLst/>
              <a:gdLst/>
              <a:ahLst/>
              <a:cxnLst/>
              <a:rect r="r" b="b" t="t" l="l"/>
              <a:pathLst>
                <a:path h="707136" w="73152">
                  <a:moveTo>
                    <a:pt x="0" y="0"/>
                  </a:moveTo>
                  <a:lnTo>
                    <a:pt x="73152" y="0"/>
                  </a:lnTo>
                  <a:lnTo>
                    <a:pt x="73152" y="707136"/>
                  </a:lnTo>
                  <a:lnTo>
                    <a:pt x="0" y="707136"/>
                  </a:lnTo>
                  <a:close/>
                </a:path>
              </a:pathLst>
            </a:custGeom>
            <a:solidFill>
              <a:srgbClr val="090E14"/>
            </a:solidFill>
          </p:spPr>
        </p:sp>
      </p:grpSp>
      <p:grpSp>
        <p:nvGrpSpPr>
          <p:cNvPr name="Group 14" id="14"/>
          <p:cNvGrpSpPr/>
          <p:nvPr/>
        </p:nvGrpSpPr>
        <p:grpSpPr>
          <a:xfrm rot="2700000">
            <a:off x="18653760" y="1810512"/>
            <a:ext cx="54864" cy="530352"/>
            <a:chOff x="0" y="0"/>
            <a:chExt cx="73152" cy="707136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73152" cy="707136"/>
            </a:xfrm>
            <a:custGeom>
              <a:avLst/>
              <a:gdLst/>
              <a:ahLst/>
              <a:cxnLst/>
              <a:rect r="r" b="b" t="t" l="l"/>
              <a:pathLst>
                <a:path h="707136" w="73152">
                  <a:moveTo>
                    <a:pt x="0" y="0"/>
                  </a:moveTo>
                  <a:lnTo>
                    <a:pt x="73152" y="0"/>
                  </a:lnTo>
                  <a:lnTo>
                    <a:pt x="73152" y="707136"/>
                  </a:lnTo>
                  <a:lnTo>
                    <a:pt x="0" y="707136"/>
                  </a:lnTo>
                  <a:close/>
                </a:path>
              </a:pathLst>
            </a:custGeom>
            <a:solidFill>
              <a:srgbClr val="090E14"/>
            </a:solidFill>
          </p:spPr>
        </p:sp>
      </p:grpSp>
      <p:grpSp>
        <p:nvGrpSpPr>
          <p:cNvPr name="Group 16" id="16"/>
          <p:cNvGrpSpPr/>
          <p:nvPr/>
        </p:nvGrpSpPr>
        <p:grpSpPr>
          <a:xfrm rot="2700000">
            <a:off x="19083528" y="2157984"/>
            <a:ext cx="54864" cy="530352"/>
            <a:chOff x="0" y="0"/>
            <a:chExt cx="73152" cy="707136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73152" cy="707136"/>
            </a:xfrm>
            <a:custGeom>
              <a:avLst/>
              <a:gdLst/>
              <a:ahLst/>
              <a:cxnLst/>
              <a:rect r="r" b="b" t="t" l="l"/>
              <a:pathLst>
                <a:path h="707136" w="73152">
                  <a:moveTo>
                    <a:pt x="0" y="0"/>
                  </a:moveTo>
                  <a:lnTo>
                    <a:pt x="73152" y="0"/>
                  </a:lnTo>
                  <a:lnTo>
                    <a:pt x="73152" y="707136"/>
                  </a:lnTo>
                  <a:lnTo>
                    <a:pt x="0" y="707136"/>
                  </a:lnTo>
                  <a:close/>
                </a:path>
              </a:pathLst>
            </a:custGeom>
            <a:solidFill>
              <a:srgbClr val="090E14"/>
            </a:solidFill>
          </p:spPr>
        </p:sp>
      </p:grpSp>
      <p:grpSp>
        <p:nvGrpSpPr>
          <p:cNvPr name="Group 18" id="18"/>
          <p:cNvGrpSpPr/>
          <p:nvPr/>
        </p:nvGrpSpPr>
        <p:grpSpPr>
          <a:xfrm rot="2700000">
            <a:off x="274320" y="9646920"/>
            <a:ext cx="45720" cy="384048"/>
            <a:chOff x="0" y="0"/>
            <a:chExt cx="60960" cy="512064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60960" cy="512064"/>
            </a:xfrm>
            <a:custGeom>
              <a:avLst/>
              <a:gdLst/>
              <a:ahLst/>
              <a:cxnLst/>
              <a:rect r="r" b="b" t="t" l="l"/>
              <a:pathLst>
                <a:path h="512064" w="60960">
                  <a:moveTo>
                    <a:pt x="0" y="0"/>
                  </a:moveTo>
                  <a:lnTo>
                    <a:pt x="60960" y="0"/>
                  </a:lnTo>
                  <a:lnTo>
                    <a:pt x="60960" y="512064"/>
                  </a:lnTo>
                  <a:lnTo>
                    <a:pt x="0" y="512064"/>
                  </a:lnTo>
                  <a:close/>
                </a:path>
              </a:pathLst>
            </a:custGeom>
            <a:solidFill>
              <a:srgbClr val="265BCD"/>
            </a:solidFill>
          </p:spPr>
        </p:sp>
      </p:grpSp>
      <p:grpSp>
        <p:nvGrpSpPr>
          <p:cNvPr name="Group 20" id="20"/>
          <p:cNvGrpSpPr/>
          <p:nvPr/>
        </p:nvGrpSpPr>
        <p:grpSpPr>
          <a:xfrm rot="2700000">
            <a:off x="658368" y="9646920"/>
            <a:ext cx="45720" cy="384048"/>
            <a:chOff x="0" y="0"/>
            <a:chExt cx="60960" cy="512064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60960" cy="512064"/>
            </a:xfrm>
            <a:custGeom>
              <a:avLst/>
              <a:gdLst/>
              <a:ahLst/>
              <a:cxnLst/>
              <a:rect r="r" b="b" t="t" l="l"/>
              <a:pathLst>
                <a:path h="512064" w="60960">
                  <a:moveTo>
                    <a:pt x="0" y="0"/>
                  </a:moveTo>
                  <a:lnTo>
                    <a:pt x="60960" y="0"/>
                  </a:lnTo>
                  <a:lnTo>
                    <a:pt x="60960" y="512064"/>
                  </a:lnTo>
                  <a:lnTo>
                    <a:pt x="0" y="512064"/>
                  </a:lnTo>
                  <a:close/>
                </a:path>
              </a:pathLst>
            </a:custGeom>
            <a:solidFill>
              <a:srgbClr val="265BCD"/>
            </a:solidFill>
          </p:spPr>
        </p:sp>
      </p:grpSp>
      <p:grpSp>
        <p:nvGrpSpPr>
          <p:cNvPr name="Group 22" id="22"/>
          <p:cNvGrpSpPr/>
          <p:nvPr/>
        </p:nvGrpSpPr>
        <p:grpSpPr>
          <a:xfrm rot="2700000">
            <a:off x="1042416" y="9646920"/>
            <a:ext cx="45720" cy="384048"/>
            <a:chOff x="0" y="0"/>
            <a:chExt cx="60960" cy="512064"/>
          </a:xfrm>
        </p:grpSpPr>
        <p:sp>
          <p:nvSpPr>
            <p:cNvPr name="Freeform 23" id="23"/>
            <p:cNvSpPr/>
            <p:nvPr/>
          </p:nvSpPr>
          <p:spPr>
            <a:xfrm flipH="false" flipV="false" rot="0">
              <a:off x="0" y="0"/>
              <a:ext cx="60960" cy="512064"/>
            </a:xfrm>
            <a:custGeom>
              <a:avLst/>
              <a:gdLst/>
              <a:ahLst/>
              <a:cxnLst/>
              <a:rect r="r" b="b" t="t" l="l"/>
              <a:pathLst>
                <a:path h="512064" w="60960">
                  <a:moveTo>
                    <a:pt x="0" y="0"/>
                  </a:moveTo>
                  <a:lnTo>
                    <a:pt x="60960" y="0"/>
                  </a:lnTo>
                  <a:lnTo>
                    <a:pt x="60960" y="512064"/>
                  </a:lnTo>
                  <a:lnTo>
                    <a:pt x="0" y="512064"/>
                  </a:lnTo>
                  <a:close/>
                </a:path>
              </a:pathLst>
            </a:custGeom>
            <a:solidFill>
              <a:srgbClr val="265BCD"/>
            </a:solidFill>
          </p:spPr>
        </p:sp>
      </p:grpSp>
      <p:grpSp>
        <p:nvGrpSpPr>
          <p:cNvPr name="Group 24" id="24"/>
          <p:cNvGrpSpPr/>
          <p:nvPr/>
        </p:nvGrpSpPr>
        <p:grpSpPr>
          <a:xfrm rot="2700000">
            <a:off x="1426464" y="9646920"/>
            <a:ext cx="45720" cy="384048"/>
            <a:chOff x="0" y="0"/>
            <a:chExt cx="60960" cy="512064"/>
          </a:xfrm>
        </p:grpSpPr>
        <p:sp>
          <p:nvSpPr>
            <p:cNvPr name="Freeform 25" id="25"/>
            <p:cNvSpPr/>
            <p:nvPr/>
          </p:nvSpPr>
          <p:spPr>
            <a:xfrm flipH="false" flipV="false" rot="0">
              <a:off x="0" y="0"/>
              <a:ext cx="60960" cy="512064"/>
            </a:xfrm>
            <a:custGeom>
              <a:avLst/>
              <a:gdLst/>
              <a:ahLst/>
              <a:cxnLst/>
              <a:rect r="r" b="b" t="t" l="l"/>
              <a:pathLst>
                <a:path h="512064" w="60960">
                  <a:moveTo>
                    <a:pt x="0" y="0"/>
                  </a:moveTo>
                  <a:lnTo>
                    <a:pt x="60960" y="0"/>
                  </a:lnTo>
                  <a:lnTo>
                    <a:pt x="60960" y="512064"/>
                  </a:lnTo>
                  <a:lnTo>
                    <a:pt x="0" y="512064"/>
                  </a:lnTo>
                  <a:close/>
                </a:path>
              </a:pathLst>
            </a:custGeom>
            <a:solidFill>
              <a:srgbClr val="265BCD"/>
            </a:solidFill>
          </p:spPr>
        </p:sp>
      </p:grpSp>
      <p:grpSp>
        <p:nvGrpSpPr>
          <p:cNvPr name="Group 26" id="26"/>
          <p:cNvGrpSpPr/>
          <p:nvPr/>
        </p:nvGrpSpPr>
        <p:grpSpPr>
          <a:xfrm rot="2700000">
            <a:off x="1810512" y="9646920"/>
            <a:ext cx="45720" cy="384048"/>
            <a:chOff x="0" y="0"/>
            <a:chExt cx="60960" cy="512064"/>
          </a:xfrm>
        </p:grpSpPr>
        <p:sp>
          <p:nvSpPr>
            <p:cNvPr name="Freeform 27" id="27"/>
            <p:cNvSpPr/>
            <p:nvPr/>
          </p:nvSpPr>
          <p:spPr>
            <a:xfrm flipH="false" flipV="false" rot="0">
              <a:off x="0" y="0"/>
              <a:ext cx="60960" cy="512064"/>
            </a:xfrm>
            <a:custGeom>
              <a:avLst/>
              <a:gdLst/>
              <a:ahLst/>
              <a:cxnLst/>
              <a:rect r="r" b="b" t="t" l="l"/>
              <a:pathLst>
                <a:path h="512064" w="60960">
                  <a:moveTo>
                    <a:pt x="0" y="0"/>
                  </a:moveTo>
                  <a:lnTo>
                    <a:pt x="60960" y="0"/>
                  </a:lnTo>
                  <a:lnTo>
                    <a:pt x="60960" y="512064"/>
                  </a:lnTo>
                  <a:lnTo>
                    <a:pt x="0" y="512064"/>
                  </a:lnTo>
                  <a:close/>
                </a:path>
              </a:pathLst>
            </a:custGeom>
            <a:solidFill>
              <a:srgbClr val="265BCD"/>
            </a:solidFill>
          </p:spPr>
        </p:sp>
      </p:grpSp>
      <p:sp>
        <p:nvSpPr>
          <p:cNvPr name="TextBox 28" id="28"/>
          <p:cNvSpPr txBox="true"/>
          <p:nvPr/>
        </p:nvSpPr>
        <p:spPr>
          <a:xfrm rot="0">
            <a:off x="1005840" y="2751963"/>
            <a:ext cx="16285464" cy="10382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8160"/>
              </a:lnSpc>
            </a:pPr>
            <a:r>
              <a:rPr lang="en-US" sz="6800">
                <a:solidFill>
                  <a:srgbClr val="090E14"/>
                </a:solidFill>
                <a:latin typeface="Archivo Black"/>
                <a:ea typeface="Archivo Black"/>
                <a:cs typeface="Archivo Black"/>
                <a:sym typeface="Archivo Black"/>
              </a:rPr>
              <a:t>THANK YOU</a:t>
            </a:r>
          </a:p>
        </p:txBody>
      </p:sp>
      <p:sp>
        <p:nvSpPr>
          <p:cNvPr name="TextBox 29" id="29"/>
          <p:cNvSpPr txBox="true"/>
          <p:nvPr/>
        </p:nvSpPr>
        <p:spPr>
          <a:xfrm rot="0">
            <a:off x="3675888" y="4672203"/>
            <a:ext cx="10936224" cy="3524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760"/>
              </a:lnSpc>
            </a:pPr>
            <a:r>
              <a:rPr lang="en-US" sz="2300">
                <a:solidFill>
                  <a:srgbClr val="265BCD"/>
                </a:solidFill>
                <a:latin typeface="Archivo Black"/>
                <a:ea typeface="Archivo Black"/>
                <a:cs typeface="Archivo Black"/>
                <a:sym typeface="Archivo Black"/>
              </a:rPr>
              <a:t>University Grade and Attendance Tracker</a:t>
            </a:r>
          </a:p>
        </p:txBody>
      </p:sp>
      <p:sp>
        <p:nvSpPr>
          <p:cNvPr name="TextBox 30" id="30"/>
          <p:cNvSpPr txBox="true"/>
          <p:nvPr/>
        </p:nvSpPr>
        <p:spPr>
          <a:xfrm rot="0">
            <a:off x="3675888" y="5403723"/>
            <a:ext cx="10936224" cy="2762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160"/>
              </a:lnSpc>
            </a:pPr>
            <a:r>
              <a:rPr lang="en-US" sz="1800">
                <a:solidFill>
                  <a:srgbClr val="090E14"/>
                </a:solidFill>
                <a:latin typeface="Archivo Black"/>
                <a:ea typeface="Archivo Black"/>
                <a:cs typeface="Archivo Black"/>
                <a:sym typeface="Archivo Black"/>
              </a:rPr>
              <a:t>Faizan Shaik  •  Swadhin Behera</a:t>
            </a:r>
          </a:p>
        </p:txBody>
      </p:sp>
      <p:sp>
        <p:nvSpPr>
          <p:cNvPr name="TextBox 31" id="31"/>
          <p:cNvSpPr txBox="true"/>
          <p:nvPr/>
        </p:nvSpPr>
        <p:spPr>
          <a:xfrm rot="0">
            <a:off x="3675888" y="5879211"/>
            <a:ext cx="10936224" cy="2381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800"/>
              </a:lnSpc>
            </a:pPr>
            <a:r>
              <a:rPr lang="en-US" sz="1500">
                <a:solidFill>
                  <a:srgbClr val="585F6A"/>
                </a:solidFill>
                <a:latin typeface="Archivo Black"/>
                <a:ea typeface="Archivo Black"/>
                <a:cs typeface="Archivo Black"/>
                <a:sym typeface="Archivo Black"/>
              </a:rPr>
              <a:t>2620040127  •  2620040149</a:t>
            </a:r>
          </a:p>
        </p:txBody>
      </p:sp>
      <p:sp>
        <p:nvSpPr>
          <p:cNvPr name="TextBox 32" id="32"/>
          <p:cNvSpPr txBox="true"/>
          <p:nvPr/>
        </p:nvSpPr>
        <p:spPr>
          <a:xfrm rot="0">
            <a:off x="5504688" y="6638163"/>
            <a:ext cx="7278624" cy="2381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800"/>
              </a:lnSpc>
            </a:pPr>
            <a:r>
              <a:rPr lang="en-US" sz="1500">
                <a:solidFill>
                  <a:srgbClr val="585F6A"/>
                </a:solidFill>
                <a:latin typeface="Archivo Black"/>
                <a:ea typeface="Archivo Black"/>
                <a:cs typeface="Archivo Black"/>
                <a:sym typeface="Archivo Black"/>
              </a:rPr>
              <a:t>Faculty Guide: Gopi Krishna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DAHWvf7VJs4</dc:identifier>
  <dcterms:modified xsi:type="dcterms:W3CDTF">2011-08-01T06:04:30Z</dcterms:modified>
  <cp:revision>1</cp:revision>
  <dc:title>UGAT_Revised.pptx</dc:title>
</cp:coreProperties>
</file>