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5" r:id="rId14"/>
  </p:sldIdLst>
  <p:sldSz cx="12192000" cy="6858000"/>
  <p:notesSz cx="6858000" cy="12192000"/>
  <p:embeddedFontLst>
    <p:embeddedFont>
      <p:font typeface="Geist" panose="020B0604020202020204" charset="0"/>
      <p:regular r:id="rId16"/>
    </p:embeddedFont>
    <p:embeddedFont>
      <p:font typeface="Geist Bold" panose="020B0604020202020204" charset="0"/>
      <p:regular r:id="rId17"/>
    </p:embeddedFont>
    <p:embeddedFont>
      <p:font typeface="Inconsolata" pitchFamily="1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86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8812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A50B0-05E6-1B8F-1B5C-95935D107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24A11-2138-406D-2FBE-C4B62EA8C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6B7D1B-3B0F-2A62-5FDF-B453DF2D9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10EB1-D8D0-1C5D-8CDF-F164195142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0388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FD381-E702-46E3-CAB5-EBA7A0109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CB1BC9-253E-239A-3793-00EE19C8C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032211-1EEB-926C-6236-C39C96DB0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B64AD-833E-CD5D-AAD0-E51A5C089A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2360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0BA11-9903-6FAE-33C2-1695B88B4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A1CD8D-A66E-34C5-4536-BED74CE47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FFB5C4-C5BF-E7C4-BF70-E6821B76F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2AD5B-0131-D9B4-F60C-56F3F85DD6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501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9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99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3038" y="1649591"/>
            <a:ext cx="11745420" cy="61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3700" b="1" kern="10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University Grade and Attendance Tracker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51890" y="2620546"/>
            <a:ext cx="12087915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Java Project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118842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EBEDF0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3574157"/>
            <a:ext cx="3277609" cy="1129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Team Members:</a:t>
            </a:r>
            <a:endParaRPr lang="en-US" sz="1450" dirty="0"/>
          </a:p>
          <a:p>
            <a:pPr marL="0" indent="0" algn="l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Faizan Shaik – 2620040127</a:t>
            </a:r>
            <a:endParaRPr lang="en-US" sz="14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Swadhin behera – 2620040149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406591" y="3574157"/>
            <a:ext cx="3277609" cy="68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Class:</a:t>
            </a:r>
            <a:endParaRPr lang="en-US" sz="14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Section 8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151906" y="3574157"/>
            <a:ext cx="3390914" cy="68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Faculty:</a:t>
            </a:r>
            <a:endParaRPr lang="en-US" sz="14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 Gopi Krishna</a:t>
            </a:r>
            <a:endParaRPr lang="en-US" sz="14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E58025-A4FD-9AB5-86F6-87CB2381583D}"/>
              </a:ext>
            </a:extLst>
          </p:cNvPr>
          <p:cNvSpPr/>
          <p:nvPr/>
        </p:nvSpPr>
        <p:spPr>
          <a:xfrm>
            <a:off x="10733036" y="6245564"/>
            <a:ext cx="1406769" cy="59787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6142"/>
            <a:ext cx="1800874" cy="268387"/>
          </a:xfrm>
          <a:prstGeom prst="roundRect">
            <a:avLst>
              <a:gd name="adj" fmla="val 26574"/>
            </a:avLst>
          </a:prstGeom>
          <a:solidFill>
            <a:srgbClr val="00194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38" y="629642"/>
            <a:ext cx="141284" cy="1412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9463" y="633423"/>
            <a:ext cx="2539044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61475" y="922615"/>
            <a:ext cx="10811597" cy="569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50" b="1" kern="100" spc="-7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Project Overview</a:t>
            </a:r>
            <a:endParaRPr lang="en-US" sz="3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1908969"/>
            <a:ext cx="441810" cy="4418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475" y="2563495"/>
            <a:ext cx="516162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10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Input Collection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661475" y="3017905"/>
            <a:ext cx="5218776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Collects student name, subject count, marks, and attendance in a structured Java workflow.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785295"/>
            <a:ext cx="441810" cy="44182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439821"/>
            <a:ext cx="516162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10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Grade &amp; Attendance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661475" y="4894231"/>
            <a:ext cx="5161627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Processes marks and attendance to assign a grade and check exam eligibility through </a:t>
            </a: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Average → Grade → Eligibility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stages.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7794" y="1908969"/>
            <a:ext cx="5218776" cy="12887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89647" y="2110859"/>
            <a:ext cx="4693922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10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CO1 – CO6 Coverage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6589647" y="2565269"/>
            <a:ext cx="4693922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Demonstrates six Java course outcomes — from data types to streams — in one integrated tracker.</a:t>
            </a:r>
            <a:endParaRPr lang="en-US" sz="13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7794" y="4817170"/>
            <a:ext cx="5218776" cy="128875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589647" y="5019060"/>
            <a:ext cx="4693922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10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Academic Workflow</a:t>
            </a:r>
            <a:endParaRPr lang="en-US" sz="1700" dirty="0"/>
          </a:p>
        </p:txBody>
      </p:sp>
      <p:sp>
        <p:nvSpPr>
          <p:cNvPr id="17" name="Text 10"/>
          <p:cNvSpPr/>
          <p:nvPr/>
        </p:nvSpPr>
        <p:spPr>
          <a:xfrm>
            <a:off x="6589647" y="5473470"/>
            <a:ext cx="4751070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Capture inputs, calculate totals and averages, assign grades, check eligibility, and report results.</a:t>
            </a:r>
            <a:endParaRPr lang="en-US" sz="13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B8BC03-B988-0E94-1649-F725DCFE15C5}"/>
              </a:ext>
            </a:extLst>
          </p:cNvPr>
          <p:cNvSpPr/>
          <p:nvPr/>
        </p:nvSpPr>
        <p:spPr>
          <a:xfrm>
            <a:off x="10733036" y="6245564"/>
            <a:ext cx="1406769" cy="59787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7964"/>
            <a:ext cx="1349540" cy="243880"/>
          </a:xfrm>
          <a:prstGeom prst="roundRect">
            <a:avLst>
              <a:gd name="adj" fmla="val 26557"/>
            </a:avLst>
          </a:prstGeom>
          <a:solidFill>
            <a:srgbClr val="00194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715" y="595709"/>
            <a:ext cx="128485" cy="128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0393" y="597834"/>
            <a:ext cx="2126304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FINAL PROJECT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861675"/>
            <a:ext cx="10811597" cy="520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150" b="1" kern="100" spc="-6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Academic Status Workflow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661475" y="1715214"/>
            <a:ext cx="5227804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100" spc="-3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Tracker Workflow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699" y="2124571"/>
            <a:ext cx="240996" cy="2410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3551" y="2122011"/>
            <a:ext cx="4705728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10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Accept Inputs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183551" y="2517315"/>
            <a:ext cx="49092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Enter student name, subject count, marks, and attendance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699" y="2988270"/>
            <a:ext cx="240996" cy="2410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3551" y="2985710"/>
            <a:ext cx="4705728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10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Calculate Marks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183551" y="3381014"/>
            <a:ext cx="470572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Compute total and average marks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699" y="3851970"/>
            <a:ext cx="240996" cy="24100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3551" y="3849410"/>
            <a:ext cx="4705728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10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Assign Grade &amp; Eligibility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1183551" y="4244813"/>
            <a:ext cx="470572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A–D grade; attendance ≥ 75% → Eligible</a:t>
            </a:r>
            <a:endParaRPr lang="en-US" sz="12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699" y="4715669"/>
            <a:ext cx="240996" cy="24100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83551" y="4713109"/>
            <a:ext cx="4705728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10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Report Status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1183551" y="5108512"/>
            <a:ext cx="470572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Present the final student academic report</a:t>
            </a:r>
            <a:endParaRPr lang="en-US" sz="12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699" y="5579467"/>
            <a:ext cx="240996" cy="24100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83551" y="5576907"/>
            <a:ext cx="4705728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10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Final Output</a:t>
            </a:r>
            <a:endParaRPr lang="en-US" sz="1550" dirty="0"/>
          </a:p>
        </p:txBody>
      </p:sp>
      <p:sp>
        <p:nvSpPr>
          <p:cNvPr id="21" name="Text 13"/>
          <p:cNvSpPr/>
          <p:nvPr/>
        </p:nvSpPr>
        <p:spPr>
          <a:xfrm>
            <a:off x="1183551" y="5972211"/>
            <a:ext cx="4705728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Show the final academic status: </a:t>
            </a:r>
            <a:r>
              <a:rPr lang="en-US" sz="1250" dirty="0">
                <a:solidFill>
                  <a:srgbClr val="EBEDF0"/>
                </a:solidFill>
                <a:highlight>
                  <a:srgbClr val="0D0D0D"/>
                </a:highlight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Eligible or Not Eligible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5734998" y="2675949"/>
            <a:ext cx="6353711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100" spc="-3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Processing Flow</a:t>
            </a:r>
            <a:endParaRPr lang="en-US" sz="15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5309" y="3170535"/>
            <a:ext cx="4740752" cy="193992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346865" y="4406225"/>
            <a:ext cx="732117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800" b="1" kern="100" spc="-1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Marks Calculation</a:t>
            </a:r>
            <a:endParaRPr lang="en-US" sz="800" dirty="0"/>
          </a:p>
        </p:txBody>
      </p:sp>
      <p:sp>
        <p:nvSpPr>
          <p:cNvPr id="25" name="Text 16"/>
          <p:cNvSpPr/>
          <p:nvPr/>
        </p:nvSpPr>
        <p:spPr>
          <a:xfrm>
            <a:off x="7346865" y="4721304"/>
            <a:ext cx="732117" cy="189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Total and average marks</a:t>
            </a:r>
            <a:endParaRPr lang="en-US" sz="650" dirty="0"/>
          </a:p>
        </p:txBody>
      </p:sp>
      <p:sp>
        <p:nvSpPr>
          <p:cNvPr id="26" name="Text 17"/>
          <p:cNvSpPr/>
          <p:nvPr/>
        </p:nvSpPr>
        <p:spPr>
          <a:xfrm>
            <a:off x="8876780" y="4643556"/>
            <a:ext cx="1432484" cy="13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800" b="1" kern="100" spc="-1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Grade Assignment</a:t>
            </a:r>
            <a:endParaRPr lang="en-US" sz="800" dirty="0"/>
          </a:p>
        </p:txBody>
      </p:sp>
      <p:sp>
        <p:nvSpPr>
          <p:cNvPr id="27" name="Text 18"/>
          <p:cNvSpPr/>
          <p:nvPr/>
        </p:nvSpPr>
        <p:spPr>
          <a:xfrm>
            <a:off x="9226914" y="4820027"/>
            <a:ext cx="732117" cy="189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Map average to grade A–D</a:t>
            </a:r>
            <a:endParaRPr lang="en-US" sz="650" dirty="0"/>
          </a:p>
        </p:txBody>
      </p:sp>
      <p:sp>
        <p:nvSpPr>
          <p:cNvPr id="28" name="Text 19"/>
          <p:cNvSpPr/>
          <p:nvPr/>
        </p:nvSpPr>
        <p:spPr>
          <a:xfrm>
            <a:off x="6409073" y="3272750"/>
            <a:ext cx="732117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800" b="1" kern="100" spc="-1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Input Collection</a:t>
            </a:r>
            <a:endParaRPr lang="en-US" sz="800" dirty="0"/>
          </a:p>
        </p:txBody>
      </p:sp>
      <p:sp>
        <p:nvSpPr>
          <p:cNvPr id="29" name="Text 20"/>
          <p:cNvSpPr/>
          <p:nvPr/>
        </p:nvSpPr>
        <p:spPr>
          <a:xfrm>
            <a:off x="6409073" y="3587829"/>
            <a:ext cx="732117" cy="189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Read student and subject data</a:t>
            </a:r>
            <a:endParaRPr lang="en-US" sz="650" dirty="0"/>
          </a:p>
        </p:txBody>
      </p:sp>
      <p:sp>
        <p:nvSpPr>
          <p:cNvPr id="30" name="Text 21"/>
          <p:cNvSpPr/>
          <p:nvPr/>
        </p:nvSpPr>
        <p:spPr>
          <a:xfrm>
            <a:off x="9811001" y="3272750"/>
            <a:ext cx="1383472" cy="13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800" b="1" kern="100" spc="-1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Academic Status</a:t>
            </a:r>
            <a:endParaRPr lang="en-US" sz="800" dirty="0"/>
          </a:p>
        </p:txBody>
      </p:sp>
      <p:sp>
        <p:nvSpPr>
          <p:cNvPr id="31" name="Text 22"/>
          <p:cNvSpPr/>
          <p:nvPr/>
        </p:nvSpPr>
        <p:spPr>
          <a:xfrm>
            <a:off x="10136628" y="3449022"/>
            <a:ext cx="732117" cy="189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Report grade and eligibility</a:t>
            </a:r>
            <a:endParaRPr lang="en-US" sz="650" dirty="0"/>
          </a:p>
        </p:txBody>
      </p:sp>
      <p:sp>
        <p:nvSpPr>
          <p:cNvPr id="32" name="Text 23"/>
          <p:cNvSpPr/>
          <p:nvPr/>
        </p:nvSpPr>
        <p:spPr>
          <a:xfrm>
            <a:off x="8298548" y="3272750"/>
            <a:ext cx="732117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800" b="1" kern="100" spc="-1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Attendance Check</a:t>
            </a:r>
            <a:endParaRPr lang="en-US" sz="800" dirty="0"/>
          </a:p>
        </p:txBody>
      </p:sp>
      <p:sp>
        <p:nvSpPr>
          <p:cNvPr id="33" name="Text 24"/>
          <p:cNvSpPr/>
          <p:nvPr/>
        </p:nvSpPr>
        <p:spPr>
          <a:xfrm>
            <a:off x="8298548" y="3587829"/>
            <a:ext cx="732117" cy="189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Apply the 75% attendance rule</a:t>
            </a:r>
            <a:endParaRPr lang="en-US" sz="65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E2AD5D6-7B71-ABA3-4CE4-032FE98AF629}"/>
              </a:ext>
            </a:extLst>
          </p:cNvPr>
          <p:cNvSpPr/>
          <p:nvPr/>
        </p:nvSpPr>
        <p:spPr>
          <a:xfrm>
            <a:off x="10733036" y="6245564"/>
            <a:ext cx="1406769" cy="59787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13271"/>
            <a:ext cx="502729" cy="287139"/>
          </a:xfrm>
          <a:prstGeom prst="roundRect">
            <a:avLst>
              <a:gd name="adj" fmla="val 26537"/>
            </a:avLst>
          </a:prstGeom>
          <a:noFill/>
          <a:ln w="12700">
            <a:solidFill>
              <a:srgbClr val="629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683498"/>
            <a:ext cx="143794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04669"/>
            <a:ext cx="10811597" cy="61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10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 Types and Variables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881069"/>
            <a:ext cx="11530220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 Java data types and variables store every student record: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2544663"/>
            <a:ext cx="2224032" cy="1649214"/>
          </a:xfrm>
          <a:prstGeom prst="roundRect">
            <a:avLst>
              <a:gd name="adj" fmla="val 5775"/>
            </a:avLst>
          </a:prstGeom>
          <a:solidFill>
            <a:srgbClr val="00000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9531" y="2762190"/>
            <a:ext cx="1750869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100" spc="-37" dirty="0">
                <a:solidFill>
                  <a:srgbClr val="1F2A5D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69531" y="3250883"/>
            <a:ext cx="1808018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Subject count and marks — e.g., 5, 86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074514" y="2544663"/>
            <a:ext cx="2224032" cy="1649214"/>
          </a:xfrm>
          <a:prstGeom prst="roundRect">
            <a:avLst>
              <a:gd name="adj" fmla="val 5775"/>
            </a:avLst>
          </a:prstGeom>
          <a:solidFill>
            <a:srgbClr val="00000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82570" y="2762190"/>
            <a:ext cx="1750869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100" spc="-37" dirty="0">
                <a:solidFill>
                  <a:srgbClr val="1F2A5D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String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3282570" y="3250883"/>
            <a:ext cx="1750869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Average marks and attendance percentage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382988"/>
            <a:ext cx="2224032" cy="1649214"/>
          </a:xfrm>
          <a:prstGeom prst="roundRect">
            <a:avLst>
              <a:gd name="adj" fmla="val 5775"/>
            </a:avLst>
          </a:prstGeom>
          <a:solidFill>
            <a:srgbClr val="00000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9531" y="4600416"/>
            <a:ext cx="1750869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100" spc="-37" dirty="0">
                <a:solidFill>
                  <a:srgbClr val="1F2A5D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String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69531" y="5089108"/>
            <a:ext cx="1750869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Student name, grade, eligibility status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3074514" y="4382988"/>
            <a:ext cx="2224032" cy="1649214"/>
          </a:xfrm>
          <a:prstGeom prst="roundRect">
            <a:avLst>
              <a:gd name="adj" fmla="val 5775"/>
            </a:avLst>
          </a:prstGeom>
          <a:solidFill>
            <a:srgbClr val="00000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82570" y="4600416"/>
            <a:ext cx="1750869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100" spc="-37" dirty="0">
                <a:solidFill>
                  <a:srgbClr val="1F2A5D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String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3282570" y="5089108"/>
            <a:ext cx="1750869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Named variables keep the tracker readable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766251" y="2536269"/>
            <a:ext cx="5713071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10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Code Snippet</a:t>
            </a:r>
            <a:endParaRPr lang="en-US" sz="1850" dirty="0"/>
          </a:p>
        </p:txBody>
      </p:sp>
      <p:sp>
        <p:nvSpPr>
          <p:cNvPr id="19" name="Shape 17"/>
          <p:cNvSpPr/>
          <p:nvPr/>
        </p:nvSpPr>
        <p:spPr>
          <a:xfrm>
            <a:off x="5766251" y="3040856"/>
            <a:ext cx="5770220" cy="1587698"/>
          </a:xfrm>
          <a:prstGeom prst="roundRect">
            <a:avLst>
              <a:gd name="adj" fmla="val 5999"/>
            </a:avLst>
          </a:prstGeom>
          <a:solidFill>
            <a:srgbClr val="0D0D0D"/>
          </a:solidFill>
          <a:ln/>
        </p:spPr>
      </p:sp>
      <p:sp>
        <p:nvSpPr>
          <p:cNvPr id="20" name="Text 18"/>
          <p:cNvSpPr/>
          <p:nvPr/>
        </p:nvSpPr>
        <p:spPr>
          <a:xfrm>
            <a:off x="5993059" y="3241973"/>
            <a:ext cx="5316504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 subjects = 5;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double attendance = 82.5;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String grade = "A";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String studentName = "Anita";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766251" y="4841180"/>
            <a:ext cx="5770220" cy="925909"/>
          </a:xfrm>
          <a:prstGeom prst="roundRect">
            <a:avLst>
              <a:gd name="adj" fmla="val 10287"/>
            </a:avLst>
          </a:prstGeom>
          <a:solidFill>
            <a:srgbClr val="022349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258" y="5096173"/>
            <a:ext cx="236135" cy="188913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380400" y="5065792"/>
            <a:ext cx="4909816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Variables act as named boxes that hold student data throughout the program's lifetime.</a:t>
            </a:r>
            <a:endParaRPr lang="en-US" sz="14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E0B7AB-5B76-742B-0CD3-4EEE8867A157}"/>
              </a:ext>
            </a:extLst>
          </p:cNvPr>
          <p:cNvSpPr/>
          <p:nvPr/>
        </p:nvSpPr>
        <p:spPr>
          <a:xfrm>
            <a:off x="10733036" y="6245564"/>
            <a:ext cx="1406769" cy="59787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88095"/>
            <a:ext cx="536760" cy="287139"/>
          </a:xfrm>
          <a:prstGeom prst="roundRect">
            <a:avLst>
              <a:gd name="adj" fmla="val 26537"/>
            </a:avLst>
          </a:prstGeom>
          <a:noFill/>
          <a:ln w="12700">
            <a:solidFill>
              <a:srgbClr val="629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858520"/>
            <a:ext cx="147197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79493"/>
            <a:ext cx="10811597" cy="61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10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Selection and Iteration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252801"/>
            <a:ext cx="5713071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10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Code Snippet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61475" y="2757388"/>
            <a:ext cx="5770220" cy="3099792"/>
          </a:xfrm>
          <a:prstGeom prst="roundRect">
            <a:avLst>
              <a:gd name="adj" fmla="val 3073"/>
            </a:avLst>
          </a:prstGeom>
          <a:solidFill>
            <a:srgbClr val="0D0D0D"/>
          </a:solidFill>
          <a:ln/>
        </p:spPr>
      </p:sp>
      <p:sp>
        <p:nvSpPr>
          <p:cNvPr id="7" name="Text 5"/>
          <p:cNvSpPr/>
          <p:nvPr/>
        </p:nvSpPr>
        <p:spPr>
          <a:xfrm>
            <a:off x="888283" y="2958703"/>
            <a:ext cx="5316504" cy="2651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if (attendance &gt;= 75) {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eligible = true;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} else {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eligible = false;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}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 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for (int i = 0; i &lt; subjects; i++) {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total += marks[i];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}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99202" y="2252801"/>
            <a:ext cx="4702256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10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How it works in the Tracker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6899202" y="2757388"/>
            <a:ext cx="425142" cy="425252"/>
          </a:xfrm>
          <a:prstGeom prst="roundRect">
            <a:avLst>
              <a:gd name="adj" fmla="val 22404"/>
            </a:avLst>
          </a:prstGeom>
          <a:solidFill>
            <a:srgbClr val="00000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70042" y="2797294"/>
            <a:ext cx="283362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100" spc="-4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13450" y="2825790"/>
            <a:ext cx="3965773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10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if-else Checks Attendance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513450" y="3314581"/>
            <a:ext cx="3965773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Checks whether a courier is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at least 75%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eligible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or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not eligible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reports exam eligibility.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99202" y="4427538"/>
            <a:ext cx="425142" cy="425252"/>
          </a:xfrm>
          <a:prstGeom prst="roundRect">
            <a:avLst>
              <a:gd name="adj" fmla="val 22404"/>
            </a:avLst>
          </a:prstGeom>
          <a:solidFill>
            <a:srgbClr val="00000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70042" y="4467443"/>
            <a:ext cx="283362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kern="100" spc="-4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513450" y="4495939"/>
            <a:ext cx="3965773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10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for Loop Totals Marks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7513450" y="4984829"/>
            <a:ext cx="3965773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Reads each subject mark and adds it to the total.</a:t>
            </a:r>
            <a:endParaRPr lang="en-US" sz="14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FC94BC-36BC-0410-6E92-88481E4DB7E7}"/>
              </a:ext>
            </a:extLst>
          </p:cNvPr>
          <p:cNvSpPr/>
          <p:nvPr/>
        </p:nvSpPr>
        <p:spPr>
          <a:xfrm>
            <a:off x="10733036" y="6245564"/>
            <a:ext cx="1406769" cy="59787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3584"/>
            <a:ext cx="449549" cy="240209"/>
          </a:xfrm>
          <a:prstGeom prst="roundRect">
            <a:avLst>
              <a:gd name="adj" fmla="val 26519"/>
            </a:avLst>
          </a:prstGeom>
          <a:noFill/>
          <a:ln w="12700">
            <a:solidFill>
              <a:srgbClr val="629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6226" y="635312"/>
            <a:ext cx="1421769" cy="138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95985"/>
            <a:ext cx="10811597" cy="511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100" b="1" kern="100" spc="-6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Methods and Arrays</a:t>
            </a:r>
            <a:endParaRPr lang="en-US" sz="3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27994"/>
            <a:ext cx="5241496" cy="13809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63610" y="1827094"/>
            <a:ext cx="237226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kern="10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38675" y="2361228"/>
            <a:ext cx="5439433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10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readMarks()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38675" y="2748254"/>
            <a:ext cx="6026595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Collects subject marks into an array.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241377"/>
            <a:ext cx="5241496" cy="13809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163610" y="3340279"/>
            <a:ext cx="237226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kern="10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838675" y="3874611"/>
            <a:ext cx="5439433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10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calculateAverage()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838675" y="4261638"/>
            <a:ext cx="5944840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Returns total divided by subject count.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754563"/>
            <a:ext cx="5241496" cy="13809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163610" y="4853563"/>
            <a:ext cx="237226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kern="10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838675" y="5387896"/>
            <a:ext cx="5439433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10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Arrays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838675" y="5774922"/>
            <a:ext cx="5813974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Converts the average into grade A, B, C, or D.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295074" y="1724442"/>
            <a:ext cx="5793932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100" spc="-3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Code Snippet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6295074" y="2117328"/>
            <a:ext cx="5241496" cy="2846387"/>
          </a:xfrm>
          <a:prstGeom prst="roundRect">
            <a:avLst>
              <a:gd name="adj" fmla="val 2800"/>
            </a:avLst>
          </a:prstGeom>
          <a:solidFill>
            <a:srgbClr val="0D0D0D"/>
          </a:solidFill>
          <a:ln/>
        </p:spPr>
      </p:sp>
      <p:sp>
        <p:nvSpPr>
          <p:cNvPr id="19" name="Text 14"/>
          <p:cNvSpPr/>
          <p:nvPr/>
        </p:nvSpPr>
        <p:spPr>
          <a:xfrm>
            <a:off x="6484676" y="2285702"/>
            <a:ext cx="4861994" cy="2437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int[] marks = new int[subjects];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double average = calculateAverage(marks);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 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String assignGrade(double average) {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if (average &gt;= 75) return "A";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return "B";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}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// Arrays store marks before processing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int[] marks = new int[subjects];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}</a:t>
            </a:r>
            <a:endParaRPr lang="en-US" sz="12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4C3DDA-23CA-5C9F-133F-8F9A31552054}"/>
              </a:ext>
            </a:extLst>
          </p:cNvPr>
          <p:cNvSpPr/>
          <p:nvPr/>
        </p:nvSpPr>
        <p:spPr>
          <a:xfrm>
            <a:off x="10733036" y="6245564"/>
            <a:ext cx="1406769" cy="59787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5120"/>
            <a:ext cx="349340" cy="186630"/>
          </a:xfrm>
          <a:prstGeom prst="roundRect">
            <a:avLst>
              <a:gd name="adj" fmla="val 26538"/>
            </a:avLst>
          </a:prstGeom>
          <a:noFill/>
          <a:ln w="6350">
            <a:solidFill>
              <a:srgbClr val="629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4994" y="693325"/>
            <a:ext cx="1364025" cy="109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885289"/>
            <a:ext cx="10811597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kern="100" spc="-4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Objects, Classes, Inheritance, Interfaces &amp; Exceptions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475" y="1469311"/>
            <a:ext cx="583699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100" spc="-2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Class Structure &amp; Code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1475" y="1751806"/>
            <a:ext cx="5284556" cy="4371280"/>
          </a:xfrm>
          <a:prstGeom prst="roundRect">
            <a:avLst>
              <a:gd name="adj" fmla="val 1419"/>
            </a:avLst>
          </a:prstGeom>
          <a:solidFill>
            <a:srgbClr val="0D0D0D"/>
          </a:solidFill>
          <a:ln/>
        </p:spPr>
      </p:sp>
      <p:sp>
        <p:nvSpPr>
          <p:cNvPr id="7" name="Text 5"/>
          <p:cNvSpPr/>
          <p:nvPr/>
        </p:nvSpPr>
        <p:spPr>
          <a:xfrm>
            <a:off x="808811" y="1882577"/>
            <a:ext cx="4989785" cy="405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class Student {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String name;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int[] marks;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double attendance;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String grade;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}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class HonoursStudent extends Student {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// Reusable student specialization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}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interface Reportable {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void generateReport();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}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 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try {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if (attendance &lt; 0 || attendance &gt; 100)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  throw new Exception("Invalid attendance");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} catch (Exception e) {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System.out.println(e.getMessage());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}</a:t>
            </a:r>
            <a:endParaRPr lang="en-US" sz="9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014" y="1472406"/>
            <a:ext cx="307074" cy="3070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52014" y="1882160"/>
            <a:ext cx="583699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10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Class &amp; Object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52014" y="2169291"/>
            <a:ext cx="5939681" cy="12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highlight>
                  <a:srgbClr val="0D0D0D"/>
                </a:highlight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Student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is the blueprint; each record added is an </a:t>
            </a: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object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an instance with its own data.</a:t>
            </a:r>
            <a:endParaRPr lang="en-US" sz="9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014" y="2456359"/>
            <a:ext cx="307074" cy="3070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52014" y="2866112"/>
            <a:ext cx="583699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10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Inheritance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252014" y="3153243"/>
            <a:ext cx="5939681" cy="12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highlight>
                  <a:srgbClr val="0D0D0D"/>
                </a:highlight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HonoursStudent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extends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950" dirty="0">
                <a:solidFill>
                  <a:srgbClr val="EBEDF0"/>
                </a:solidFill>
                <a:highlight>
                  <a:srgbClr val="0D0D0D"/>
                </a:highlight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Student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 inherit all base fields with extra speed features.</a:t>
            </a:r>
            <a:endParaRPr lang="en-US" sz="9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2014" y="3440410"/>
            <a:ext cx="307074" cy="30708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52014" y="3850164"/>
            <a:ext cx="583699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10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Exception Handling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252014" y="4137295"/>
            <a:ext cx="5836992" cy="12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highlight>
                  <a:srgbClr val="0D0D0D"/>
                </a:highlight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try-catch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catches invalid subject counts, marks, or attendance values.</a:t>
            </a:r>
            <a:endParaRPr lang="en-US" sz="9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739431-5B11-AECE-A5ED-E85EDE9036FA}"/>
              </a:ext>
            </a:extLst>
          </p:cNvPr>
          <p:cNvSpPr/>
          <p:nvPr/>
        </p:nvSpPr>
        <p:spPr>
          <a:xfrm>
            <a:off x="10733036" y="6245564"/>
            <a:ext cx="1406769" cy="59787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36984"/>
            <a:ext cx="539340" cy="287139"/>
          </a:xfrm>
          <a:prstGeom prst="roundRect">
            <a:avLst>
              <a:gd name="adj" fmla="val 26537"/>
            </a:avLst>
          </a:prstGeom>
          <a:noFill/>
          <a:ln w="12700">
            <a:solidFill>
              <a:srgbClr val="629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707311"/>
            <a:ext cx="147455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28383"/>
            <a:ext cx="11472972" cy="61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10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Strings, Library Files, and Data Engineering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101691"/>
            <a:ext cx="5713071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10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Code Snippet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61475" y="2606278"/>
            <a:ext cx="5770220" cy="3402310"/>
          </a:xfrm>
          <a:prstGeom prst="roundRect">
            <a:avLst>
              <a:gd name="adj" fmla="val 2799"/>
            </a:avLst>
          </a:prstGeom>
          <a:solidFill>
            <a:srgbClr val="0D0D0D"/>
          </a:solidFill>
          <a:ln/>
        </p:spPr>
      </p:sp>
      <p:sp>
        <p:nvSpPr>
          <p:cNvPr id="7" name="Text 5"/>
          <p:cNvSpPr/>
          <p:nvPr/>
        </p:nvSpPr>
        <p:spPr>
          <a:xfrm>
            <a:off x="888283" y="2807395"/>
            <a:ext cx="5316504" cy="2945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Scanner sc = new Scanner(System.in);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String studentName = sc.nextLine();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 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FileWriter fw = new FileWriter("student-reports.txt");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fw.write(studentName + "," + grade);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fw.close();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 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if (studentName.contains("A")) {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System.out.println("Formatted student report");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}</a:t>
            </a:r>
            <a:endParaRPr lang="en-US" sz="14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3802" y="2084685"/>
            <a:ext cx="2225818" cy="18493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8908" y="2119451"/>
            <a:ext cx="1903464" cy="610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10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String Methods Used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7138908" y="2915424"/>
            <a:ext cx="1960613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highlight>
                  <a:srgbClr val="0D0D0D"/>
                </a:highlight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equals()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· </a:t>
            </a:r>
            <a:r>
              <a:rPr lang="en-US" sz="1450" dirty="0">
                <a:solidFill>
                  <a:srgbClr val="EBEDF0"/>
                </a:solidFill>
                <a:highlight>
                  <a:srgbClr val="0D0D0D"/>
                </a:highlight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contains()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· </a:t>
            </a:r>
            <a:r>
              <a:rPr lang="en-US" sz="1450" dirty="0">
                <a:solidFill>
                  <a:srgbClr val="EBEDF0"/>
                </a:solidFill>
                <a:highlight>
                  <a:srgbClr val="0D0D0D"/>
                </a:highlight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toUpperCase()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used to format and compare student report values.</a:t>
            </a:r>
            <a:endParaRPr lang="en-US" sz="14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0455" y="2084685"/>
            <a:ext cx="2225818" cy="18493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575759" y="2119451"/>
            <a:ext cx="1967558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10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Scanner Input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9575759" y="2608342"/>
            <a:ext cx="1903464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Reads student name, subject count, marks, and attendance at runtime.</a:t>
            </a:r>
            <a:endParaRPr lang="en-US" sz="14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802" y="4261346"/>
            <a:ext cx="4662669" cy="10445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38908" y="4296112"/>
            <a:ext cx="4340315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10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File Handling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7138908" y="4784804"/>
            <a:ext cx="4340315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highlight>
                  <a:srgbClr val="0D0D0D"/>
                </a:highlight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FileWriter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saves student reports to </a:t>
            </a:r>
            <a:r>
              <a:rPr lang="en-US" sz="1450" dirty="0">
                <a:solidFill>
                  <a:srgbClr val="EBEDF0"/>
                </a:solidFill>
                <a:highlight>
                  <a:srgbClr val="0D0D0D"/>
                </a:highlight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student-reports.txt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for persistent storage and retrieval.</a:t>
            </a:r>
            <a:endParaRPr lang="en-US" sz="14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7DAE77-296B-ED02-07FE-5AA9450C88D7}"/>
              </a:ext>
            </a:extLst>
          </p:cNvPr>
          <p:cNvSpPr/>
          <p:nvPr/>
        </p:nvSpPr>
        <p:spPr>
          <a:xfrm>
            <a:off x="10733036" y="6245564"/>
            <a:ext cx="1406769" cy="59787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5935"/>
            <a:ext cx="507392" cy="272752"/>
          </a:xfrm>
          <a:prstGeom prst="roundRect">
            <a:avLst>
              <a:gd name="adj" fmla="val 26540"/>
            </a:avLst>
          </a:prstGeom>
          <a:noFill/>
          <a:ln w="12700">
            <a:solidFill>
              <a:srgbClr val="629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9025" y="725498"/>
            <a:ext cx="1454213" cy="16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022449"/>
            <a:ext cx="11472972" cy="577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500" b="1" kern="100" spc="-7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Collections, Streams, and Student Data Pipeline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61475" y="2020391"/>
            <a:ext cx="5158055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b="1" kern="100" spc="-3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Code Snippet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661475" y="2490589"/>
            <a:ext cx="5215204" cy="3519785"/>
          </a:xfrm>
          <a:prstGeom prst="roundRect">
            <a:avLst>
              <a:gd name="adj" fmla="val 2572"/>
            </a:avLst>
          </a:prstGeom>
          <a:solidFill>
            <a:srgbClr val="0D0D0D"/>
          </a:solidFill>
          <a:ln/>
        </p:spPr>
      </p:sp>
      <p:sp>
        <p:nvSpPr>
          <p:cNvPr id="7" name="Text 5"/>
          <p:cNvSpPr/>
          <p:nvPr/>
        </p:nvSpPr>
        <p:spPr>
          <a:xfrm>
            <a:off x="876873" y="2681684"/>
            <a:ext cx="4784407" cy="3129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ArrayList&lt;Student&gt; students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  = new ArrayList&lt;&gt;();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 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students.add(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  new Student("Anita", 82.5, 5));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 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students.stream()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.filter(c -&gt;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    s.attendance &gt;= 75)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.forEach(c -&gt;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    System.out.println(s.name));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21267" y="2122289"/>
            <a:ext cx="5158055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b="1" kern="100" spc="-3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 Pipeline Flow</a:t>
            </a:r>
            <a:endParaRPr lang="en-US" sz="17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785" y="2687439"/>
            <a:ext cx="4764068" cy="25171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00085" y="3861475"/>
            <a:ext cx="1757616" cy="156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b="1" kern="100" spc="-2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Collect Student Data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698985" y="3843814"/>
            <a:ext cx="1757616" cy="156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b="1" kern="100" spc="-2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Store Student Records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261639" y="3849370"/>
            <a:ext cx="1800279" cy="156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50" b="1" kern="100" spc="-2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Filter Eligible Students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321267" y="5503767"/>
            <a:ext cx="5158055" cy="451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ArrayList stores records dynamically; Streams filter eligible students with clean, readable operations.</a:t>
            </a:r>
            <a:endParaRPr lang="en-US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A6780C-03AC-A4B3-D0B6-7B90A7EDE0F2}"/>
              </a:ext>
            </a:extLst>
          </p:cNvPr>
          <p:cNvSpPr/>
          <p:nvPr/>
        </p:nvSpPr>
        <p:spPr>
          <a:xfrm>
            <a:off x="10733036" y="6245564"/>
            <a:ext cx="1406769" cy="59787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CE193-4E1B-B1D1-AC5E-CADCCD52F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626718C1-DF63-AADB-1B88-A568A3EFE7D5}"/>
              </a:ext>
            </a:extLst>
          </p:cNvPr>
          <p:cNvSpPr/>
          <p:nvPr/>
        </p:nvSpPr>
        <p:spPr>
          <a:xfrm>
            <a:off x="512983" y="280837"/>
            <a:ext cx="11472972" cy="577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500" b="1" kern="100" spc="-7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CODE</a:t>
            </a:r>
            <a:endParaRPr lang="en-US" sz="35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CC6FD4-22C4-4A5D-020B-99E5478CB6FA}"/>
              </a:ext>
            </a:extLst>
          </p:cNvPr>
          <p:cNvSpPr/>
          <p:nvPr/>
        </p:nvSpPr>
        <p:spPr>
          <a:xfrm>
            <a:off x="10733036" y="6245564"/>
            <a:ext cx="1406769" cy="59787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4F86DE0-31AE-50F9-6E53-812C15F47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91" y="858687"/>
            <a:ext cx="3674715" cy="36186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7954C68-504F-5A5B-DC4C-2F6CEBE2A5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7698" y="858687"/>
            <a:ext cx="3854693" cy="36186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CFBDB5-D15D-3274-7E8A-6AA33D037B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3996" y="858687"/>
            <a:ext cx="4097997" cy="331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228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C2FDB-3E21-3E50-090E-B55EEA1F7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A85D5A7-61F0-31D9-524F-5AD78BD152F0}"/>
              </a:ext>
            </a:extLst>
          </p:cNvPr>
          <p:cNvSpPr/>
          <p:nvPr/>
        </p:nvSpPr>
        <p:spPr>
          <a:xfrm>
            <a:off x="10733036" y="6245564"/>
            <a:ext cx="1406769" cy="59787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978A68-BB17-2B47-F292-554ADC569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0781" y="63610"/>
            <a:ext cx="4271673" cy="36728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EDC6E9-DE6F-808F-2EFC-999E66B1D6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7690" y="63610"/>
            <a:ext cx="3685545" cy="38046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C77378-0955-8502-270F-5996AB408C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1943" y="3800060"/>
            <a:ext cx="3989347" cy="3008416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21F9C7CA-D1E4-AFFD-65B0-AA225FDAA3CA}"/>
              </a:ext>
            </a:extLst>
          </p:cNvPr>
          <p:cNvSpPr/>
          <p:nvPr/>
        </p:nvSpPr>
        <p:spPr>
          <a:xfrm>
            <a:off x="512983" y="280837"/>
            <a:ext cx="11472972" cy="577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500" b="1" kern="100" spc="-7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CODE</a:t>
            </a: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1396247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175BE-72F3-A366-587D-A6613522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3DE7A09-7379-C986-0EC8-EDFBC6301345}"/>
              </a:ext>
            </a:extLst>
          </p:cNvPr>
          <p:cNvSpPr/>
          <p:nvPr/>
        </p:nvSpPr>
        <p:spPr>
          <a:xfrm>
            <a:off x="10733036" y="6245564"/>
            <a:ext cx="1406769" cy="59787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526C6B02-0EA5-4DAB-5C06-54F6BFB935DE}"/>
              </a:ext>
            </a:extLst>
          </p:cNvPr>
          <p:cNvSpPr/>
          <p:nvPr/>
        </p:nvSpPr>
        <p:spPr>
          <a:xfrm>
            <a:off x="512983" y="280837"/>
            <a:ext cx="11472972" cy="577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3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5ADCFB-FDD7-CBA3-8A46-AE39ABC455E1}"/>
              </a:ext>
            </a:extLst>
          </p:cNvPr>
          <p:cNvSpPr txBox="1"/>
          <p:nvPr/>
        </p:nvSpPr>
        <p:spPr>
          <a:xfrm>
            <a:off x="522798" y="170323"/>
            <a:ext cx="6094674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00" b="1" kern="100" spc="-7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OUTPUT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C9391A-4D47-DCAA-D1C6-9AA702816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0135" y="766932"/>
            <a:ext cx="4908187" cy="581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650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0060"/>
            <a:ext cx="1329002" cy="229691"/>
          </a:xfrm>
          <a:prstGeom prst="roundRect">
            <a:avLst>
              <a:gd name="adj" fmla="val 26539"/>
            </a:avLst>
          </a:prstGeom>
          <a:solidFill>
            <a:srgbClr val="00194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159" y="694432"/>
            <a:ext cx="120845" cy="1208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526" y="699407"/>
            <a:ext cx="2128288" cy="138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SAMPLE OUTPUT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61475" y="940177"/>
            <a:ext cx="10811597" cy="486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950" b="1" kern="100" spc="-6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Final Academic Status Report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661475" y="1719144"/>
            <a:ext cx="6027091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kern="100" spc="-3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Student Summary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2093516"/>
            <a:ext cx="5474654" cy="3930848"/>
          </a:xfrm>
          <a:prstGeom prst="roundRect">
            <a:avLst>
              <a:gd name="adj" fmla="val 1938"/>
            </a:avLst>
          </a:prstGeom>
          <a:solidFill>
            <a:srgbClr val="0D0D0D"/>
          </a:solidFill>
          <a:ln/>
        </p:spPr>
      </p:sp>
      <p:sp>
        <p:nvSpPr>
          <p:cNvPr id="8" name="Text 5"/>
          <p:cNvSpPr/>
          <p:nvPr/>
        </p:nvSpPr>
        <p:spPr>
          <a:xfrm>
            <a:off x="842842" y="2254349"/>
            <a:ext cx="5111821" cy="3738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===== STUDENT STATUS REPORT =====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Student Name: Anita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Subjects: 5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Total Marks: 412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Average Marks: 82.4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Grade: A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Attendance: 82.5%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 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Exam Eligibility: Eligible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Status: Academic report generated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Future scope: database, course-wise tracking, analytics, downloadable reports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Report fields: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Name · Subjects · Total · Average · Grade · Attendance · Eligibility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 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Student report generated successfully!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511365" y="1719144"/>
            <a:ext cx="5577542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kern="100" spc="-3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Academic Status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511365" y="2093516"/>
            <a:ext cx="5025106" cy="3205163"/>
          </a:xfrm>
          <a:prstGeom prst="roundRect">
            <a:avLst>
              <a:gd name="adj" fmla="val 2377"/>
            </a:avLst>
          </a:prstGeom>
          <a:solidFill>
            <a:srgbClr val="0D0D0D"/>
          </a:solidFill>
          <a:ln/>
        </p:spPr>
      </p:sp>
      <p:sp>
        <p:nvSpPr>
          <p:cNvPr id="11" name="Text 8"/>
          <p:cNvSpPr/>
          <p:nvPr/>
        </p:nvSpPr>
        <p:spPr>
          <a:xfrm>
            <a:off x="6692733" y="2254349"/>
            <a:ext cx="4662371" cy="2803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Grade: A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Attendance: 82.5%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 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Student Name   : Anita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Subjects       : 5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Average Marks  : 82.4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Total Marks    : 412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Grade          : A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Eligibility    : Eligible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 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Academic status generated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successfully</a:t>
            </a:r>
            <a:endParaRPr lang="en-US" sz="11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2F1C84-24FB-C37D-523C-BE1431E2CAD5}"/>
              </a:ext>
            </a:extLst>
          </p:cNvPr>
          <p:cNvSpPr/>
          <p:nvPr/>
        </p:nvSpPr>
        <p:spPr>
          <a:xfrm>
            <a:off x="10733036" y="6245564"/>
            <a:ext cx="1406769" cy="59787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1001</Words>
  <Application>Microsoft Office PowerPoint</Application>
  <PresentationFormat>Widescreen</PresentationFormat>
  <Paragraphs>216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Geist</vt:lpstr>
      <vt:lpstr>Inconsolata</vt:lpstr>
      <vt:lpstr>Geist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Faizan Shaik</dc:creator>
  <cp:lastModifiedBy>Faizan Shaik</cp:lastModifiedBy>
  <cp:revision>6</cp:revision>
  <dcterms:created xsi:type="dcterms:W3CDTF">2026-10-16T05:34:23Z</dcterms:created>
  <dcterms:modified xsi:type="dcterms:W3CDTF">2026-10-16T06:23:32Z</dcterms:modified>
</cp:coreProperties>
</file>